
<file path=[Content_Types].xml><?xml version="1.0" encoding="utf-8"?>
<Types xmlns="http://schemas.openxmlformats.org/package/2006/content-types">
  <Default Extension="xlsx" ContentType="application/vnd.openxmlformats-officedocument.spreadsheetml.sheet"/>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1" r:id="rId18"/>
    <p:sldId id="272" r:id="rId19"/>
    <p:sldId id="273" r:id="rId20"/>
    <p:sldId id="278" r:id="rId21"/>
    <p:sldId id="274" r:id="rId22"/>
    <p:sldId id="279" r:id="rId23"/>
    <p:sldId id="276" r:id="rId24"/>
    <p:sldId id="275" r:id="rId25"/>
  </p:sldIdLst>
  <p:sldSz cx="12191365" cy="6858000"/>
  <p:notesSz cx="6858000" cy="1219136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People</c:v>
                </c:pt>
              </c:strCache>
            </c:strRef>
          </c:tx>
          <c:spPr>
            <a:solidFill>
              <a:srgbClr val="2563EB"/>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rgbClr val="1E293B"/>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Sheet1!$A$2:$A$6</c:f>
              <c:strCache>
                <c:ptCount val="5"/>
                <c:pt idx="0">
                  <c:v>1st</c:v>
                </c:pt>
                <c:pt idx="1">
                  <c:v>2nd</c:v>
                </c:pt>
                <c:pt idx="2">
                  <c:v>3rd</c:v>
                </c:pt>
                <c:pt idx="3">
                  <c:v>4th</c:v>
                </c:pt>
                <c:pt idx="4">
                  <c:v>5th</c:v>
                </c:pt>
              </c:strCache>
            </c:strRef>
          </c:cat>
          <c:val>
            <c:numRef>
              <c:f>Sheet1!$B$2:$B$6</c:f>
              <c:numCache>
                <c:formatCode>General</c:formatCode>
                <c:ptCount val="5"/>
                <c:pt idx="0">
                  <c:v>6</c:v>
                </c:pt>
                <c:pt idx="1">
                  <c:v>9</c:v>
                </c:pt>
                <c:pt idx="2">
                  <c:v>14</c:v>
                </c:pt>
                <c:pt idx="3">
                  <c:v>7</c:v>
                </c:pt>
                <c:pt idx="4">
                  <c:v>3</c:v>
                </c:pt>
              </c:numCache>
            </c:numRef>
          </c:val>
        </c:ser>
        <c:dLbls>
          <c:showLegendKey val="0"/>
          <c:showVal val="1"/>
          <c:showCatName val="0"/>
          <c:showSerName val="0"/>
          <c:showPercent val="0"/>
          <c:showBubbleSize val="0"/>
        </c:dLbls>
        <c:gapWidth val="6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000" b="0" i="0" u="none" strike="noStrike" kern="1200" baseline="0">
                <a:solidFill>
                  <a:srgbClr val="64748B"/>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max val="16"/>
          <c:min val="0"/>
        </c:scaling>
        <c:delete val="1"/>
        <c:axPos val="l"/>
        <c:numFmt formatCode="General" sourceLinked="0"/>
        <c:majorTickMark val="out"/>
        <c:minorTickMark val="none"/>
        <c:tickLblPos val="nextTo"/>
        <c:txPr>
          <a:bodyPr rot="-60000000" spcFirstLastPara="0" vertOverflow="ellipsis" vert="horz" wrap="square" anchor="ctr" anchorCtr="1"/>
          <a:lstStyle/>
          <a:p>
            <a:pPr>
              <a:defRPr lang="en-US" sz="1200" b="0" i="0" u="none" strike="noStrike" kern="1200" baseline="0">
                <a:solidFill>
                  <a:srgbClr val="64748B"/>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2df3393e-32c5-4cdc-a254-d95a1c09128e}"/>
      </c:ext>
    </c:extLst>
  </c:chart>
  <c:spPr>
    <a:solidFill>
      <a:srgbClr val="FFFFFF"/>
    </a:solidFill>
    <a:ln>
      <a:noFill/>
    </a:ln>
    <a:effectLst/>
  </c:spPr>
  <c:txPr>
    <a:bodyPr/>
    <a:lstStyle/>
    <a:p>
      <a:pPr>
        <a:defRPr lang="en-US"/>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Lead with the promise: Trinetra turns the cameras a building already has into anonymous, real-time analytics on how space is actually used. Emphasize the two framing words — 'space utilization' and 'privacy-by-design' — because HR, IT, Facilities and Finance will all be alert to surveillance concerns. We measure occupancy and utilization of desks, meeting rooms and the cafeteria. We do not identify, name, or rank individual employees. If asked about privacy, answer confidently: the system counts people and reads zones, it does not recognize faces or track named individuals.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slide. Position Trinetra as an edge-AI specialist, not a generic CCTV reseller. The differentiator is that everything runs on-premises on NVIDIA Jetson — video never leaves the building, which is both a performance story (low latency, low bandwidth) and a privacy/security story. Walk the four strengths clockwise. Close on 'Privacy by Design': this is the strength that de-risks the whole conversation for HR and IT, so land it deliberately.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slide. The narrative pivot is from 'we have cameras' to 'we have no data'. Each row is a blind spot facilities teams live with daily. Use the right-hand panel as the emotional hook for Finance: 30–40% of expensive real estate is idle at any given hour, and today nobody can prove which 30–40%. End on the line 'you can't optimize what you don't measure' — that sets up the solution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overview. Walk the five stages left to right as one sentence: existing cameras feed a YOLO model, which runs on a Jetson on-site, which feeds an analytics engine, which produces dashboards. The key commercial point is stage 1 — we reuse the cameras the client already owns, so this is a software-and-edge upgrade, not a rip-and-replace. The bottom band restates the privacy guarantee at the architecture level: counting and zone-reading, never face recognition.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use case — desks. This is the headline application and the one with the biggest financial lever, so spend time here. The image is a real detection view: green boxes are occupied desks, red are vacant, with a live summary panel (20 desks, 12 occupied, 8 empty). Note the framing — we report occupancy and aggregate 'desk time', not who sat where or how hard anyone worked. The six capabilities on the right all roll up into one number facilities cares about: utilization rate. Bridge to the next slide: 'here's what that looks like as a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Desk dashboard. This is what the client logs into. Point out the live desk table, the occupancy timeline (green = occupied, red = vacant across the day), and the summary donut. The KPI rail on the right is the executive read: total vs occupied desks, occupancy rate, average desk time, and the peak window. Everything is aggregate and trend-level. Make the ROI point explicitly: 150 desks at 72% occupancy means roughly 42 desks of headroom — that is real estate that can be consolidated or sub-let.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detection detail. Use this to make the technology tangible and to pre-empt the 'is this accurate?' question. Walk one or two boxes on the image: green occupied, red empty, each with a timestamp. Stress that detection is desk- and zone-based — the model recognizes that a seat is occupied, not who occupies it. Every reading is logged, which is what powers the historical trends on the dashboards. This is the proof behind the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After-hours analysis — reframed deliberately. The original concept was 'who is staying late', which is individual surveillance and a legal and morale risk. We sell the same data as anonymous building-utilization: how many people, on which floors, for how long after standard hours. That is genuinely useful to Facilities for HVAC, lighting, security rostering and energy cost — and it is defensible. If a client pushes for named overtime tracking, flag it as a compliance conversation for their HR and legal teams, not a default feature. The wellbeing point (spotting chronically overloaded floors) reframes it as a duty-of-care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Meeting rooms. The detection view shows occupancy and a count of people in the room plus a room-level summary (current occupancy, peak, average duration). The high-value insight is the gap between booked and actually-used: rooms blocked on calendars but empty, and over-subscribed rooms that signal you need more of a certain size. The most/least-utilized split tells facilities exactly which rooms to add, keep, or repurpose. Again: occupancy and counts, no identity.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Meeting dashboard. Highlight room-wise utilization %, average attendance per room, peak hours, and the most/least-utilized league tables. The story for an office manager: at 74% overall utilization with clear peak-hour congestion at lunch, you can right-size the room mix — convert dead rooms, add capacity where MR-05 is maxed. Average attendance vs room capacity also tells you if people book eight-seaters for two-person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meeting detection. The overlay shows the room marked Occupied, a seat count, and a room summary panel with current/peak occupancy and average duration. Make the same accuracy and privacy points as the desk detail slide: the system detects how many seats are in use, not who is in them. This live view is what generates the utilization numbers on the previous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Cafeteria. The detection view tags tables as occupied or empty with people counts and a live occupancy summary (current, peak, average visit, total visitors, peak time). For facilities and the catering vendor this drives staffing, food prep volumes, and seating layout. For HR it informs flexible lunch windows to relieve the 12–1 crush. All table- and headcount-level; no individuals tracked.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Cafeteria dashboard. Walk the traffic-by-hour curve (the lunch spike), the weekday comparison, and the time-range donut splitting breakfast/lunch/evening. The insight cards on the right are the takeaways: peak time and load, lunch-rush headcount, average dwell time, and busiest day. Concrete value: stagger lunch slots to flatten the 12–1 peak, and align catering staffing and food volumes to real demand instead of guesswork.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benefits. This is the slide where you read the room and emphasize the chair that matters most. For HR: evidence for hybrid policy and space that fits how people work. For Facilities/Admin: the operational savings — right-sizing, energy, catering. For Management/Finance: the portfolio-level decisions, where the real money is (consolidating under-used floors). The point of the three columns is that one deployment pays back across all three functions, which makes the business case easy to sponsor jointly.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 architecture. This is the engineer's-eye view for the IT Head. Read it top to bottom as a data flow. The non-negotiable line is layer 3: inference happens on the Jetson on-site, so raw video stays inside the network — only derived, anonymous metrics move onward. That single design choice answers most IT security and data-residency questions before they're asked. No cloud video, no per-frame data leaving the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features. This is the at-a-glance capability summary — let the grid do the work, don't read every tile. If you've tailored the pitch to one use case, point out that the others come in the same platform at no extra hardware. Heatmaps and reports are worth a beat: heatmaps make utilization instantly legible to non-analysts, and scheduled reports mean leadership gets insight without logging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Trinetra. This is the trust slide before the commercials. The throughline: we own the whole stack — custom models, NVIDIA edge hardware, dashboards, deployment, and support — so the client has one accountable partner rather than a stitched-together set of vendors. Privacy-first engineering is listed as a core competency, not a disclaimer, which reinforces everything we've framed throughout. End by tying it to support and warranty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Hardware. The Jetson Orin Nano is why on-prem, privacy-preserving analytics is even feasible at this price and power. Hit the four buying points: real AI compute at the edge (so video stays on-site), 7–15 W power (cheap to run, easy to place), industrial-grade and fan-cooled (survives a comms closet), and built for 24x7. Tie it back: this is genuine NVIDIA edge hardware, not a hobby board — which underpins the reliability and warranty story coming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Support and warranty. De-risk the purchase. Four commitments: a one-year hardware warranty on genuine NVIDIA hardware, six months of complimentary maintenance, remote technical assistance, and hands-on deployment support. The message for IT: you are not on your own after install — Trinetra owns reliability with you. If asked, be ready to discuss extended AMC options beyond the included six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Restate the one-line value proposition and make a clear ask for the next step — typically a short site survey or a pilot on one floor, which is the lowest-friction way to prove the numbers. Point to the website for follow-up. Then stop talking and invite questions; let the room respond.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slideLayout" Target="../slideLayouts/slideLayout1.xml"/><Relationship Id="rId7" Type="http://schemas.openxmlformats.org/officeDocument/2006/relationships/image" Target="../media/image6.png"/><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4.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7.png"/><Relationship Id="rId7" Type="http://schemas.openxmlformats.org/officeDocument/2006/relationships/image" Target="../media/image24.png"/><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0" Type="http://schemas.openxmlformats.org/officeDocument/2006/relationships/notesSlide" Target="../notesSlides/notesSlide5.xml"/><Relationship Id="rId1" Type="http://schemas.openxmlformats.org/officeDocument/2006/relationships/image" Target="../media/image18.png"/></Relationships>
</file>

<file path=ppt/slides/_rels/slide6.xml.rels><?xml version="1.0" encoding="UTF-8" standalone="yes"?>
<Relationships xmlns="http://schemas.openxmlformats.org/package/2006/relationships"><Relationship Id="rId9" Type="http://schemas.openxmlformats.org/officeDocument/2006/relationships/notesSlide" Target="../notesSlides/notesSlide6.xml"/><Relationship Id="rId8" Type="http://schemas.openxmlformats.org/officeDocument/2006/relationships/slideLayout" Target="../slideLayouts/slideLayout1.xml"/><Relationship Id="rId7" Type="http://schemas.openxmlformats.org/officeDocument/2006/relationships/image" Target="../media/image7.png"/><Relationship Id="rId6" Type="http://schemas.openxmlformats.org/officeDocument/2006/relationships/image" Target="../media/image22.png"/><Relationship Id="rId5" Type="http://schemas.openxmlformats.org/officeDocument/2006/relationships/image" Target="../media/image20.png"/><Relationship Id="rId4" Type="http://schemas.openxmlformats.org/officeDocument/2006/relationships/image" Target="../media/image24.png"/><Relationship Id="rId3" Type="http://schemas.openxmlformats.org/officeDocument/2006/relationships/image" Target="../media/image26.png"/><Relationship Id="rId2" Type="http://schemas.openxmlformats.org/officeDocument/2006/relationships/image" Target="../media/image19.png"/><Relationship Id="rId1" Type="http://schemas.openxmlformats.org/officeDocument/2006/relationships/image" Target="../media/image25.png"/></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 Id="rId3" Type="http://schemas.openxmlformats.org/officeDocument/2006/relationships/image" Target="../media/image21.png"/><Relationship Id="rId2" Type="http://schemas.openxmlformats.org/officeDocument/2006/relationships/image" Target="../media/image27.png"/><Relationship Id="rId1" Type="http://schemas.openxmlformats.org/officeDocument/2006/relationships/image" Target="../media/image18.png"/></Relationships>
</file>

<file path=ppt/slides/_rels/slide8.xml.rels><?xml version="1.0" encoding="UTF-8" standalone="yes"?>
<Relationships xmlns="http://schemas.openxmlformats.org/package/2006/relationships"><Relationship Id="rId9" Type="http://schemas.openxmlformats.org/officeDocument/2006/relationships/notesSlide" Target="../notesSlides/notesSlide8.xml"/><Relationship Id="rId8" Type="http://schemas.openxmlformats.org/officeDocument/2006/relationships/slideLayout" Target="../slideLayouts/slideLayout1.xml"/><Relationship Id="rId7" Type="http://schemas.openxmlformats.org/officeDocument/2006/relationships/image" Target="../media/image7.png"/><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chart" Target="../charts/chart1.xml"/></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7.png"/><Relationship Id="rId7" Type="http://schemas.openxmlformats.org/officeDocument/2006/relationships/image" Target="../media/image39.png"/><Relationship Id="rId6" Type="http://schemas.openxmlformats.org/officeDocument/2006/relationships/image" Target="../media/image38.png"/><Relationship Id="rId5" Type="http://schemas.openxmlformats.org/officeDocument/2006/relationships/image" Target="../media/image24.png"/><Relationship Id="rId4" Type="http://schemas.openxmlformats.org/officeDocument/2006/relationships/image" Target="../media/image22.png"/><Relationship Id="rId3" Type="http://schemas.openxmlformats.org/officeDocument/2006/relationships/image" Target="../media/image37.png"/><Relationship Id="rId2" Type="http://schemas.openxmlformats.org/officeDocument/2006/relationships/image" Target="../media/image36.png"/><Relationship Id="rId10" Type="http://schemas.openxmlformats.org/officeDocument/2006/relationships/notesSlide" Target="../notesSlides/notesSlide9.xml"/><Relationship Id="rId1" Type="http://schemas.openxmlformats.org/officeDocument/2006/relationships/image" Target="../media/image35.png"/></Relationships>
</file>

<file path=ppt/slides/_rels/slide10.xml.rels><?xml version="1.0" encoding="UTF-8" standalone="yes"?>
<Relationships xmlns="http://schemas.openxmlformats.org/package/2006/relationships"><Relationship Id="rId9" Type="http://schemas.openxmlformats.org/officeDocument/2006/relationships/notesSlide" Target="../notesSlides/notesSlide10.xml"/><Relationship Id="rId8" Type="http://schemas.openxmlformats.org/officeDocument/2006/relationships/slideLayout" Target="../slideLayouts/slideLayout1.xml"/><Relationship Id="rId7" Type="http://schemas.openxmlformats.org/officeDocument/2006/relationships/image" Target="../media/image7.png"/><Relationship Id="rId6" Type="http://schemas.openxmlformats.org/officeDocument/2006/relationships/image" Target="../media/image38.png"/><Relationship Id="rId5" Type="http://schemas.openxmlformats.org/officeDocument/2006/relationships/image" Target="../media/image22.png"/><Relationship Id="rId4" Type="http://schemas.openxmlformats.org/officeDocument/2006/relationships/image" Target="../media/image37.png"/><Relationship Id="rId3" Type="http://schemas.openxmlformats.org/officeDocument/2006/relationships/image" Target="../media/image24.png"/><Relationship Id="rId2" Type="http://schemas.openxmlformats.org/officeDocument/2006/relationships/image" Target="../media/image36.png"/><Relationship Id="rId1" Type="http://schemas.openxmlformats.org/officeDocument/2006/relationships/image" Target="../media/image40.png"/></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4.png"/><Relationship Id="rId3" Type="http://schemas.openxmlformats.org/officeDocument/2006/relationships/image" Target="../media/image36.png"/><Relationship Id="rId2" Type="http://schemas.openxmlformats.org/officeDocument/2006/relationships/image" Target="../media/image37.png"/><Relationship Id="rId1" Type="http://schemas.openxmlformats.org/officeDocument/2006/relationships/image" Target="../media/image41.png"/></Relationships>
</file>

<file path=ppt/slides/_rels/slide12.xml.rels><?xml version="1.0" encoding="UTF-8" standalone="yes"?>
<Relationships xmlns="http://schemas.openxmlformats.org/package/2006/relationships"><Relationship Id="rId9" Type="http://schemas.openxmlformats.org/officeDocument/2006/relationships/notesSlide" Target="../notesSlides/notesSlide12.xml"/><Relationship Id="rId8" Type="http://schemas.openxmlformats.org/officeDocument/2006/relationships/slideLayout" Target="../slideLayouts/slideLayout1.xml"/><Relationship Id="rId7" Type="http://schemas.openxmlformats.org/officeDocument/2006/relationships/image" Target="../media/image7.png"/><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20.png"/><Relationship Id="rId3" Type="http://schemas.openxmlformats.org/officeDocument/2006/relationships/image" Target="../media/image22.png"/><Relationship Id="rId2" Type="http://schemas.openxmlformats.org/officeDocument/2006/relationships/image" Target="../media/image37.png"/><Relationship Id="rId1" Type="http://schemas.openxmlformats.org/officeDocument/2006/relationships/image" Target="../media/image42.png"/></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13.xml"/><Relationship Id="rId7"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46.png"/><Relationship Id="rId4" Type="http://schemas.openxmlformats.org/officeDocument/2006/relationships/image" Target="../media/image20.png"/><Relationship Id="rId3" Type="http://schemas.openxmlformats.org/officeDocument/2006/relationships/image" Target="../media/image43.png"/><Relationship Id="rId2" Type="http://schemas.openxmlformats.org/officeDocument/2006/relationships/image" Target="../media/image22.png"/><Relationship Id="rId1" Type="http://schemas.openxmlformats.org/officeDocument/2006/relationships/image" Target="../media/image45.png"/></Relationships>
</file>

<file path=ppt/slides/_rels/slide14.xml.rels><?xml version="1.0" encoding="UTF-8" standalone="yes"?>
<Relationships xmlns="http://schemas.openxmlformats.org/package/2006/relationships"><Relationship Id="rId9" Type="http://schemas.openxmlformats.org/officeDocument/2006/relationships/notesSlide" Target="../notesSlides/notesSlide14.xml"/><Relationship Id="rId8" Type="http://schemas.openxmlformats.org/officeDocument/2006/relationships/slideLayout" Target="../slideLayouts/slideLayout1.xml"/><Relationship Id="rId7" Type="http://schemas.openxmlformats.org/officeDocument/2006/relationships/image" Target="../media/image7.png"/><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image" Target="../media/image43.png"/></Relationships>
</file>

<file path=ppt/slides/_rels/slide15.xml.rels><?xml version="1.0" encoding="UTF-8" standalone="yes"?>
<Relationships xmlns="http://schemas.openxmlformats.org/package/2006/relationships"><Relationship Id="rId9" Type="http://schemas.openxmlformats.org/officeDocument/2006/relationships/notesSlide" Target="../notesSlides/notesSlide15.xml"/><Relationship Id="rId8" Type="http://schemas.openxmlformats.org/officeDocument/2006/relationships/slideLayout" Target="../slideLayouts/slideLayout1.xml"/><Relationship Id="rId7" Type="http://schemas.openxmlformats.org/officeDocument/2006/relationships/image" Target="../media/image7.png"/><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image" Target="../media/image52.png"/></Relationships>
</file>

<file path=ppt/slides/_rels/slide16.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image" Target="../media/image4.png"/><Relationship Id="rId7" Type="http://schemas.openxmlformats.org/officeDocument/2006/relationships/image" Target="../media/image60.png"/><Relationship Id="rId6" Type="http://schemas.openxmlformats.org/officeDocument/2006/relationships/image" Target="../media/image59.png"/><Relationship Id="rId5" Type="http://schemas.openxmlformats.org/officeDocument/2006/relationships/image" Target="../media/image46.png"/><Relationship Id="rId4" Type="http://schemas.openxmlformats.org/officeDocument/2006/relationships/image" Target="../media/image44.png"/><Relationship Id="rId3" Type="http://schemas.openxmlformats.org/officeDocument/2006/relationships/image" Target="../media/image36.png"/><Relationship Id="rId2" Type="http://schemas.openxmlformats.org/officeDocument/2006/relationships/image" Target="../media/image58.png"/><Relationship Id="rId11" Type="http://schemas.openxmlformats.org/officeDocument/2006/relationships/notesSlide" Target="../notesSlides/notesSlide16.xml"/><Relationship Id="rId10" Type="http://schemas.openxmlformats.org/officeDocument/2006/relationships/slideLayout" Target="../slideLayouts/slideLayout1.xml"/><Relationship Id="rId1" Type="http://schemas.openxmlformats.org/officeDocument/2006/relationships/image" Target="../media/image28.png"/></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7.xml"/><Relationship Id="rId7"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64.png"/><Relationship Id="rId4" Type="http://schemas.openxmlformats.org/officeDocument/2006/relationships/image" Target="../media/image63.png"/><Relationship Id="rId3" Type="http://schemas.openxmlformats.org/officeDocument/2006/relationships/image" Target="../media/image62.png"/><Relationship Id="rId2" Type="http://schemas.openxmlformats.org/officeDocument/2006/relationships/image" Target="../media/image4.png"/><Relationship Id="rId1" Type="http://schemas.openxmlformats.org/officeDocument/2006/relationships/image" Target="../media/image61.png"/></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18.xml"/><Relationship Id="rId7" Type="http://schemas.openxmlformats.org/officeDocument/2006/relationships/slideLayout" Target="../slideLayouts/slideLayout1.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 Id="rId3" Type="http://schemas.openxmlformats.org/officeDocument/2006/relationships/image" Target="../media/image28.png"/><Relationship Id="rId2" Type="http://schemas.openxmlformats.org/officeDocument/2006/relationships/image" Target="../media/image4.png"/><Relationship Id="rId1" Type="http://schemas.openxmlformats.org/officeDocument/2006/relationships/image" Target="../media/image65.png"/></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19.xml"/><Relationship Id="rId7"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73.png"/><Relationship Id="rId4" Type="http://schemas.openxmlformats.org/officeDocument/2006/relationships/image" Target="../media/image72.png"/><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image" Target="../media/image69.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4.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5.jpe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xml"/><Relationship Id="rId2" Type="http://schemas.openxmlformats.org/officeDocument/2006/relationships/image" Target="../media/image76.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7315200" y="-2560320"/>
            <a:ext cx="8412480" cy="8412480"/>
          </a:xfrm>
          <a:prstGeom prst="ellipse">
            <a:avLst/>
          </a:prstGeom>
          <a:solidFill>
            <a:srgbClr val="16285A"/>
          </a:solidFill>
        </p:spPr>
      </p:sp>
      <p:sp>
        <p:nvSpPr>
          <p:cNvPr id="3" name="Shape 1"/>
          <p:cNvSpPr/>
          <p:nvPr/>
        </p:nvSpPr>
        <p:spPr>
          <a:xfrm>
            <a:off x="9144000" y="1554480"/>
            <a:ext cx="6035040" cy="6035040"/>
          </a:xfrm>
          <a:prstGeom prst="ellipse">
            <a:avLst/>
          </a:prstGeom>
          <a:solidFill>
            <a:srgbClr val="1B3168"/>
          </a:solidFill>
        </p:spPr>
      </p:sp>
      <p:pic>
        <p:nvPicPr>
          <p:cNvPr id="4" name="Image 0" descr="assets/logo_white.png"/>
          <p:cNvPicPr>
            <a:picLocks noChangeAspect="1"/>
          </p:cNvPicPr>
          <p:nvPr/>
        </p:nvPicPr>
        <p:blipFill>
          <a:blip r:embed="rId1"/>
          <a:srcRect/>
          <a:stretch>
            <a:fillRect/>
          </a:stretch>
        </p:blipFill>
        <p:spPr>
          <a:xfrm>
            <a:off x="777240" y="658368"/>
            <a:ext cx="3200400" cy="539496"/>
          </a:xfrm>
          <a:prstGeom prst="rect">
            <a:avLst/>
          </a:prstGeom>
        </p:spPr>
      </p:pic>
      <p:sp>
        <p:nvSpPr>
          <p:cNvPr id="5" name="Text 2"/>
          <p:cNvSpPr/>
          <p:nvPr/>
        </p:nvSpPr>
        <p:spPr>
          <a:xfrm>
            <a:off x="822960" y="2084832"/>
            <a:ext cx="8229600" cy="310896"/>
          </a:xfrm>
          <a:prstGeom prst="rect">
            <a:avLst/>
          </a:prstGeom>
          <a:noFill/>
        </p:spPr>
        <p:txBody>
          <a:bodyPr wrap="square" lIns="0" tIns="0" rIns="0" bIns="0" rtlCol="0" anchor="ctr"/>
          <a:lstStyle/>
          <a:p>
            <a:pPr marL="0" indent="0">
              <a:buNone/>
            </a:pPr>
            <a:r>
              <a:rPr lang="en-US" sz="1350" b="1" kern="0" spc="300" dirty="0">
                <a:solidFill>
                  <a:srgbClr val="7DA3FF"/>
                </a:solidFill>
                <a:latin typeface="Calibri" panose="020F0502020204030204" pitchFamily="34" charset="0"/>
                <a:ea typeface="Calibri" panose="020F0502020204030204" pitchFamily="34" charset="-122"/>
                <a:cs typeface="Calibri" panose="020F0502020204030204" pitchFamily="34" charset="-120"/>
              </a:rPr>
              <a:t>ENTERPRISE WORKPLACE INTELLIGENCE</a:t>
            </a:r>
            <a:endParaRPr lang="en-US" sz="1350" dirty="0"/>
          </a:p>
        </p:txBody>
      </p:sp>
      <p:sp>
        <p:nvSpPr>
          <p:cNvPr id="6" name="Text 3"/>
          <p:cNvSpPr/>
          <p:nvPr/>
        </p:nvSpPr>
        <p:spPr>
          <a:xfrm>
            <a:off x="777240" y="2468880"/>
            <a:ext cx="8412480" cy="1600200"/>
          </a:xfrm>
          <a:prstGeom prst="rect">
            <a:avLst/>
          </a:prstGeom>
          <a:noFill/>
        </p:spPr>
        <p:txBody>
          <a:bodyPr wrap="square" lIns="0" tIns="0" rIns="0" bIns="0" rtlCol="0" anchor="ctr"/>
          <a:lstStyle/>
          <a:p>
            <a:pPr marL="0" indent="0">
              <a:lnSpc>
                <a:spcPts val="4900"/>
              </a:lnSpc>
              <a:buNone/>
            </a:pPr>
            <a:r>
              <a:rPr lang="en-US" sz="4700" b="1" dirty="0">
                <a:solidFill>
                  <a:srgbClr val="FFFFFF"/>
                </a:solidFill>
                <a:latin typeface="Calibri" panose="020F0502020204030204" pitchFamily="34" charset="0"/>
                <a:ea typeface="Calibri" panose="020F0502020204030204" pitchFamily="34" charset="-122"/>
                <a:cs typeface="Calibri" panose="020F0502020204030204" pitchFamily="34" charset="-120"/>
              </a:rPr>
              <a:t>AI-Powered Workplace</a:t>
            </a:r>
            <a:endParaRPr lang="en-US" sz="4700" dirty="0"/>
          </a:p>
          <a:p>
            <a:pPr marL="0" indent="0">
              <a:lnSpc>
                <a:spcPts val="4900"/>
              </a:lnSpc>
              <a:buNone/>
            </a:pPr>
            <a:r>
              <a:rPr lang="en-US" sz="4700" b="1" dirty="0">
                <a:solidFill>
                  <a:srgbClr val="FFFFFF"/>
                </a:solidFill>
                <a:latin typeface="Calibri" panose="020F0502020204030204" pitchFamily="34" charset="0"/>
                <a:ea typeface="Calibri" panose="020F0502020204030204" pitchFamily="34" charset="-122"/>
                <a:cs typeface="Calibri" panose="020F0502020204030204" pitchFamily="34" charset="-120"/>
              </a:rPr>
              <a:t>Analytics</a:t>
            </a:r>
            <a:endParaRPr lang="en-US" sz="4700" dirty="0"/>
          </a:p>
        </p:txBody>
      </p:sp>
      <p:sp>
        <p:nvSpPr>
          <p:cNvPr id="7" name="Text 4"/>
          <p:cNvSpPr/>
          <p:nvPr/>
        </p:nvSpPr>
        <p:spPr>
          <a:xfrm>
            <a:off x="822960" y="4114800"/>
            <a:ext cx="7863840" cy="457200"/>
          </a:xfrm>
          <a:prstGeom prst="rect">
            <a:avLst/>
          </a:prstGeom>
          <a:noFill/>
        </p:spPr>
        <p:txBody>
          <a:bodyPr wrap="square" lIns="0" tIns="0" rIns="0" bIns="0" rtlCol="0" anchor="ctr"/>
          <a:lstStyle/>
          <a:p>
            <a:pPr marL="0" indent="0">
              <a:buNone/>
            </a:pPr>
            <a:r>
              <a:rPr lang="en-US" sz="1900" dirty="0">
                <a:solidFill>
                  <a:srgbClr val="C9D6F2"/>
                </a:solidFill>
                <a:latin typeface="Calibri" panose="020F0502020204030204" pitchFamily="34" charset="0"/>
                <a:ea typeface="Calibri" panose="020F0502020204030204" pitchFamily="34" charset="-122"/>
                <a:cs typeface="Calibri" panose="020F0502020204030204" pitchFamily="34" charset="-120"/>
              </a:rPr>
              <a:t>Space Utilization &amp; Occupancy Monitoring Solution</a:t>
            </a:r>
            <a:endParaRPr lang="en-US" sz="1900" dirty="0"/>
          </a:p>
        </p:txBody>
      </p:sp>
      <p:sp>
        <p:nvSpPr>
          <p:cNvPr id="8" name="Shape 5"/>
          <p:cNvSpPr/>
          <p:nvPr/>
        </p:nvSpPr>
        <p:spPr>
          <a:xfrm>
            <a:off x="822960" y="4828032"/>
            <a:ext cx="7955280" cy="841248"/>
          </a:xfrm>
          <a:prstGeom prst="roundRect">
            <a:avLst>
              <a:gd name="adj" fmla="val 13043"/>
            </a:avLst>
          </a:prstGeom>
          <a:solidFill>
            <a:srgbClr val="1B3168"/>
          </a:solidFill>
        </p:spPr>
      </p:sp>
      <p:sp>
        <p:nvSpPr>
          <p:cNvPr id="9" name="Text 6"/>
          <p:cNvSpPr/>
          <p:nvPr/>
        </p:nvSpPr>
        <p:spPr>
          <a:xfrm>
            <a:off x="1078992" y="4901184"/>
            <a:ext cx="7498080" cy="694944"/>
          </a:xfrm>
          <a:prstGeom prst="rect">
            <a:avLst/>
          </a:prstGeom>
          <a:noFill/>
        </p:spPr>
        <p:txBody>
          <a:bodyPr wrap="square" lIns="0" tIns="0" rIns="0" bIns="0" rtlCol="0" anchor="ctr"/>
          <a:lstStyle/>
          <a:p>
            <a:pPr marL="0" indent="0">
              <a:buNone/>
            </a:pPr>
            <a:r>
              <a:rPr lang="en-US" sz="2200" b="1" dirty="0">
                <a:solidFill>
                  <a:srgbClr val="D62B2B"/>
                </a:solidFill>
                <a:latin typeface="Calibri" panose="020F0502020204030204" pitchFamily="34" charset="0"/>
                <a:ea typeface="Calibri" panose="020F0502020204030204" pitchFamily="34" charset="-122"/>
                <a:cs typeface="Calibri" panose="020F0502020204030204" pitchFamily="34" charset="-120"/>
              </a:rPr>
              <a:t>“ </a:t>
            </a:r>
            <a:r>
              <a:rPr lang="en-US" sz="1500" i="1" dirty="0">
                <a:solidFill>
                  <a:srgbClr val="EAF0FC"/>
                </a:solidFill>
                <a:latin typeface="Calibri" panose="020F0502020204030204" pitchFamily="34" charset="0"/>
                <a:ea typeface="Calibri" panose="020F0502020204030204" pitchFamily="34" charset="-122"/>
                <a:cs typeface="Calibri" panose="020F0502020204030204" pitchFamily="34" charset="-120"/>
              </a:rPr>
              <a:t>Transforming CCTV infrastructure into actionable workplace intelligence</a:t>
            </a:r>
            <a:r>
              <a:rPr lang="en-US" sz="2200" b="1" dirty="0">
                <a:solidFill>
                  <a:srgbClr val="D62B2B"/>
                </a:solidFill>
                <a:latin typeface="Calibri" panose="020F0502020204030204" pitchFamily="34" charset="0"/>
                <a:ea typeface="Calibri" panose="020F0502020204030204" pitchFamily="34" charset="-122"/>
                <a:cs typeface="Calibri" panose="020F0502020204030204" pitchFamily="34" charset="-120"/>
              </a:rPr>
              <a:t> ”</a:t>
            </a:r>
            <a:endParaRPr lang="en-US" sz="1500" dirty="0"/>
          </a:p>
        </p:txBody>
      </p:sp>
      <p:sp>
        <p:nvSpPr>
          <p:cNvPr id="10" name="Shape 7"/>
          <p:cNvSpPr/>
          <p:nvPr/>
        </p:nvSpPr>
        <p:spPr>
          <a:xfrm>
            <a:off x="10469880" y="5074920"/>
            <a:ext cx="960120" cy="960120"/>
          </a:xfrm>
          <a:prstGeom prst="ellipse">
            <a:avLst/>
          </a:prstGeom>
          <a:solidFill>
            <a:srgbClr val="1B3168"/>
          </a:solidFill>
        </p:spPr>
      </p:sp>
      <p:pic>
        <p:nvPicPr>
          <p:cNvPr id="11" name="Image 1" descr="assets/icon_eye_white.png"/>
          <p:cNvPicPr>
            <a:picLocks noChangeAspect="1"/>
          </p:cNvPicPr>
          <p:nvPr/>
        </p:nvPicPr>
        <p:blipFill>
          <a:blip r:embed="rId2"/>
          <a:stretch>
            <a:fillRect/>
          </a:stretch>
        </p:blipFill>
        <p:spPr>
          <a:xfrm>
            <a:off x="10738714" y="5343754"/>
            <a:ext cx="422453" cy="422453"/>
          </a:xfrm>
          <a:prstGeom prst="rect">
            <a:avLst/>
          </a:prstGeom>
        </p:spPr>
      </p:pic>
      <p:sp>
        <p:nvSpPr>
          <p:cNvPr id="12" name="Text 8"/>
          <p:cNvSpPr/>
          <p:nvPr/>
        </p:nvSpPr>
        <p:spPr>
          <a:xfrm>
            <a:off x="6949440" y="6272784"/>
            <a:ext cx="4846320" cy="274320"/>
          </a:xfrm>
          <a:prstGeom prst="rect">
            <a:avLst/>
          </a:prstGeom>
          <a:noFill/>
        </p:spPr>
        <p:txBody>
          <a:bodyPr wrap="square" lIns="0" tIns="0" rIns="0" bIns="0" rtlCol="0" anchor="ctr"/>
          <a:lstStyle/>
          <a:p>
            <a:pPr marL="0" indent="0" algn="r">
              <a:buNone/>
            </a:pPr>
            <a:r>
              <a:rPr lang="en-US" sz="1150" dirty="0">
                <a:solidFill>
                  <a:srgbClr val="8AA2D6"/>
                </a:solidFill>
                <a:latin typeface="Calibri" panose="020F0502020204030204" pitchFamily="34" charset="0"/>
                <a:ea typeface="Calibri" panose="020F0502020204030204" pitchFamily="34" charset="-122"/>
                <a:cs typeface="Calibri" panose="020F0502020204030204" pitchFamily="34" charset="-120"/>
              </a:rPr>
              <a:t>Privacy-by-design  ·  DPDP-ready</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640080" y="457200"/>
            <a:ext cx="10515600" cy="274320"/>
          </a:xfrm>
          <a:prstGeom prst="rect">
            <a:avLst/>
          </a:prstGeom>
          <a:noFill/>
        </p:spPr>
        <p:txBody>
          <a:bodyPr wrap="square" lIns="0" tIns="0" rIns="0" bIns="0" rtlCol="0" anchor="ctr"/>
          <a:lstStyle/>
          <a:p>
            <a:pPr marL="0" indent="0">
              <a:buNone/>
            </a:pPr>
            <a:r>
              <a:rPr lang="en-US" sz="1200" b="1" kern="0" spc="300" dirty="0">
                <a:solidFill>
                  <a:srgbClr val="D62B2B"/>
                </a:solidFill>
                <a:latin typeface="Calibri" panose="020F0502020204030204" pitchFamily="34" charset="0"/>
                <a:ea typeface="Calibri" panose="020F0502020204030204" pitchFamily="34" charset="-122"/>
                <a:cs typeface="Calibri" panose="020F0502020204030204" pitchFamily="34" charset="-120"/>
              </a:rPr>
              <a:t>ABOUT TRINETRA SYSTEMS</a:t>
            </a:r>
            <a:endParaRPr lang="en-US" sz="1200" dirty="0"/>
          </a:p>
        </p:txBody>
      </p:sp>
      <p:sp>
        <p:nvSpPr>
          <p:cNvPr id="3" name="Text 1"/>
          <p:cNvSpPr/>
          <p:nvPr/>
        </p:nvSpPr>
        <p:spPr>
          <a:xfrm>
            <a:off x="640080" y="740664"/>
            <a:ext cx="10972800" cy="603504"/>
          </a:xfrm>
          <a:prstGeom prst="rect">
            <a:avLst/>
          </a:prstGeom>
          <a:noFill/>
        </p:spPr>
        <p:txBody>
          <a:bodyPr wrap="square" lIns="0" tIns="0" rIns="0" bIns="0" rtlCol="0" anchor="ctr"/>
          <a:lstStyle/>
          <a:p>
            <a:pPr marL="0" indent="0">
              <a:buNone/>
            </a:pPr>
            <a:r>
              <a:rPr lang="en-US" sz="2900" b="1" dirty="0">
                <a:solidFill>
                  <a:srgbClr val="0D1B3E"/>
                </a:solidFill>
                <a:latin typeface="Calibri" panose="020F0502020204030204" pitchFamily="34" charset="0"/>
                <a:ea typeface="Calibri" panose="020F0502020204030204" pitchFamily="34" charset="-122"/>
                <a:cs typeface="Calibri" panose="020F0502020204030204" pitchFamily="34" charset="-120"/>
              </a:rPr>
              <a:t>Edge AI, engineered for the real world</a:t>
            </a:r>
            <a:endParaRPr lang="en-US" sz="2900" dirty="0"/>
          </a:p>
        </p:txBody>
      </p:sp>
      <p:sp>
        <p:nvSpPr>
          <p:cNvPr id="4" name="Shape 2"/>
          <p:cNvSpPr/>
          <p:nvPr/>
        </p:nvSpPr>
        <p:spPr>
          <a:xfrm>
            <a:off x="640080" y="1554480"/>
            <a:ext cx="5074920" cy="4572000"/>
          </a:xfrm>
          <a:prstGeom prst="roundRect">
            <a:avLst>
              <a:gd name="adj" fmla="val 2400"/>
            </a:avLst>
          </a:prstGeom>
          <a:solidFill>
            <a:srgbClr val="0D1B3E"/>
          </a:solidFill>
          <a:effectLst>
            <a:outerShdw blurRad="165100" dist="50800" dir="5400000" algn="bl" rotWithShape="0">
              <a:srgbClr val="0D1B3E">
                <a:alpha val="32000"/>
              </a:srgbClr>
            </a:outerShdw>
          </a:effectLst>
        </p:spPr>
      </p:sp>
      <p:pic>
        <p:nvPicPr>
          <p:cNvPr id="5" name="Image 0" descr="assets/logo_white.png"/>
          <p:cNvPicPr>
            <a:picLocks noChangeAspect="1"/>
          </p:cNvPicPr>
          <p:nvPr/>
        </p:nvPicPr>
        <p:blipFill>
          <a:blip r:embed="rId1"/>
          <a:srcRect/>
          <a:stretch>
            <a:fillRect/>
          </a:stretch>
        </p:blipFill>
        <p:spPr>
          <a:xfrm>
            <a:off x="960120" y="1874520"/>
            <a:ext cx="2743200" cy="457200"/>
          </a:xfrm>
          <a:prstGeom prst="rect">
            <a:avLst/>
          </a:prstGeom>
        </p:spPr>
      </p:pic>
      <p:sp>
        <p:nvSpPr>
          <p:cNvPr id="6" name="Text 3"/>
          <p:cNvSpPr/>
          <p:nvPr/>
        </p:nvSpPr>
        <p:spPr>
          <a:xfrm>
            <a:off x="960120" y="2560320"/>
            <a:ext cx="4434840" cy="1371600"/>
          </a:xfrm>
          <a:prstGeom prst="rect">
            <a:avLst/>
          </a:prstGeom>
          <a:noFill/>
        </p:spPr>
        <p:txBody>
          <a:bodyPr wrap="square" lIns="0" tIns="0" rIns="0" bIns="0" rtlCol="0" anchor="ctr"/>
          <a:lstStyle/>
          <a:p>
            <a:pPr marL="0" indent="0">
              <a:lnSpc>
                <a:spcPts val="2200"/>
              </a:lnSpc>
              <a:buNone/>
            </a:pPr>
            <a:r>
              <a:rPr lang="en-US" sz="1500" dirty="0">
                <a:solidFill>
                  <a:srgbClr val="D7E0F4"/>
                </a:solidFill>
                <a:latin typeface="Calibri" panose="020F0502020204030204" pitchFamily="34" charset="0"/>
                <a:ea typeface="Calibri" panose="020F0502020204030204" pitchFamily="34" charset="-122"/>
                <a:cs typeface="Calibri" panose="020F0502020204030204" pitchFamily="34" charset="-120"/>
              </a:rPr>
              <a:t>We design and deploy computer-vision systems that run directly on cameras and edge devices — no cloud dependency, no data leaving the premises.</a:t>
            </a:r>
            <a:endParaRPr lang="en-US" sz="1500" dirty="0"/>
          </a:p>
        </p:txBody>
      </p:sp>
      <p:sp>
        <p:nvSpPr>
          <p:cNvPr id="7" name="Text 4"/>
          <p:cNvSpPr/>
          <p:nvPr/>
        </p:nvSpPr>
        <p:spPr>
          <a:xfrm>
            <a:off x="960120" y="3977640"/>
            <a:ext cx="2103120" cy="457200"/>
          </a:xfrm>
          <a:prstGeom prst="rect">
            <a:avLst/>
          </a:prstGeom>
          <a:noFill/>
        </p:spPr>
        <p:txBody>
          <a:bodyPr wrap="square" lIns="0" tIns="0" rIns="0" bIns="0" rtlCol="0" anchor="ctr"/>
          <a:lstStyle/>
          <a:p>
            <a:pPr marL="0" indent="0">
              <a:buNone/>
            </a:pPr>
            <a:r>
              <a:rPr lang="en-US" sz="2400" b="1" dirty="0">
                <a:solidFill>
                  <a:srgbClr val="FFFFFF"/>
                </a:solidFill>
                <a:latin typeface="Calibri" panose="020F0502020204030204" pitchFamily="34" charset="0"/>
                <a:ea typeface="Calibri" panose="020F0502020204030204" pitchFamily="34" charset="-122"/>
                <a:cs typeface="Calibri" panose="020F0502020204030204" pitchFamily="34" charset="-120"/>
              </a:rPr>
              <a:t>50+</a:t>
            </a:r>
            <a:endParaRPr lang="en-US" sz="2400" dirty="0"/>
          </a:p>
        </p:txBody>
      </p:sp>
      <p:sp>
        <p:nvSpPr>
          <p:cNvPr id="8" name="Text 5"/>
          <p:cNvSpPr/>
          <p:nvPr/>
        </p:nvSpPr>
        <p:spPr>
          <a:xfrm>
            <a:off x="960120" y="4416552"/>
            <a:ext cx="2103120" cy="274320"/>
          </a:xfrm>
          <a:prstGeom prst="rect">
            <a:avLst/>
          </a:prstGeom>
          <a:noFill/>
        </p:spPr>
        <p:txBody>
          <a:bodyPr wrap="square" lIns="0" tIns="0" rIns="0" bIns="0" rtlCol="0" anchor="ctr"/>
          <a:lstStyle/>
          <a:p>
            <a:pPr marL="0" indent="0">
              <a:buNone/>
            </a:pPr>
            <a:r>
              <a:rPr lang="en-US" sz="1100" dirty="0">
                <a:solidFill>
                  <a:srgbClr val="9DB2DE"/>
                </a:solidFill>
                <a:latin typeface="Calibri" panose="020F0502020204030204" pitchFamily="34" charset="0"/>
                <a:ea typeface="Calibri" panose="020F0502020204030204" pitchFamily="34" charset="-122"/>
                <a:cs typeface="Calibri" panose="020F0502020204030204" pitchFamily="34" charset="-120"/>
              </a:rPr>
              <a:t> site</a:t>
            </a:r>
            <a:endParaRPr lang="en-US" sz="1100" dirty="0"/>
          </a:p>
        </p:txBody>
      </p:sp>
      <p:sp>
        <p:nvSpPr>
          <p:cNvPr id="9" name="Text 6"/>
          <p:cNvSpPr/>
          <p:nvPr/>
        </p:nvSpPr>
        <p:spPr>
          <a:xfrm>
            <a:off x="3200400" y="3977640"/>
            <a:ext cx="2103120" cy="457200"/>
          </a:xfrm>
          <a:prstGeom prst="rect">
            <a:avLst/>
          </a:prstGeom>
          <a:noFill/>
        </p:spPr>
        <p:txBody>
          <a:bodyPr wrap="square" lIns="0" tIns="0" rIns="0" bIns="0" rtlCol="0" anchor="ctr"/>
          <a:lstStyle/>
          <a:p>
            <a:pPr marL="0" indent="0">
              <a:buNone/>
            </a:pPr>
            <a:r>
              <a:rPr lang="en-IN" altLang="en-US" sz="2400" b="1" dirty="0">
                <a:solidFill>
                  <a:srgbClr val="FFFFFF"/>
                </a:solidFill>
                <a:latin typeface="Calibri" panose="020F0502020204030204" pitchFamily="34" charset="0"/>
                <a:ea typeface="Calibri" panose="020F0502020204030204" pitchFamily="34" charset="-122"/>
                <a:cs typeface="Calibri" panose="020F0502020204030204" pitchFamily="34" charset="-120"/>
              </a:rPr>
              <a:t>99.9%</a:t>
            </a:r>
            <a:endParaRPr lang="en-IN" altLang="en-US" sz="24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Text 7"/>
          <p:cNvSpPr/>
          <p:nvPr/>
        </p:nvSpPr>
        <p:spPr>
          <a:xfrm>
            <a:off x="3200400" y="4416552"/>
            <a:ext cx="2103120" cy="274320"/>
          </a:xfrm>
          <a:prstGeom prst="rect">
            <a:avLst/>
          </a:prstGeom>
          <a:noFill/>
        </p:spPr>
        <p:txBody>
          <a:bodyPr wrap="square" lIns="0" tIns="0" rIns="0" bIns="0" rtlCol="0" anchor="ctr"/>
          <a:lstStyle/>
          <a:p>
            <a:pPr marL="0" indent="0">
              <a:buNone/>
            </a:pPr>
            <a:r>
              <a:rPr lang="en-IN" altLang="en-US" sz="1100" dirty="0">
                <a:solidFill>
                  <a:srgbClr val="9DB2DE"/>
                </a:solidFill>
                <a:latin typeface="Calibri" panose="020F0502020204030204" pitchFamily="34" charset="0"/>
                <a:ea typeface="Calibri" panose="020F0502020204030204" pitchFamily="34" charset="-122"/>
                <a:cs typeface="Calibri" panose="020F0502020204030204" pitchFamily="34" charset="-120"/>
              </a:rPr>
              <a:t>System uptime</a:t>
            </a:r>
            <a:endParaRPr lang="en-IN" altLang="en-US" sz="1100" dirty="0">
              <a:solidFill>
                <a:srgbClr val="9DB2DE"/>
              </a:solidFill>
              <a:latin typeface="Calibri" panose="020F0502020204030204" pitchFamily="34" charset="0"/>
              <a:ea typeface="Calibri" panose="020F0502020204030204" pitchFamily="34" charset="-122"/>
              <a:cs typeface="Calibri" panose="020F0502020204030204" pitchFamily="34" charset="-120"/>
            </a:endParaRPr>
          </a:p>
        </p:txBody>
      </p:sp>
      <p:sp>
        <p:nvSpPr>
          <p:cNvPr id="11" name="Text 8"/>
          <p:cNvSpPr/>
          <p:nvPr/>
        </p:nvSpPr>
        <p:spPr>
          <a:xfrm>
            <a:off x="960120" y="4937760"/>
            <a:ext cx="2103120" cy="457200"/>
          </a:xfrm>
          <a:prstGeom prst="rect">
            <a:avLst/>
          </a:prstGeom>
          <a:noFill/>
        </p:spPr>
        <p:txBody>
          <a:bodyPr wrap="square" lIns="0" tIns="0" rIns="0" bIns="0" rtlCol="0" anchor="ctr"/>
          <a:lstStyle/>
          <a:p>
            <a:pPr marL="0" indent="0">
              <a:buNone/>
            </a:pPr>
            <a:r>
              <a:rPr lang="en-US" sz="2400" b="1" dirty="0">
                <a:solidFill>
                  <a:srgbClr val="FFFFFF"/>
                </a:solidFill>
                <a:latin typeface="Calibri" panose="020F0502020204030204" pitchFamily="34" charset="0"/>
                <a:ea typeface="Calibri" panose="020F0502020204030204" pitchFamily="34" charset="-122"/>
                <a:cs typeface="Calibri" panose="020F0502020204030204" pitchFamily="34" charset="-120"/>
              </a:rPr>
              <a:t>100%</a:t>
            </a:r>
            <a:endParaRPr lang="en-US" sz="2400" dirty="0"/>
          </a:p>
        </p:txBody>
      </p:sp>
      <p:sp>
        <p:nvSpPr>
          <p:cNvPr id="12" name="Text 9"/>
          <p:cNvSpPr/>
          <p:nvPr/>
        </p:nvSpPr>
        <p:spPr>
          <a:xfrm>
            <a:off x="960120" y="5376672"/>
            <a:ext cx="2103120" cy="274320"/>
          </a:xfrm>
          <a:prstGeom prst="rect">
            <a:avLst/>
          </a:prstGeom>
          <a:noFill/>
        </p:spPr>
        <p:txBody>
          <a:bodyPr wrap="square" lIns="0" tIns="0" rIns="0" bIns="0" rtlCol="0" anchor="ctr"/>
          <a:lstStyle/>
          <a:p>
            <a:pPr marL="0" indent="0">
              <a:buNone/>
            </a:pPr>
            <a:r>
              <a:rPr lang="en-US" sz="1100" dirty="0">
                <a:solidFill>
                  <a:srgbClr val="9DB2DE"/>
                </a:solidFill>
                <a:latin typeface="Calibri" panose="020F0502020204030204" pitchFamily="34" charset="0"/>
                <a:ea typeface="Calibri" panose="020F0502020204030204" pitchFamily="34" charset="-122"/>
                <a:cs typeface="Calibri" panose="020F0502020204030204" pitchFamily="34" charset="-120"/>
              </a:rPr>
              <a:t>On-prem processing</a:t>
            </a:r>
            <a:endParaRPr lang="en-US" sz="1100" dirty="0"/>
          </a:p>
        </p:txBody>
      </p:sp>
      <p:sp>
        <p:nvSpPr>
          <p:cNvPr id="13" name="Text 10"/>
          <p:cNvSpPr/>
          <p:nvPr/>
        </p:nvSpPr>
        <p:spPr>
          <a:xfrm>
            <a:off x="3200400" y="4937760"/>
            <a:ext cx="2103120" cy="457200"/>
          </a:xfrm>
          <a:prstGeom prst="rect">
            <a:avLst/>
          </a:prstGeom>
          <a:noFill/>
        </p:spPr>
        <p:txBody>
          <a:bodyPr wrap="square" lIns="0" tIns="0" rIns="0" bIns="0" rtlCol="0" anchor="ctr"/>
          <a:lstStyle/>
          <a:p>
            <a:pPr marL="0" indent="0">
              <a:buNone/>
            </a:pPr>
            <a:r>
              <a:rPr lang="en-US" sz="2400" b="1" dirty="0">
                <a:solidFill>
                  <a:srgbClr val="FFFFFF"/>
                </a:solidFill>
                <a:latin typeface="Calibri" panose="020F0502020204030204" pitchFamily="34" charset="0"/>
                <a:ea typeface="Calibri" panose="020F0502020204030204" pitchFamily="34" charset="-122"/>
                <a:cs typeface="Calibri" panose="020F0502020204030204" pitchFamily="34" charset="-120"/>
              </a:rPr>
              <a:t>24×7</a:t>
            </a:r>
            <a:endParaRPr lang="en-US" sz="2400" dirty="0"/>
          </a:p>
        </p:txBody>
      </p:sp>
      <p:sp>
        <p:nvSpPr>
          <p:cNvPr id="14" name="Text 11"/>
          <p:cNvSpPr/>
          <p:nvPr/>
        </p:nvSpPr>
        <p:spPr>
          <a:xfrm>
            <a:off x="3200400" y="5376672"/>
            <a:ext cx="2103120" cy="274320"/>
          </a:xfrm>
          <a:prstGeom prst="rect">
            <a:avLst/>
          </a:prstGeom>
          <a:noFill/>
        </p:spPr>
        <p:txBody>
          <a:bodyPr wrap="square" lIns="0" tIns="0" rIns="0" bIns="0" rtlCol="0" anchor="ctr"/>
          <a:lstStyle/>
          <a:p>
            <a:pPr marL="0" indent="0">
              <a:buNone/>
            </a:pPr>
            <a:r>
              <a:rPr lang="en-US" sz="1100" dirty="0">
                <a:solidFill>
                  <a:srgbClr val="9DB2DE"/>
                </a:solidFill>
                <a:latin typeface="Calibri" panose="020F0502020204030204" pitchFamily="34" charset="0"/>
                <a:ea typeface="Calibri" panose="020F0502020204030204" pitchFamily="34" charset="-122"/>
                <a:cs typeface="Calibri" panose="020F0502020204030204" pitchFamily="34" charset="-120"/>
              </a:rPr>
              <a:t>Field reliability</a:t>
            </a:r>
            <a:endParaRPr lang="en-US" sz="1100" dirty="0"/>
          </a:p>
        </p:txBody>
      </p:sp>
      <p:sp>
        <p:nvSpPr>
          <p:cNvPr id="15" name="Shape 12"/>
          <p:cNvSpPr/>
          <p:nvPr/>
        </p:nvSpPr>
        <p:spPr>
          <a:xfrm>
            <a:off x="5989320" y="1554480"/>
            <a:ext cx="2679192" cy="2194560"/>
          </a:xfrm>
          <a:prstGeom prst="roundRect">
            <a:avLst>
              <a:gd name="adj" fmla="val 4167"/>
            </a:avLst>
          </a:prstGeom>
          <a:solidFill>
            <a:srgbClr val="FFFFFF"/>
          </a:solidFill>
          <a:effectLst>
            <a:outerShdw blurRad="101600" dist="25400" dir="5400000" algn="bl" rotWithShape="0">
              <a:srgbClr val="94A3B8">
                <a:alpha val="28000"/>
              </a:srgbClr>
            </a:outerShdw>
          </a:effectLst>
        </p:spPr>
      </p:sp>
      <p:sp>
        <p:nvSpPr>
          <p:cNvPr id="16" name="Shape 13"/>
          <p:cNvSpPr/>
          <p:nvPr/>
        </p:nvSpPr>
        <p:spPr>
          <a:xfrm>
            <a:off x="6245352" y="1828800"/>
            <a:ext cx="713232" cy="713232"/>
          </a:xfrm>
          <a:prstGeom prst="roundRect">
            <a:avLst>
              <a:gd name="adj" fmla="val 26000"/>
            </a:avLst>
          </a:prstGeom>
          <a:solidFill>
            <a:srgbClr val="D62B2B"/>
          </a:solidFill>
        </p:spPr>
      </p:sp>
      <p:pic>
        <p:nvPicPr>
          <p:cNvPr id="17" name="Image 1" descr="assets/icon_brain_white.png"/>
          <p:cNvPicPr>
            <a:picLocks noChangeAspect="1"/>
          </p:cNvPicPr>
          <p:nvPr/>
        </p:nvPicPr>
        <p:blipFill>
          <a:blip r:embed="rId2"/>
          <a:stretch>
            <a:fillRect/>
          </a:stretch>
        </p:blipFill>
        <p:spPr>
          <a:xfrm>
            <a:off x="6459322" y="2042770"/>
            <a:ext cx="285293" cy="285293"/>
          </a:xfrm>
          <a:prstGeom prst="rect">
            <a:avLst/>
          </a:prstGeom>
        </p:spPr>
      </p:pic>
      <p:sp>
        <p:nvSpPr>
          <p:cNvPr id="18" name="Text 14"/>
          <p:cNvSpPr/>
          <p:nvPr/>
        </p:nvSpPr>
        <p:spPr>
          <a:xfrm>
            <a:off x="6245352" y="2670048"/>
            <a:ext cx="2221992" cy="365760"/>
          </a:xfrm>
          <a:prstGeom prst="rect">
            <a:avLst/>
          </a:prstGeom>
          <a:noFill/>
        </p:spPr>
        <p:txBody>
          <a:bodyPr wrap="square" lIns="0" tIns="0" rIns="0" bIns="0" rtlCol="0" anchor="ctr"/>
          <a:lstStyle/>
          <a:p>
            <a:pPr marL="0" indent="0">
              <a:buNone/>
            </a:pPr>
            <a:r>
              <a:rPr lang="en-US" sz="1550" b="1" dirty="0">
                <a:solidFill>
                  <a:srgbClr val="0D1B3E"/>
                </a:solidFill>
                <a:latin typeface="Calibri" panose="020F0502020204030204" pitchFamily="34" charset="0"/>
                <a:ea typeface="Calibri" panose="020F0502020204030204" pitchFamily="34" charset="-122"/>
                <a:cs typeface="Calibri" panose="020F0502020204030204" pitchFamily="34" charset="-120"/>
              </a:rPr>
              <a:t>AI &amp; Computer Vision</a:t>
            </a:r>
            <a:endParaRPr lang="en-US" sz="1550" dirty="0"/>
          </a:p>
        </p:txBody>
      </p:sp>
      <p:sp>
        <p:nvSpPr>
          <p:cNvPr id="19" name="Text 15"/>
          <p:cNvSpPr/>
          <p:nvPr/>
        </p:nvSpPr>
        <p:spPr>
          <a:xfrm>
            <a:off x="6245352" y="3035808"/>
            <a:ext cx="2221992" cy="640080"/>
          </a:xfrm>
          <a:prstGeom prst="rect">
            <a:avLst/>
          </a:prstGeom>
          <a:noFill/>
        </p:spPr>
        <p:txBody>
          <a:bodyPr wrap="square" lIns="0" tIns="0" rIns="0" bIns="0" rtlCol="0" anchor="ctr"/>
          <a:lstStyle/>
          <a:p>
            <a:pPr marL="0" indent="0">
              <a:lnSpc>
                <a:spcPts val="1500"/>
              </a:lnSpc>
              <a:buNone/>
            </a:pPr>
            <a:r>
              <a:rPr lang="en-US" sz="1150" dirty="0">
                <a:solidFill>
                  <a:srgbClr val="475569"/>
                </a:solidFill>
                <a:latin typeface="Calibri" panose="020F0502020204030204" pitchFamily="34" charset="0"/>
                <a:ea typeface="Calibri" panose="020F0502020204030204" pitchFamily="34" charset="-122"/>
                <a:cs typeface="Calibri" panose="020F0502020204030204" pitchFamily="34" charset="-120"/>
              </a:rPr>
              <a:t>Custom YOLO detection models tuned to each site’s cameras and layout.</a:t>
            </a:r>
            <a:endParaRPr lang="en-US" sz="1150" dirty="0"/>
          </a:p>
        </p:txBody>
      </p:sp>
      <p:sp>
        <p:nvSpPr>
          <p:cNvPr id="20" name="Shape 16"/>
          <p:cNvSpPr/>
          <p:nvPr/>
        </p:nvSpPr>
        <p:spPr>
          <a:xfrm>
            <a:off x="8842248" y="1554480"/>
            <a:ext cx="2679192" cy="2194560"/>
          </a:xfrm>
          <a:prstGeom prst="roundRect">
            <a:avLst>
              <a:gd name="adj" fmla="val 4167"/>
            </a:avLst>
          </a:prstGeom>
          <a:solidFill>
            <a:srgbClr val="FFFFFF"/>
          </a:solidFill>
          <a:effectLst>
            <a:outerShdw blurRad="101600" dist="25400" dir="5400000" algn="bl" rotWithShape="0">
              <a:srgbClr val="94A3B8">
                <a:alpha val="28000"/>
              </a:srgbClr>
            </a:outerShdw>
          </a:effectLst>
        </p:spPr>
      </p:sp>
      <p:sp>
        <p:nvSpPr>
          <p:cNvPr id="21" name="Shape 17"/>
          <p:cNvSpPr/>
          <p:nvPr/>
        </p:nvSpPr>
        <p:spPr>
          <a:xfrm>
            <a:off x="9098280" y="1828800"/>
            <a:ext cx="713232" cy="713232"/>
          </a:xfrm>
          <a:prstGeom prst="roundRect">
            <a:avLst>
              <a:gd name="adj" fmla="val 26000"/>
            </a:avLst>
          </a:prstGeom>
          <a:solidFill>
            <a:srgbClr val="2563EB"/>
          </a:solidFill>
        </p:spPr>
      </p:sp>
      <p:pic>
        <p:nvPicPr>
          <p:cNvPr id="22" name="Image 2" descr="assets/icon_microchip_white.png"/>
          <p:cNvPicPr>
            <a:picLocks noChangeAspect="1"/>
          </p:cNvPicPr>
          <p:nvPr/>
        </p:nvPicPr>
        <p:blipFill>
          <a:blip r:embed="rId3"/>
          <a:stretch>
            <a:fillRect/>
          </a:stretch>
        </p:blipFill>
        <p:spPr>
          <a:xfrm>
            <a:off x="9312250" y="2042770"/>
            <a:ext cx="285293" cy="285293"/>
          </a:xfrm>
          <a:prstGeom prst="rect">
            <a:avLst/>
          </a:prstGeom>
        </p:spPr>
      </p:pic>
      <p:sp>
        <p:nvSpPr>
          <p:cNvPr id="23" name="Text 18"/>
          <p:cNvSpPr/>
          <p:nvPr/>
        </p:nvSpPr>
        <p:spPr>
          <a:xfrm>
            <a:off x="9098280" y="2670048"/>
            <a:ext cx="2221992" cy="365760"/>
          </a:xfrm>
          <a:prstGeom prst="rect">
            <a:avLst/>
          </a:prstGeom>
          <a:noFill/>
        </p:spPr>
        <p:txBody>
          <a:bodyPr wrap="square" lIns="0" tIns="0" rIns="0" bIns="0" rtlCol="0" anchor="ctr"/>
          <a:lstStyle/>
          <a:p>
            <a:pPr marL="0" indent="0">
              <a:buNone/>
            </a:pPr>
            <a:r>
              <a:rPr lang="en-US" sz="1550" b="1" dirty="0">
                <a:solidFill>
                  <a:srgbClr val="0D1B3E"/>
                </a:solidFill>
                <a:latin typeface="Calibri" panose="020F0502020204030204" pitchFamily="34" charset="0"/>
                <a:ea typeface="Calibri" panose="020F0502020204030204" pitchFamily="34" charset="-122"/>
                <a:cs typeface="Calibri" panose="020F0502020204030204" pitchFamily="34" charset="-120"/>
              </a:rPr>
              <a:t>Edge Analytics</a:t>
            </a:r>
            <a:endParaRPr lang="en-US" sz="1550" dirty="0"/>
          </a:p>
        </p:txBody>
      </p:sp>
      <p:sp>
        <p:nvSpPr>
          <p:cNvPr id="24" name="Text 19"/>
          <p:cNvSpPr/>
          <p:nvPr/>
        </p:nvSpPr>
        <p:spPr>
          <a:xfrm>
            <a:off x="9098280" y="3035808"/>
            <a:ext cx="2221992" cy="640080"/>
          </a:xfrm>
          <a:prstGeom prst="rect">
            <a:avLst/>
          </a:prstGeom>
          <a:noFill/>
        </p:spPr>
        <p:txBody>
          <a:bodyPr wrap="square" lIns="0" tIns="0" rIns="0" bIns="0" rtlCol="0" anchor="ctr"/>
          <a:lstStyle/>
          <a:p>
            <a:pPr marL="0" indent="0">
              <a:lnSpc>
                <a:spcPts val="1500"/>
              </a:lnSpc>
              <a:buNone/>
            </a:pPr>
            <a:r>
              <a:rPr lang="en-US" sz="1150" dirty="0">
                <a:solidFill>
                  <a:srgbClr val="475569"/>
                </a:solidFill>
                <a:latin typeface="Calibri" panose="020F0502020204030204" pitchFamily="34" charset="0"/>
                <a:ea typeface="Calibri" panose="020F0502020204030204" pitchFamily="34" charset="-122"/>
                <a:cs typeface="Calibri" panose="020F0502020204030204" pitchFamily="34" charset="-120"/>
              </a:rPr>
              <a:t>Inference on NVIDIA Jetson at the source — low latency, low bandwidth.</a:t>
            </a:r>
            <a:endParaRPr lang="en-US" sz="1150" dirty="0"/>
          </a:p>
        </p:txBody>
      </p:sp>
      <p:sp>
        <p:nvSpPr>
          <p:cNvPr id="25" name="Shape 20"/>
          <p:cNvSpPr/>
          <p:nvPr/>
        </p:nvSpPr>
        <p:spPr>
          <a:xfrm>
            <a:off x="5989320" y="3922776"/>
            <a:ext cx="2679192" cy="2194560"/>
          </a:xfrm>
          <a:prstGeom prst="roundRect">
            <a:avLst>
              <a:gd name="adj" fmla="val 4167"/>
            </a:avLst>
          </a:prstGeom>
          <a:solidFill>
            <a:srgbClr val="FFFFFF"/>
          </a:solidFill>
          <a:effectLst>
            <a:outerShdw blurRad="101600" dist="25400" dir="5400000" algn="bl" rotWithShape="0">
              <a:srgbClr val="94A3B8">
                <a:alpha val="28000"/>
              </a:srgbClr>
            </a:outerShdw>
          </a:effectLst>
        </p:spPr>
      </p:sp>
      <p:sp>
        <p:nvSpPr>
          <p:cNvPr id="26" name="Shape 21"/>
          <p:cNvSpPr/>
          <p:nvPr/>
        </p:nvSpPr>
        <p:spPr>
          <a:xfrm>
            <a:off x="6245352" y="4197096"/>
            <a:ext cx="713232" cy="713232"/>
          </a:xfrm>
          <a:prstGeom prst="roundRect">
            <a:avLst>
              <a:gd name="adj" fmla="val 26000"/>
            </a:avLst>
          </a:prstGeom>
          <a:solidFill>
            <a:srgbClr val="0D9488"/>
          </a:solidFill>
        </p:spPr>
      </p:sp>
      <p:pic>
        <p:nvPicPr>
          <p:cNvPr id="27" name="Image 3" descr="assets/icon_server_white.png"/>
          <p:cNvPicPr>
            <a:picLocks noChangeAspect="1"/>
          </p:cNvPicPr>
          <p:nvPr/>
        </p:nvPicPr>
        <p:blipFill>
          <a:blip r:embed="rId4"/>
          <a:stretch>
            <a:fillRect/>
          </a:stretch>
        </p:blipFill>
        <p:spPr>
          <a:xfrm>
            <a:off x="6459322" y="4411066"/>
            <a:ext cx="285293" cy="285293"/>
          </a:xfrm>
          <a:prstGeom prst="rect">
            <a:avLst/>
          </a:prstGeom>
        </p:spPr>
      </p:pic>
      <p:sp>
        <p:nvSpPr>
          <p:cNvPr id="28" name="Text 22"/>
          <p:cNvSpPr/>
          <p:nvPr/>
        </p:nvSpPr>
        <p:spPr>
          <a:xfrm>
            <a:off x="6245352" y="5038344"/>
            <a:ext cx="2221992" cy="365760"/>
          </a:xfrm>
          <a:prstGeom prst="rect">
            <a:avLst/>
          </a:prstGeom>
          <a:noFill/>
        </p:spPr>
        <p:txBody>
          <a:bodyPr wrap="square" lIns="0" tIns="0" rIns="0" bIns="0" rtlCol="0" anchor="ctr"/>
          <a:lstStyle/>
          <a:p>
            <a:pPr marL="0" indent="0">
              <a:buNone/>
            </a:pPr>
            <a:r>
              <a:rPr lang="en-US" sz="1550" b="1" dirty="0">
                <a:solidFill>
                  <a:srgbClr val="0D1B3E"/>
                </a:solidFill>
                <a:latin typeface="Calibri" panose="020F0502020204030204" pitchFamily="34" charset="0"/>
                <a:ea typeface="Calibri" panose="020F0502020204030204" pitchFamily="34" charset="-122"/>
                <a:cs typeface="Calibri" panose="020F0502020204030204" pitchFamily="34" charset="-120"/>
              </a:rPr>
              <a:t>End-to-End Delivery</a:t>
            </a:r>
            <a:endParaRPr lang="en-US" sz="1550" dirty="0"/>
          </a:p>
        </p:txBody>
      </p:sp>
      <p:sp>
        <p:nvSpPr>
          <p:cNvPr id="29" name="Text 23"/>
          <p:cNvSpPr/>
          <p:nvPr/>
        </p:nvSpPr>
        <p:spPr>
          <a:xfrm>
            <a:off x="6245352" y="5404104"/>
            <a:ext cx="2221992" cy="640080"/>
          </a:xfrm>
          <a:prstGeom prst="rect">
            <a:avLst/>
          </a:prstGeom>
          <a:noFill/>
        </p:spPr>
        <p:txBody>
          <a:bodyPr wrap="square" lIns="0" tIns="0" rIns="0" bIns="0" rtlCol="0" anchor="ctr"/>
          <a:lstStyle/>
          <a:p>
            <a:pPr marL="0" indent="0">
              <a:lnSpc>
                <a:spcPts val="1500"/>
              </a:lnSpc>
              <a:buNone/>
            </a:pPr>
            <a:r>
              <a:rPr lang="en-US" sz="1150" dirty="0">
                <a:solidFill>
                  <a:srgbClr val="475569"/>
                </a:solidFill>
                <a:latin typeface="Calibri" panose="020F0502020204030204" pitchFamily="34" charset="0"/>
                <a:ea typeface="Calibri" panose="020F0502020204030204" pitchFamily="34" charset="-122"/>
                <a:cs typeface="Calibri" panose="020F0502020204030204" pitchFamily="34" charset="-120"/>
              </a:rPr>
              <a:t>Hardware, models, dashboards and deployment from a single partner.</a:t>
            </a:r>
            <a:endParaRPr lang="en-US" sz="1150" dirty="0"/>
          </a:p>
        </p:txBody>
      </p:sp>
      <p:sp>
        <p:nvSpPr>
          <p:cNvPr id="30" name="Shape 24"/>
          <p:cNvSpPr/>
          <p:nvPr/>
        </p:nvSpPr>
        <p:spPr>
          <a:xfrm>
            <a:off x="8842248" y="3922776"/>
            <a:ext cx="2679192" cy="2194560"/>
          </a:xfrm>
          <a:prstGeom prst="roundRect">
            <a:avLst>
              <a:gd name="adj" fmla="val 4167"/>
            </a:avLst>
          </a:prstGeom>
          <a:solidFill>
            <a:srgbClr val="FFFFFF"/>
          </a:solidFill>
          <a:effectLst>
            <a:outerShdw blurRad="101600" dist="25400" dir="5400000" algn="bl" rotWithShape="0">
              <a:srgbClr val="94A3B8">
                <a:alpha val="28000"/>
              </a:srgbClr>
            </a:outerShdw>
          </a:effectLst>
        </p:spPr>
      </p:sp>
      <p:sp>
        <p:nvSpPr>
          <p:cNvPr id="31" name="Shape 25"/>
          <p:cNvSpPr/>
          <p:nvPr/>
        </p:nvSpPr>
        <p:spPr>
          <a:xfrm>
            <a:off x="9098280" y="4197096"/>
            <a:ext cx="713232" cy="713232"/>
          </a:xfrm>
          <a:prstGeom prst="roundRect">
            <a:avLst>
              <a:gd name="adj" fmla="val 26000"/>
            </a:avLst>
          </a:prstGeom>
          <a:solidFill>
            <a:srgbClr val="16A34A"/>
          </a:solidFill>
        </p:spPr>
      </p:sp>
      <p:pic>
        <p:nvPicPr>
          <p:cNvPr id="32" name="Image 4" descr="assets/icon_userShield_white.png"/>
          <p:cNvPicPr>
            <a:picLocks noChangeAspect="1"/>
          </p:cNvPicPr>
          <p:nvPr/>
        </p:nvPicPr>
        <p:blipFill>
          <a:blip r:embed="rId5"/>
          <a:stretch>
            <a:fillRect/>
          </a:stretch>
        </p:blipFill>
        <p:spPr>
          <a:xfrm>
            <a:off x="9312250" y="4411066"/>
            <a:ext cx="285293" cy="285293"/>
          </a:xfrm>
          <a:prstGeom prst="rect">
            <a:avLst/>
          </a:prstGeom>
        </p:spPr>
      </p:pic>
      <p:sp>
        <p:nvSpPr>
          <p:cNvPr id="33" name="Text 26"/>
          <p:cNvSpPr/>
          <p:nvPr/>
        </p:nvSpPr>
        <p:spPr>
          <a:xfrm>
            <a:off x="9098280" y="5038344"/>
            <a:ext cx="2221992" cy="365760"/>
          </a:xfrm>
          <a:prstGeom prst="rect">
            <a:avLst/>
          </a:prstGeom>
          <a:noFill/>
        </p:spPr>
        <p:txBody>
          <a:bodyPr wrap="square" lIns="0" tIns="0" rIns="0" bIns="0" rtlCol="0" anchor="ctr"/>
          <a:lstStyle/>
          <a:p>
            <a:pPr marL="0" indent="0">
              <a:buNone/>
            </a:pPr>
            <a:r>
              <a:rPr lang="en-US" sz="1550" b="1" dirty="0">
                <a:solidFill>
                  <a:srgbClr val="0D1B3E"/>
                </a:solidFill>
                <a:latin typeface="Calibri" panose="020F0502020204030204" pitchFamily="34" charset="0"/>
                <a:ea typeface="Calibri" panose="020F0502020204030204" pitchFamily="34" charset="-122"/>
                <a:cs typeface="Calibri" panose="020F0502020204030204" pitchFamily="34" charset="-120"/>
              </a:rPr>
              <a:t>Privacy by Design</a:t>
            </a:r>
            <a:endParaRPr lang="en-US" sz="1550" dirty="0"/>
          </a:p>
        </p:txBody>
      </p:sp>
      <p:sp>
        <p:nvSpPr>
          <p:cNvPr id="34" name="Text 27"/>
          <p:cNvSpPr/>
          <p:nvPr/>
        </p:nvSpPr>
        <p:spPr>
          <a:xfrm>
            <a:off x="9098280" y="5404104"/>
            <a:ext cx="2221992" cy="640080"/>
          </a:xfrm>
          <a:prstGeom prst="rect">
            <a:avLst/>
          </a:prstGeom>
          <a:noFill/>
        </p:spPr>
        <p:txBody>
          <a:bodyPr wrap="square" lIns="0" tIns="0" rIns="0" bIns="0" rtlCol="0" anchor="ctr"/>
          <a:lstStyle/>
          <a:p>
            <a:pPr marL="0" indent="0">
              <a:lnSpc>
                <a:spcPts val="1500"/>
              </a:lnSpc>
              <a:buNone/>
            </a:pPr>
            <a:r>
              <a:rPr lang="en-US" sz="1150" dirty="0">
                <a:solidFill>
                  <a:srgbClr val="475569"/>
                </a:solidFill>
                <a:latin typeface="Calibri" panose="020F0502020204030204" pitchFamily="34" charset="0"/>
                <a:ea typeface="Calibri" panose="020F0502020204030204" pitchFamily="34" charset="-122"/>
                <a:cs typeface="Calibri" panose="020F0502020204030204" pitchFamily="34" charset="-120"/>
              </a:rPr>
              <a:t>Anonymous occupancy analytics — no facial recognition, DPDP-ready.</a:t>
            </a:r>
            <a:endParaRPr lang="en-US" sz="1150" dirty="0"/>
          </a:p>
        </p:txBody>
      </p:sp>
      <p:pic>
        <p:nvPicPr>
          <p:cNvPr id="35" name="Image 5" descr="assets/logo_dark.png"/>
          <p:cNvPicPr>
            <a:picLocks noChangeAspect="1"/>
          </p:cNvPicPr>
          <p:nvPr/>
        </p:nvPicPr>
        <p:blipFill>
          <a:blip r:embed="rId6"/>
          <a:srcRect/>
          <a:stretch>
            <a:fillRect/>
          </a:stretch>
        </p:blipFill>
        <p:spPr>
          <a:xfrm>
            <a:off x="10317175" y="6400800"/>
            <a:ext cx="1280160" cy="214884"/>
          </a:xfrm>
          <a:prstGeom prst="rect">
            <a:avLst/>
          </a:prstGeom>
        </p:spPr>
      </p:pic>
      <p:sp>
        <p:nvSpPr>
          <p:cNvPr id="36" name="Text 28"/>
          <p:cNvSpPr/>
          <p:nvPr/>
        </p:nvSpPr>
        <p:spPr>
          <a:xfrm>
            <a:off x="640080" y="6382512"/>
            <a:ext cx="731520" cy="274320"/>
          </a:xfrm>
          <a:prstGeom prst="rect">
            <a:avLst/>
          </a:prstGeom>
          <a:noFill/>
        </p:spPr>
        <p:txBody>
          <a:bodyPr wrap="square" lIns="0" tIns="0" rIns="0" bIns="0" rtlCol="0" anchor="ctr"/>
          <a:lstStyle/>
          <a:p>
            <a:pPr marL="0" indent="0">
              <a:buNone/>
            </a:pPr>
            <a:r>
              <a:rPr lang="en-US" sz="1100" b="1" dirty="0">
                <a:solidFill>
                  <a:srgbClr val="64748B"/>
                </a:solidFill>
                <a:latin typeface="Calibri" panose="020F0502020204030204" pitchFamily="34" charset="0"/>
                <a:ea typeface="Calibri" panose="020F0502020204030204" pitchFamily="34" charset="-122"/>
                <a:cs typeface="Calibri" panose="020F0502020204030204"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640080" y="457200"/>
            <a:ext cx="10515600" cy="274320"/>
          </a:xfrm>
          <a:prstGeom prst="rect">
            <a:avLst/>
          </a:prstGeom>
          <a:noFill/>
        </p:spPr>
        <p:txBody>
          <a:bodyPr wrap="square" lIns="0" tIns="0" rIns="0" bIns="0" rtlCol="0" anchor="ctr"/>
          <a:lstStyle/>
          <a:p>
            <a:pPr marL="0" indent="0">
              <a:buNone/>
            </a:pPr>
            <a:r>
              <a:rPr lang="en-US" sz="1200" b="1" kern="0" spc="300" dirty="0">
                <a:solidFill>
                  <a:srgbClr val="D62B2B"/>
                </a:solidFill>
                <a:latin typeface="Calibri" panose="020F0502020204030204" pitchFamily="34" charset="0"/>
                <a:ea typeface="Calibri" panose="020F0502020204030204" pitchFamily="34" charset="-122"/>
                <a:cs typeface="Calibri" panose="020F0502020204030204" pitchFamily="34" charset="-120"/>
              </a:rPr>
              <a:t>THE PROBLEM</a:t>
            </a:r>
            <a:endParaRPr lang="en-US" sz="1200" dirty="0"/>
          </a:p>
        </p:txBody>
      </p:sp>
      <p:sp>
        <p:nvSpPr>
          <p:cNvPr id="3" name="Text 1"/>
          <p:cNvSpPr/>
          <p:nvPr/>
        </p:nvSpPr>
        <p:spPr>
          <a:xfrm>
            <a:off x="640080" y="740664"/>
            <a:ext cx="10972800" cy="603504"/>
          </a:xfrm>
          <a:prstGeom prst="rect">
            <a:avLst/>
          </a:prstGeom>
          <a:noFill/>
        </p:spPr>
        <p:txBody>
          <a:bodyPr wrap="square" lIns="0" tIns="0" rIns="0" bIns="0" rtlCol="0" anchor="ctr"/>
          <a:lstStyle/>
          <a:p>
            <a:pPr marL="0" indent="0">
              <a:buNone/>
            </a:pPr>
            <a:r>
              <a:rPr lang="en-US" sz="2900" b="1" dirty="0">
                <a:solidFill>
                  <a:srgbClr val="0D1B3E"/>
                </a:solidFill>
                <a:latin typeface="Calibri" panose="020F0502020204030204" pitchFamily="34" charset="0"/>
                <a:ea typeface="Calibri" panose="020F0502020204030204" pitchFamily="34" charset="-122"/>
                <a:cs typeface="Calibri" panose="020F0502020204030204" pitchFamily="34" charset="-120"/>
              </a:rPr>
              <a:t>You pay for space you can’t actually measure</a:t>
            </a:r>
            <a:endParaRPr lang="en-US" sz="2900" dirty="0"/>
          </a:p>
        </p:txBody>
      </p:sp>
      <p:sp>
        <p:nvSpPr>
          <p:cNvPr id="4" name="Shape 2"/>
          <p:cNvSpPr/>
          <p:nvPr/>
        </p:nvSpPr>
        <p:spPr>
          <a:xfrm>
            <a:off x="640080" y="1627632"/>
            <a:ext cx="6492240" cy="841248"/>
          </a:xfrm>
          <a:prstGeom prst="roundRect">
            <a:avLst>
              <a:gd name="adj" fmla="val 10870"/>
            </a:avLst>
          </a:prstGeom>
          <a:solidFill>
            <a:srgbClr val="FFFFFF"/>
          </a:solidFill>
          <a:effectLst>
            <a:outerShdw blurRad="101600" dist="25400" dir="5400000" algn="bl" rotWithShape="0">
              <a:srgbClr val="94A3B8">
                <a:alpha val="28000"/>
              </a:srgbClr>
            </a:outerShdw>
          </a:effectLst>
        </p:spPr>
      </p:sp>
      <p:sp>
        <p:nvSpPr>
          <p:cNvPr id="5" name="Shape 3"/>
          <p:cNvSpPr/>
          <p:nvPr/>
        </p:nvSpPr>
        <p:spPr>
          <a:xfrm>
            <a:off x="841248" y="1773936"/>
            <a:ext cx="548640" cy="548640"/>
          </a:xfrm>
          <a:prstGeom prst="ellipse">
            <a:avLst/>
          </a:prstGeom>
          <a:solidFill>
            <a:srgbClr val="FBEAEA"/>
          </a:solidFill>
        </p:spPr>
      </p:sp>
      <p:pic>
        <p:nvPicPr>
          <p:cNvPr id="6" name="Image 0" descr="assets/icon_eyeSlash_red.png"/>
          <p:cNvPicPr>
            <a:picLocks noChangeAspect="1"/>
          </p:cNvPicPr>
          <p:nvPr/>
        </p:nvPicPr>
        <p:blipFill>
          <a:blip r:embed="rId1"/>
          <a:stretch>
            <a:fillRect/>
          </a:stretch>
        </p:blipFill>
        <p:spPr>
          <a:xfrm>
            <a:off x="994867" y="1927555"/>
            <a:ext cx="241402" cy="241402"/>
          </a:xfrm>
          <a:prstGeom prst="rect">
            <a:avLst/>
          </a:prstGeom>
        </p:spPr>
      </p:pic>
      <p:sp>
        <p:nvSpPr>
          <p:cNvPr id="7" name="Text 4"/>
          <p:cNvSpPr/>
          <p:nvPr/>
        </p:nvSpPr>
        <p:spPr>
          <a:xfrm>
            <a:off x="1536192" y="1746504"/>
            <a:ext cx="5486400" cy="310896"/>
          </a:xfrm>
          <a:prstGeom prst="rect">
            <a:avLst/>
          </a:prstGeom>
          <a:noFill/>
        </p:spPr>
        <p:txBody>
          <a:bodyPr wrap="square" lIns="0" tIns="0" rIns="0" bIns="0" rtlCol="0" anchor="ctr"/>
          <a:lstStyle/>
          <a:p>
            <a:pPr marL="0" indent="0">
              <a:buNone/>
            </a:pPr>
            <a:r>
              <a:rPr lang="en-IN" altLang="en-US" sz="1450" b="1" dirty="0">
                <a:solidFill>
                  <a:srgbClr val="0D1B3E"/>
                </a:solidFill>
                <a:latin typeface="Calibri" panose="020F0502020204030204" pitchFamily="34" charset="0"/>
                <a:ea typeface="Calibri" panose="020F0502020204030204" pitchFamily="34" charset="-122"/>
                <a:cs typeface="Calibri" panose="020F0502020204030204" pitchFamily="34" charset="-120"/>
              </a:rPr>
              <a:t>Employee Productivity</a:t>
            </a:r>
            <a:endParaRPr lang="en-IN" altLang="en-US" sz="1450" b="1" dirty="0">
              <a:solidFill>
                <a:srgbClr val="0D1B3E"/>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Text 5"/>
          <p:cNvSpPr/>
          <p:nvPr/>
        </p:nvSpPr>
        <p:spPr>
          <a:xfrm>
            <a:off x="1536192" y="2048256"/>
            <a:ext cx="5486400" cy="365760"/>
          </a:xfrm>
          <a:prstGeom prst="rect">
            <a:avLst/>
          </a:prstGeom>
          <a:noFill/>
        </p:spPr>
        <p:txBody>
          <a:bodyPr wrap="square" lIns="0" tIns="0" rIns="0" bIns="0" rtlCol="0" anchor="ctr"/>
          <a:lstStyle/>
          <a:p>
            <a:pPr marL="0" indent="0">
              <a:lnSpc>
                <a:spcPts val="1300"/>
              </a:lnSpc>
              <a:buNone/>
            </a:pPr>
            <a:r>
              <a:rPr lang="en-IN" altLang="en-US" sz="1100" dirty="0"/>
              <a:t>Employee are not spend much time on desk.</a:t>
            </a:r>
            <a:endParaRPr lang="en-IN" altLang="en-US" sz="1100" dirty="0"/>
          </a:p>
        </p:txBody>
      </p:sp>
      <p:sp>
        <p:nvSpPr>
          <p:cNvPr id="9" name="Shape 6"/>
          <p:cNvSpPr/>
          <p:nvPr/>
        </p:nvSpPr>
        <p:spPr>
          <a:xfrm>
            <a:off x="640080" y="2542032"/>
            <a:ext cx="6492240" cy="841248"/>
          </a:xfrm>
          <a:prstGeom prst="roundRect">
            <a:avLst>
              <a:gd name="adj" fmla="val 10870"/>
            </a:avLst>
          </a:prstGeom>
          <a:solidFill>
            <a:srgbClr val="FFFFFF"/>
          </a:solidFill>
          <a:effectLst>
            <a:outerShdw blurRad="101600" dist="25400" dir="5400000" algn="bl" rotWithShape="0">
              <a:srgbClr val="94A3B8">
                <a:alpha val="28000"/>
              </a:srgbClr>
            </a:outerShdw>
          </a:effectLst>
        </p:spPr>
      </p:sp>
      <p:sp>
        <p:nvSpPr>
          <p:cNvPr id="10" name="Shape 7"/>
          <p:cNvSpPr/>
          <p:nvPr/>
        </p:nvSpPr>
        <p:spPr>
          <a:xfrm>
            <a:off x="841248" y="2688336"/>
            <a:ext cx="548640" cy="548640"/>
          </a:xfrm>
          <a:prstGeom prst="ellipse">
            <a:avLst/>
          </a:prstGeom>
          <a:solidFill>
            <a:srgbClr val="FBEAEA"/>
          </a:solidFill>
        </p:spPr>
      </p:sp>
      <p:pic>
        <p:nvPicPr>
          <p:cNvPr id="11" name="Image 1" descr="assets/icon_doorClosed_red.png"/>
          <p:cNvPicPr>
            <a:picLocks noChangeAspect="1"/>
          </p:cNvPicPr>
          <p:nvPr/>
        </p:nvPicPr>
        <p:blipFill>
          <a:blip r:embed="rId2"/>
          <a:stretch>
            <a:fillRect/>
          </a:stretch>
        </p:blipFill>
        <p:spPr>
          <a:xfrm>
            <a:off x="994867" y="2841955"/>
            <a:ext cx="241402" cy="241402"/>
          </a:xfrm>
          <a:prstGeom prst="rect">
            <a:avLst/>
          </a:prstGeom>
        </p:spPr>
      </p:pic>
      <p:sp>
        <p:nvSpPr>
          <p:cNvPr id="12" name="Text 8"/>
          <p:cNvSpPr/>
          <p:nvPr/>
        </p:nvSpPr>
        <p:spPr>
          <a:xfrm>
            <a:off x="1536192" y="2660904"/>
            <a:ext cx="5486400" cy="310896"/>
          </a:xfrm>
          <a:prstGeom prst="rect">
            <a:avLst/>
          </a:prstGeom>
          <a:noFill/>
        </p:spPr>
        <p:txBody>
          <a:bodyPr wrap="square" lIns="0" tIns="0" rIns="0" bIns="0" rtlCol="0" anchor="ctr"/>
          <a:lstStyle/>
          <a:p>
            <a:pPr marL="0" indent="0">
              <a:buNone/>
            </a:pPr>
            <a:r>
              <a:rPr lang="en-US" sz="1450" b="1" dirty="0">
                <a:solidFill>
                  <a:srgbClr val="0D1B3E"/>
                </a:solidFill>
                <a:latin typeface="Calibri" panose="020F0502020204030204" pitchFamily="34" charset="0"/>
                <a:ea typeface="Calibri" panose="020F0502020204030204" pitchFamily="34" charset="-122"/>
                <a:cs typeface="Calibri" panose="020F0502020204030204" pitchFamily="34" charset="-120"/>
              </a:rPr>
              <a:t>Meeting rooms sit idle</a:t>
            </a:r>
            <a:endParaRPr lang="en-US" sz="1450" dirty="0"/>
          </a:p>
        </p:txBody>
      </p:sp>
      <p:sp>
        <p:nvSpPr>
          <p:cNvPr id="13" name="Text 9"/>
          <p:cNvSpPr/>
          <p:nvPr/>
        </p:nvSpPr>
        <p:spPr>
          <a:xfrm>
            <a:off x="1536192" y="2962656"/>
            <a:ext cx="5486400" cy="365760"/>
          </a:xfrm>
          <a:prstGeom prst="rect">
            <a:avLst/>
          </a:prstGeom>
          <a:noFill/>
        </p:spPr>
        <p:txBody>
          <a:bodyPr wrap="square" lIns="0" tIns="0" rIns="0" bIns="0" rtlCol="0" anchor="ctr"/>
          <a:lstStyle/>
          <a:p>
            <a:pPr marL="0" indent="0">
              <a:lnSpc>
                <a:spcPts val="1300"/>
              </a:lnSpc>
              <a:buNone/>
            </a:pPr>
            <a:r>
              <a:rPr lang="en-US" sz="1100" dirty="0">
                <a:solidFill>
                  <a:srgbClr val="475569"/>
                </a:solidFill>
                <a:latin typeface="Calibri" panose="020F0502020204030204" pitchFamily="34" charset="0"/>
                <a:ea typeface="Calibri" panose="020F0502020204030204" pitchFamily="34" charset="-122"/>
                <a:cs typeface="Calibri" panose="020F0502020204030204" pitchFamily="34" charset="-120"/>
              </a:rPr>
              <a:t>Rooms are blocked on calendars but empty in reality — capacity is wasted.</a:t>
            </a:r>
            <a:endParaRPr lang="en-US" sz="1100" dirty="0"/>
          </a:p>
        </p:txBody>
      </p:sp>
      <p:sp>
        <p:nvSpPr>
          <p:cNvPr id="14" name="Shape 10"/>
          <p:cNvSpPr/>
          <p:nvPr/>
        </p:nvSpPr>
        <p:spPr>
          <a:xfrm>
            <a:off x="640080" y="3456432"/>
            <a:ext cx="6492240" cy="841248"/>
          </a:xfrm>
          <a:prstGeom prst="roundRect">
            <a:avLst>
              <a:gd name="adj" fmla="val 10870"/>
            </a:avLst>
          </a:prstGeom>
          <a:solidFill>
            <a:srgbClr val="FFFFFF"/>
          </a:solidFill>
          <a:effectLst>
            <a:outerShdw blurRad="101600" dist="25400" dir="5400000" algn="bl" rotWithShape="0">
              <a:srgbClr val="94A3B8">
                <a:alpha val="28000"/>
              </a:srgbClr>
            </a:outerShdw>
          </a:effectLst>
        </p:spPr>
      </p:sp>
      <p:sp>
        <p:nvSpPr>
          <p:cNvPr id="15" name="Shape 11"/>
          <p:cNvSpPr/>
          <p:nvPr/>
        </p:nvSpPr>
        <p:spPr>
          <a:xfrm>
            <a:off x="841248" y="3602736"/>
            <a:ext cx="548640" cy="548640"/>
          </a:xfrm>
          <a:prstGeom prst="ellipse">
            <a:avLst/>
          </a:prstGeom>
          <a:solidFill>
            <a:srgbClr val="FBEAEA"/>
          </a:solidFill>
        </p:spPr>
      </p:sp>
      <p:pic>
        <p:nvPicPr>
          <p:cNvPr id="16" name="Image 2" descr="assets/icon_chair_red.png"/>
          <p:cNvPicPr>
            <a:picLocks noChangeAspect="1"/>
          </p:cNvPicPr>
          <p:nvPr/>
        </p:nvPicPr>
        <p:blipFill>
          <a:blip r:embed="rId3"/>
          <a:stretch>
            <a:fillRect/>
          </a:stretch>
        </p:blipFill>
        <p:spPr>
          <a:xfrm>
            <a:off x="994867" y="3756355"/>
            <a:ext cx="241402" cy="241402"/>
          </a:xfrm>
          <a:prstGeom prst="rect">
            <a:avLst/>
          </a:prstGeom>
        </p:spPr>
      </p:pic>
      <p:sp>
        <p:nvSpPr>
          <p:cNvPr id="17" name="Text 12"/>
          <p:cNvSpPr/>
          <p:nvPr/>
        </p:nvSpPr>
        <p:spPr>
          <a:xfrm>
            <a:off x="1536192" y="3575304"/>
            <a:ext cx="5486400" cy="310896"/>
          </a:xfrm>
          <a:prstGeom prst="rect">
            <a:avLst/>
          </a:prstGeom>
          <a:noFill/>
        </p:spPr>
        <p:txBody>
          <a:bodyPr wrap="square" lIns="0" tIns="0" rIns="0" bIns="0" rtlCol="0" anchor="ctr"/>
          <a:lstStyle/>
          <a:p>
            <a:pPr marL="0" indent="0">
              <a:buNone/>
            </a:pPr>
            <a:r>
              <a:rPr lang="en-US" sz="1450" b="1" dirty="0">
                <a:solidFill>
                  <a:srgbClr val="0D1B3E"/>
                </a:solidFill>
                <a:latin typeface="Calibri" panose="020F0502020204030204" pitchFamily="34" charset="0"/>
                <a:ea typeface="Calibri" panose="020F0502020204030204" pitchFamily="34" charset="-122"/>
                <a:cs typeface="Calibri" panose="020F0502020204030204" pitchFamily="34" charset="-120"/>
              </a:rPr>
              <a:t>Inefficient desk usage</a:t>
            </a:r>
            <a:endParaRPr lang="en-US" sz="1450" dirty="0"/>
          </a:p>
        </p:txBody>
      </p:sp>
      <p:sp>
        <p:nvSpPr>
          <p:cNvPr id="18" name="Text 13"/>
          <p:cNvSpPr/>
          <p:nvPr/>
        </p:nvSpPr>
        <p:spPr>
          <a:xfrm>
            <a:off x="1536192" y="3877056"/>
            <a:ext cx="5486400" cy="365760"/>
          </a:xfrm>
          <a:prstGeom prst="rect">
            <a:avLst/>
          </a:prstGeom>
          <a:noFill/>
        </p:spPr>
        <p:txBody>
          <a:bodyPr wrap="square" lIns="0" tIns="0" rIns="0" bIns="0" rtlCol="0" anchor="ctr"/>
          <a:lstStyle/>
          <a:p>
            <a:pPr marL="0" indent="0">
              <a:lnSpc>
                <a:spcPts val="1300"/>
              </a:lnSpc>
              <a:buNone/>
            </a:pPr>
            <a:r>
              <a:rPr lang="en-US" sz="1100" dirty="0">
                <a:solidFill>
                  <a:srgbClr val="475569"/>
                </a:solidFill>
                <a:latin typeface="Calibri" panose="020F0502020204030204" pitchFamily="34" charset="0"/>
                <a:ea typeface="Calibri" panose="020F0502020204030204" pitchFamily="34" charset="-122"/>
                <a:cs typeface="Calibri" panose="020F0502020204030204" pitchFamily="34" charset="-120"/>
              </a:rPr>
              <a:t>Hybrid work leaves large floor areas under-occupied and over-leased.</a:t>
            </a:r>
            <a:endParaRPr lang="en-US" sz="1100" dirty="0"/>
          </a:p>
        </p:txBody>
      </p:sp>
      <p:sp>
        <p:nvSpPr>
          <p:cNvPr id="19" name="Shape 14"/>
          <p:cNvSpPr/>
          <p:nvPr/>
        </p:nvSpPr>
        <p:spPr>
          <a:xfrm>
            <a:off x="640080" y="4370832"/>
            <a:ext cx="6492240" cy="841248"/>
          </a:xfrm>
          <a:prstGeom prst="roundRect">
            <a:avLst>
              <a:gd name="adj" fmla="val 10870"/>
            </a:avLst>
          </a:prstGeom>
          <a:solidFill>
            <a:srgbClr val="FFFFFF"/>
          </a:solidFill>
          <a:effectLst>
            <a:outerShdw blurRad="101600" dist="25400" dir="5400000" algn="bl" rotWithShape="0">
              <a:srgbClr val="94A3B8">
                <a:alpha val="28000"/>
              </a:srgbClr>
            </a:outerShdw>
          </a:effectLst>
        </p:spPr>
      </p:sp>
      <p:sp>
        <p:nvSpPr>
          <p:cNvPr id="20" name="Shape 15"/>
          <p:cNvSpPr/>
          <p:nvPr/>
        </p:nvSpPr>
        <p:spPr>
          <a:xfrm>
            <a:off x="841248" y="4517136"/>
            <a:ext cx="548640" cy="548640"/>
          </a:xfrm>
          <a:prstGeom prst="ellipse">
            <a:avLst/>
          </a:prstGeom>
          <a:solidFill>
            <a:srgbClr val="FBEAEA"/>
          </a:solidFill>
        </p:spPr>
      </p:sp>
      <p:pic>
        <p:nvPicPr>
          <p:cNvPr id="21" name="Image 3" descr="assets/icon_utensils_red.png"/>
          <p:cNvPicPr>
            <a:picLocks noChangeAspect="1"/>
          </p:cNvPicPr>
          <p:nvPr/>
        </p:nvPicPr>
        <p:blipFill>
          <a:blip r:embed="rId4"/>
          <a:stretch>
            <a:fillRect/>
          </a:stretch>
        </p:blipFill>
        <p:spPr>
          <a:xfrm>
            <a:off x="994867" y="4670755"/>
            <a:ext cx="241402" cy="241402"/>
          </a:xfrm>
          <a:prstGeom prst="rect">
            <a:avLst/>
          </a:prstGeom>
        </p:spPr>
      </p:pic>
      <p:sp>
        <p:nvSpPr>
          <p:cNvPr id="22" name="Text 16"/>
          <p:cNvSpPr/>
          <p:nvPr/>
        </p:nvSpPr>
        <p:spPr>
          <a:xfrm>
            <a:off x="1536192" y="4489704"/>
            <a:ext cx="5486400" cy="310896"/>
          </a:xfrm>
          <a:prstGeom prst="rect">
            <a:avLst/>
          </a:prstGeom>
          <a:noFill/>
        </p:spPr>
        <p:txBody>
          <a:bodyPr wrap="square" lIns="0" tIns="0" rIns="0" bIns="0" rtlCol="0" anchor="ctr"/>
          <a:lstStyle/>
          <a:p>
            <a:pPr marL="0" indent="0">
              <a:buNone/>
            </a:pPr>
            <a:r>
              <a:rPr lang="en-US" sz="1450" b="1" dirty="0">
                <a:solidFill>
                  <a:srgbClr val="0D1B3E"/>
                </a:solidFill>
                <a:latin typeface="Calibri" panose="020F0502020204030204" pitchFamily="34" charset="0"/>
                <a:ea typeface="Calibri" panose="020F0502020204030204" pitchFamily="34" charset="-122"/>
                <a:cs typeface="Calibri" panose="020F0502020204030204" pitchFamily="34" charset="-120"/>
              </a:rPr>
              <a:t>No cafeteria insight</a:t>
            </a:r>
            <a:endParaRPr lang="en-US" sz="1450" dirty="0"/>
          </a:p>
        </p:txBody>
      </p:sp>
      <p:sp>
        <p:nvSpPr>
          <p:cNvPr id="23" name="Text 17"/>
          <p:cNvSpPr/>
          <p:nvPr/>
        </p:nvSpPr>
        <p:spPr>
          <a:xfrm>
            <a:off x="1536192" y="4791456"/>
            <a:ext cx="5486400" cy="365760"/>
          </a:xfrm>
          <a:prstGeom prst="rect">
            <a:avLst/>
          </a:prstGeom>
          <a:noFill/>
        </p:spPr>
        <p:txBody>
          <a:bodyPr wrap="square" lIns="0" tIns="0" rIns="0" bIns="0" rtlCol="0" anchor="ctr"/>
          <a:lstStyle/>
          <a:p>
            <a:pPr marL="0" indent="0">
              <a:lnSpc>
                <a:spcPts val="1300"/>
              </a:lnSpc>
              <a:buNone/>
            </a:pPr>
            <a:r>
              <a:rPr lang="en-US" sz="1100" dirty="0">
                <a:solidFill>
                  <a:srgbClr val="475569"/>
                </a:solidFill>
                <a:latin typeface="Calibri" panose="020F0502020204030204" pitchFamily="34" charset="0"/>
                <a:ea typeface="Calibri" panose="020F0502020204030204" pitchFamily="34" charset="-122"/>
                <a:cs typeface="Calibri" panose="020F0502020204030204" pitchFamily="34" charset="-120"/>
              </a:rPr>
              <a:t>Peak-hour crowding and off-peak emptiness go unmeasured.</a:t>
            </a:r>
            <a:endParaRPr lang="en-US" sz="1100" dirty="0"/>
          </a:p>
        </p:txBody>
      </p:sp>
      <p:sp>
        <p:nvSpPr>
          <p:cNvPr id="24" name="Shape 18"/>
          <p:cNvSpPr/>
          <p:nvPr/>
        </p:nvSpPr>
        <p:spPr>
          <a:xfrm>
            <a:off x="640080" y="5285232"/>
            <a:ext cx="6492240" cy="841248"/>
          </a:xfrm>
          <a:prstGeom prst="roundRect">
            <a:avLst>
              <a:gd name="adj" fmla="val 10870"/>
            </a:avLst>
          </a:prstGeom>
          <a:solidFill>
            <a:srgbClr val="FFFFFF"/>
          </a:solidFill>
          <a:effectLst>
            <a:outerShdw blurRad="101600" dist="25400" dir="5400000" algn="bl" rotWithShape="0">
              <a:srgbClr val="94A3B8">
                <a:alpha val="28000"/>
              </a:srgbClr>
            </a:outerShdw>
          </a:effectLst>
        </p:spPr>
      </p:sp>
      <p:sp>
        <p:nvSpPr>
          <p:cNvPr id="25" name="Shape 19"/>
          <p:cNvSpPr/>
          <p:nvPr/>
        </p:nvSpPr>
        <p:spPr>
          <a:xfrm>
            <a:off x="841248" y="5431536"/>
            <a:ext cx="548640" cy="548640"/>
          </a:xfrm>
          <a:prstGeom prst="ellipse">
            <a:avLst/>
          </a:prstGeom>
          <a:solidFill>
            <a:srgbClr val="FBEAEA"/>
          </a:solidFill>
        </p:spPr>
      </p:sp>
      <p:pic>
        <p:nvPicPr>
          <p:cNvPr id="26" name="Image 4" descr="assets/icon_fileSignature_red.png"/>
          <p:cNvPicPr>
            <a:picLocks noChangeAspect="1"/>
          </p:cNvPicPr>
          <p:nvPr/>
        </p:nvPicPr>
        <p:blipFill>
          <a:blip r:embed="rId5"/>
          <a:stretch>
            <a:fillRect/>
          </a:stretch>
        </p:blipFill>
        <p:spPr>
          <a:xfrm>
            <a:off x="994867" y="5585155"/>
            <a:ext cx="241402" cy="241402"/>
          </a:xfrm>
          <a:prstGeom prst="rect">
            <a:avLst/>
          </a:prstGeom>
        </p:spPr>
      </p:pic>
      <p:sp>
        <p:nvSpPr>
          <p:cNvPr id="27" name="Text 20"/>
          <p:cNvSpPr/>
          <p:nvPr/>
        </p:nvSpPr>
        <p:spPr>
          <a:xfrm>
            <a:off x="1536192" y="5404104"/>
            <a:ext cx="5486400" cy="310896"/>
          </a:xfrm>
          <a:prstGeom prst="rect">
            <a:avLst/>
          </a:prstGeom>
          <a:noFill/>
        </p:spPr>
        <p:txBody>
          <a:bodyPr wrap="square" lIns="0" tIns="0" rIns="0" bIns="0" rtlCol="0" anchor="ctr"/>
          <a:lstStyle/>
          <a:p>
            <a:pPr marL="0" indent="0">
              <a:buNone/>
            </a:pPr>
            <a:r>
              <a:rPr lang="en-US" sz="1450" b="1" dirty="0">
                <a:solidFill>
                  <a:srgbClr val="0D1B3E"/>
                </a:solidFill>
                <a:latin typeface="Calibri" panose="020F0502020204030204" pitchFamily="34" charset="0"/>
                <a:ea typeface="Calibri" panose="020F0502020204030204" pitchFamily="34" charset="-122"/>
                <a:cs typeface="Calibri" panose="020F0502020204030204" pitchFamily="34" charset="-120"/>
              </a:rPr>
              <a:t>Manual reporting</a:t>
            </a:r>
            <a:endParaRPr lang="en-US" sz="1450" dirty="0"/>
          </a:p>
        </p:txBody>
      </p:sp>
      <p:sp>
        <p:nvSpPr>
          <p:cNvPr id="28" name="Text 21"/>
          <p:cNvSpPr/>
          <p:nvPr/>
        </p:nvSpPr>
        <p:spPr>
          <a:xfrm>
            <a:off x="1536192" y="5705856"/>
            <a:ext cx="5486400" cy="365760"/>
          </a:xfrm>
          <a:prstGeom prst="rect">
            <a:avLst/>
          </a:prstGeom>
          <a:noFill/>
        </p:spPr>
        <p:txBody>
          <a:bodyPr wrap="square" lIns="0" tIns="0" rIns="0" bIns="0" rtlCol="0" anchor="ctr"/>
          <a:lstStyle/>
          <a:p>
            <a:pPr marL="0" indent="0">
              <a:lnSpc>
                <a:spcPts val="1300"/>
              </a:lnSpc>
              <a:buNone/>
            </a:pPr>
            <a:r>
              <a:rPr lang="en-US" sz="1100" dirty="0">
                <a:solidFill>
                  <a:srgbClr val="475569"/>
                </a:solidFill>
                <a:latin typeface="Calibri" panose="020F0502020204030204" pitchFamily="34" charset="0"/>
                <a:ea typeface="Calibri" panose="020F0502020204030204" pitchFamily="34" charset="-122"/>
                <a:cs typeface="Calibri" panose="020F0502020204030204" pitchFamily="34" charset="-120"/>
              </a:rPr>
              <a:t>Facilities rely on walk-arounds and spreadsheets — slow and subjective.</a:t>
            </a:r>
            <a:endParaRPr lang="en-US" sz="1100" dirty="0"/>
          </a:p>
        </p:txBody>
      </p:sp>
      <p:sp>
        <p:nvSpPr>
          <p:cNvPr id="29" name="Shape 22"/>
          <p:cNvSpPr/>
          <p:nvPr/>
        </p:nvSpPr>
        <p:spPr>
          <a:xfrm>
            <a:off x="7406640" y="1627632"/>
            <a:ext cx="4114800" cy="4498848"/>
          </a:xfrm>
          <a:prstGeom prst="roundRect">
            <a:avLst>
              <a:gd name="adj" fmla="val 2667"/>
            </a:avLst>
          </a:prstGeom>
          <a:solidFill>
            <a:srgbClr val="0D1B3E"/>
          </a:solidFill>
          <a:effectLst>
            <a:outerShdw blurRad="165100" dist="50800" dir="5400000" algn="bl" rotWithShape="0">
              <a:srgbClr val="0D1B3E">
                <a:alpha val="32000"/>
              </a:srgbClr>
            </a:outerShdw>
          </a:effectLst>
        </p:spPr>
      </p:sp>
      <p:sp>
        <p:nvSpPr>
          <p:cNvPr id="30" name="Text 23"/>
          <p:cNvSpPr/>
          <p:nvPr/>
        </p:nvSpPr>
        <p:spPr>
          <a:xfrm>
            <a:off x="7726680" y="1920240"/>
            <a:ext cx="3566160" cy="274320"/>
          </a:xfrm>
          <a:prstGeom prst="rect">
            <a:avLst/>
          </a:prstGeom>
          <a:noFill/>
        </p:spPr>
        <p:txBody>
          <a:bodyPr wrap="square" lIns="0" tIns="0" rIns="0" bIns="0" rtlCol="0" anchor="ctr"/>
          <a:lstStyle/>
          <a:p>
            <a:pPr marL="0" indent="0">
              <a:buNone/>
            </a:pPr>
            <a:r>
              <a:rPr lang="en-US" sz="1200" b="1" kern="0" spc="200" dirty="0">
                <a:solidFill>
                  <a:srgbClr val="7DA3FF"/>
                </a:solidFill>
                <a:latin typeface="Calibri" panose="020F0502020204030204" pitchFamily="34" charset="0"/>
                <a:ea typeface="Calibri" panose="020F0502020204030204" pitchFamily="34" charset="-122"/>
                <a:cs typeface="Calibri" panose="020F0502020204030204" pitchFamily="34" charset="-120"/>
              </a:rPr>
              <a:t>THE HIDDEN COST</a:t>
            </a:r>
            <a:endParaRPr lang="en-US" sz="1200" dirty="0"/>
          </a:p>
        </p:txBody>
      </p:sp>
      <p:sp>
        <p:nvSpPr>
          <p:cNvPr id="31" name="Text 24"/>
          <p:cNvSpPr/>
          <p:nvPr/>
        </p:nvSpPr>
        <p:spPr>
          <a:xfrm>
            <a:off x="7726680" y="2212848"/>
            <a:ext cx="3566160" cy="868680"/>
          </a:xfrm>
          <a:prstGeom prst="rect">
            <a:avLst/>
          </a:prstGeom>
          <a:noFill/>
        </p:spPr>
        <p:txBody>
          <a:bodyPr wrap="square" lIns="0" tIns="0" rIns="0" bIns="0" rtlCol="0" anchor="ctr"/>
          <a:lstStyle/>
          <a:p>
            <a:pPr marL="0" indent="0">
              <a:buNone/>
            </a:pPr>
            <a:r>
              <a:rPr lang="en-US" sz="5000" b="1" dirty="0">
                <a:solidFill>
                  <a:srgbClr val="FFFFFF"/>
                </a:solidFill>
                <a:latin typeface="Calibri" panose="020F0502020204030204" pitchFamily="34" charset="0"/>
                <a:ea typeface="Calibri" panose="020F0502020204030204" pitchFamily="34" charset="-122"/>
                <a:cs typeface="Calibri" panose="020F0502020204030204" pitchFamily="34" charset="-120"/>
              </a:rPr>
              <a:t>30–40%</a:t>
            </a:r>
            <a:endParaRPr lang="en-US" sz="5000" dirty="0"/>
          </a:p>
        </p:txBody>
      </p:sp>
      <p:sp>
        <p:nvSpPr>
          <p:cNvPr id="32" name="Text 25"/>
          <p:cNvSpPr/>
          <p:nvPr/>
        </p:nvSpPr>
        <p:spPr>
          <a:xfrm>
            <a:off x="7726680" y="3154680"/>
            <a:ext cx="3520440" cy="777240"/>
          </a:xfrm>
          <a:prstGeom prst="rect">
            <a:avLst/>
          </a:prstGeom>
          <a:noFill/>
        </p:spPr>
        <p:txBody>
          <a:bodyPr wrap="square" lIns="0" tIns="0" rIns="0" bIns="0" rtlCol="0" anchor="ctr"/>
          <a:lstStyle/>
          <a:p>
            <a:pPr marL="0" indent="0">
              <a:lnSpc>
                <a:spcPts val="1800"/>
              </a:lnSpc>
              <a:buNone/>
            </a:pPr>
            <a:r>
              <a:rPr lang="en-US" sz="1350" dirty="0">
                <a:solidFill>
                  <a:srgbClr val="CBD7F0"/>
                </a:solidFill>
                <a:latin typeface="Calibri" panose="020F0502020204030204" pitchFamily="34" charset="0"/>
                <a:ea typeface="Calibri" panose="020F0502020204030204" pitchFamily="34" charset="-122"/>
                <a:cs typeface="Calibri" panose="020F0502020204030204" pitchFamily="34" charset="-120"/>
              </a:rPr>
              <a:t>of corporate real estate typically sits under-utilized at any given hour.</a:t>
            </a:r>
            <a:endParaRPr lang="en-US" sz="1350" dirty="0"/>
          </a:p>
        </p:txBody>
      </p:sp>
      <p:sp>
        <p:nvSpPr>
          <p:cNvPr id="33" name="Shape 26"/>
          <p:cNvSpPr/>
          <p:nvPr/>
        </p:nvSpPr>
        <p:spPr>
          <a:xfrm>
            <a:off x="7726680" y="4069080"/>
            <a:ext cx="3474720" cy="0"/>
          </a:xfrm>
          <a:prstGeom prst="line">
            <a:avLst/>
          </a:prstGeom>
          <a:noFill/>
          <a:ln w="12700">
            <a:solidFill>
              <a:srgbClr val="2C4276"/>
            </a:solidFill>
            <a:prstDash val="solid"/>
          </a:ln>
        </p:spPr>
      </p:sp>
      <p:sp>
        <p:nvSpPr>
          <p:cNvPr id="34" name="Text 27"/>
          <p:cNvSpPr/>
          <p:nvPr/>
        </p:nvSpPr>
        <p:spPr>
          <a:xfrm>
            <a:off x="7726680" y="4224528"/>
            <a:ext cx="3520440" cy="1737360"/>
          </a:xfrm>
          <a:prstGeom prst="rect">
            <a:avLst/>
          </a:prstGeom>
          <a:noFill/>
        </p:spPr>
        <p:txBody>
          <a:bodyPr wrap="square" lIns="0" tIns="0" rIns="0" bIns="0" rtlCol="0" anchor="ctr"/>
          <a:lstStyle/>
          <a:p>
            <a:pPr marL="0" indent="0">
              <a:lnSpc>
                <a:spcPts val="1800"/>
              </a:lnSpc>
              <a:buNone/>
            </a:pPr>
            <a:r>
              <a:rPr lang="en-US" sz="1300" dirty="0">
                <a:solidFill>
                  <a:srgbClr val="CBD7F0"/>
                </a:solidFill>
                <a:latin typeface="Calibri" panose="020F0502020204030204" pitchFamily="34" charset="0"/>
                <a:ea typeface="Calibri" panose="020F0502020204030204" pitchFamily="34" charset="-122"/>
                <a:cs typeface="Calibri" panose="020F0502020204030204" pitchFamily="34" charset="-120"/>
              </a:rPr>
              <a:t>Every unmeasured square foot is rent, power and cleaning spend with no usage data behind it. </a:t>
            </a:r>
            <a:endParaRPr lang="en-US" sz="1300" dirty="0"/>
          </a:p>
          <a:p>
            <a:pPr marL="0" indent="0">
              <a:lnSpc>
                <a:spcPts val="1800"/>
              </a:lnSpc>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You can’t optimize what you don’t measure.</a:t>
            </a:r>
            <a:endParaRPr lang="en-US" sz="1300" dirty="0"/>
          </a:p>
        </p:txBody>
      </p:sp>
      <p:pic>
        <p:nvPicPr>
          <p:cNvPr id="35" name="Image 5" descr="assets/logo_dark.png"/>
          <p:cNvPicPr>
            <a:picLocks noChangeAspect="1"/>
          </p:cNvPicPr>
          <p:nvPr/>
        </p:nvPicPr>
        <p:blipFill>
          <a:blip r:embed="rId6"/>
          <a:srcRect/>
          <a:stretch>
            <a:fillRect/>
          </a:stretch>
        </p:blipFill>
        <p:spPr>
          <a:xfrm>
            <a:off x="10317175" y="6400800"/>
            <a:ext cx="1280160" cy="214884"/>
          </a:xfrm>
          <a:prstGeom prst="rect">
            <a:avLst/>
          </a:prstGeom>
        </p:spPr>
      </p:pic>
      <p:sp>
        <p:nvSpPr>
          <p:cNvPr id="36" name="Text 28"/>
          <p:cNvSpPr/>
          <p:nvPr/>
        </p:nvSpPr>
        <p:spPr>
          <a:xfrm>
            <a:off x="640080" y="6382512"/>
            <a:ext cx="731520" cy="274320"/>
          </a:xfrm>
          <a:prstGeom prst="rect">
            <a:avLst/>
          </a:prstGeom>
          <a:noFill/>
        </p:spPr>
        <p:txBody>
          <a:bodyPr wrap="square" lIns="0" tIns="0" rIns="0" bIns="0" rtlCol="0" anchor="ctr"/>
          <a:lstStyle/>
          <a:p>
            <a:pPr marL="0" indent="0">
              <a:buNone/>
            </a:pPr>
            <a:r>
              <a:rPr lang="en-US" sz="1100" b="1" dirty="0">
                <a:solidFill>
                  <a:srgbClr val="64748B"/>
                </a:solidFill>
                <a:latin typeface="Calibri" panose="020F0502020204030204" pitchFamily="34" charset="0"/>
                <a:ea typeface="Calibri" panose="020F0502020204030204" pitchFamily="34" charset="-122"/>
                <a:cs typeface="Calibri" panose="020F0502020204030204"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2743200" y="3840480"/>
            <a:ext cx="8229600" cy="8229600"/>
          </a:xfrm>
          <a:prstGeom prst="ellipse">
            <a:avLst/>
          </a:prstGeom>
          <a:solidFill>
            <a:srgbClr val="16285A"/>
          </a:solidFill>
        </p:spPr>
      </p:sp>
      <p:sp>
        <p:nvSpPr>
          <p:cNvPr id="3" name="Text 1"/>
          <p:cNvSpPr/>
          <p:nvPr/>
        </p:nvSpPr>
        <p:spPr>
          <a:xfrm>
            <a:off x="640080" y="502920"/>
            <a:ext cx="7315200" cy="274320"/>
          </a:xfrm>
          <a:prstGeom prst="rect">
            <a:avLst/>
          </a:prstGeom>
          <a:noFill/>
        </p:spPr>
        <p:txBody>
          <a:bodyPr wrap="square" lIns="0" tIns="0" rIns="0" bIns="0" rtlCol="0" anchor="ctr"/>
          <a:lstStyle/>
          <a:p>
            <a:pPr marL="0" indent="0">
              <a:buNone/>
            </a:pPr>
            <a:r>
              <a:rPr lang="en-US" sz="1200" b="1" kern="0" spc="300" dirty="0">
                <a:solidFill>
                  <a:srgbClr val="7DA3FF"/>
                </a:solidFill>
                <a:latin typeface="Calibri" panose="020F0502020204030204" pitchFamily="34" charset="0"/>
                <a:ea typeface="Calibri" panose="020F0502020204030204" pitchFamily="34" charset="-122"/>
                <a:cs typeface="Calibri" panose="020F0502020204030204" pitchFamily="34" charset="-120"/>
              </a:rPr>
              <a:t>THE SOLUTION</a:t>
            </a:r>
            <a:endParaRPr lang="en-US" sz="1200" dirty="0"/>
          </a:p>
        </p:txBody>
      </p:sp>
      <p:sp>
        <p:nvSpPr>
          <p:cNvPr id="4" name="Text 2"/>
          <p:cNvSpPr/>
          <p:nvPr/>
        </p:nvSpPr>
        <p:spPr>
          <a:xfrm>
            <a:off x="640080" y="786384"/>
            <a:ext cx="10972800" cy="603504"/>
          </a:xfrm>
          <a:prstGeom prst="rect">
            <a:avLst/>
          </a:prstGeom>
          <a:noFill/>
        </p:spPr>
        <p:txBody>
          <a:bodyPr wrap="square" lIns="0" tIns="0" rIns="0" bIns="0" rtlCol="0" anchor="ctr"/>
          <a:lstStyle/>
          <a:p>
            <a:pPr marL="0" indent="0">
              <a:buNone/>
            </a:pPr>
            <a:r>
              <a:rPr lang="en-US" sz="2900" b="1" dirty="0">
                <a:solidFill>
                  <a:srgbClr val="FFFFFF"/>
                </a:solidFill>
                <a:latin typeface="Calibri" panose="020F0502020204030204" pitchFamily="34" charset="0"/>
                <a:ea typeface="Calibri" panose="020F0502020204030204" pitchFamily="34" charset="-122"/>
                <a:cs typeface="Calibri" panose="020F0502020204030204" pitchFamily="34" charset="-120"/>
              </a:rPr>
              <a:t>From existing cameras to executive insight</a:t>
            </a:r>
            <a:endParaRPr lang="en-US" sz="2900" dirty="0"/>
          </a:p>
        </p:txBody>
      </p:sp>
      <p:sp>
        <p:nvSpPr>
          <p:cNvPr id="5" name="Shape 3"/>
          <p:cNvSpPr/>
          <p:nvPr/>
        </p:nvSpPr>
        <p:spPr>
          <a:xfrm>
            <a:off x="527152" y="2148840"/>
            <a:ext cx="1993392" cy="2788920"/>
          </a:xfrm>
          <a:prstGeom prst="roundRect">
            <a:avLst>
              <a:gd name="adj" fmla="val 5505"/>
            </a:avLst>
          </a:prstGeom>
          <a:solidFill>
            <a:srgbClr val="FFFFFF"/>
          </a:solidFill>
          <a:effectLst>
            <a:outerShdw blurRad="127000" dist="38100" dir="5400000" algn="bl" rotWithShape="0">
              <a:srgbClr val="000000">
                <a:alpha val="35000"/>
              </a:srgbClr>
            </a:outerShdw>
          </a:effectLst>
        </p:spPr>
      </p:sp>
      <p:sp>
        <p:nvSpPr>
          <p:cNvPr id="6" name="Shape 4"/>
          <p:cNvSpPr/>
          <p:nvPr/>
        </p:nvSpPr>
        <p:spPr>
          <a:xfrm>
            <a:off x="1089508" y="2441448"/>
            <a:ext cx="868680" cy="868680"/>
          </a:xfrm>
          <a:prstGeom prst="ellipse">
            <a:avLst/>
          </a:prstGeom>
          <a:solidFill>
            <a:srgbClr val="D62B2B"/>
          </a:solidFill>
        </p:spPr>
      </p:sp>
      <p:pic>
        <p:nvPicPr>
          <p:cNvPr id="7" name="Image 0" descr="assets/icon_video_white.png"/>
          <p:cNvPicPr>
            <a:picLocks noChangeAspect="1"/>
          </p:cNvPicPr>
          <p:nvPr/>
        </p:nvPicPr>
        <p:blipFill>
          <a:blip r:embed="rId1"/>
          <a:stretch>
            <a:fillRect/>
          </a:stretch>
        </p:blipFill>
        <p:spPr>
          <a:xfrm>
            <a:off x="1332738" y="2684678"/>
            <a:ext cx="382219" cy="382219"/>
          </a:xfrm>
          <a:prstGeom prst="rect">
            <a:avLst/>
          </a:prstGeom>
        </p:spPr>
      </p:pic>
      <p:sp>
        <p:nvSpPr>
          <p:cNvPr id="8" name="Text 5"/>
          <p:cNvSpPr/>
          <p:nvPr/>
        </p:nvSpPr>
        <p:spPr>
          <a:xfrm>
            <a:off x="1953616" y="2350008"/>
            <a:ext cx="411480" cy="320040"/>
          </a:xfrm>
          <a:prstGeom prst="rect">
            <a:avLst/>
          </a:prstGeom>
          <a:noFill/>
        </p:spPr>
        <p:txBody>
          <a:bodyPr wrap="square" lIns="0" tIns="0" rIns="0" bIns="0" rtlCol="0" anchor="ctr"/>
          <a:lstStyle/>
          <a:p>
            <a:pPr marL="0" indent="0" algn="r">
              <a:buNone/>
            </a:pPr>
            <a:r>
              <a:rPr lang="en-US" sz="1500" b="1" dirty="0">
                <a:solidFill>
                  <a:srgbClr val="D62B2B"/>
                </a:solidFill>
                <a:latin typeface="Calibri" panose="020F0502020204030204" pitchFamily="34" charset="0"/>
                <a:ea typeface="Calibri" panose="020F0502020204030204" pitchFamily="34" charset="-122"/>
                <a:cs typeface="Calibri" panose="020F0502020204030204" pitchFamily="34" charset="-120"/>
              </a:rPr>
              <a:t>1</a:t>
            </a:r>
            <a:endParaRPr lang="en-US" sz="1500" dirty="0"/>
          </a:p>
        </p:txBody>
      </p:sp>
      <p:sp>
        <p:nvSpPr>
          <p:cNvPr id="9" name="Text 6"/>
          <p:cNvSpPr/>
          <p:nvPr/>
        </p:nvSpPr>
        <p:spPr>
          <a:xfrm>
            <a:off x="655168" y="3447288"/>
            <a:ext cx="1737360" cy="566928"/>
          </a:xfrm>
          <a:prstGeom prst="rect">
            <a:avLst/>
          </a:prstGeom>
          <a:noFill/>
        </p:spPr>
        <p:txBody>
          <a:bodyPr wrap="square" lIns="0" tIns="0" rIns="0" bIns="0" rtlCol="0" anchor="ctr"/>
          <a:lstStyle/>
          <a:p>
            <a:pPr marL="0" indent="0" algn="ctr">
              <a:lnSpc>
                <a:spcPts val="1600"/>
              </a:lnSpc>
              <a:buNone/>
            </a:pPr>
            <a:r>
              <a:rPr lang="en-US" sz="1450" b="1" dirty="0">
                <a:solidFill>
                  <a:srgbClr val="0D1B3E"/>
                </a:solidFill>
                <a:latin typeface="Calibri" panose="020F0502020204030204" pitchFamily="34" charset="0"/>
                <a:ea typeface="Calibri" panose="020F0502020204030204" pitchFamily="34" charset="-122"/>
                <a:cs typeface="Calibri" panose="020F0502020204030204" pitchFamily="34" charset="-120"/>
              </a:rPr>
              <a:t>CCTV Cameras</a:t>
            </a:r>
            <a:endParaRPr lang="en-US" sz="1450" dirty="0"/>
          </a:p>
        </p:txBody>
      </p:sp>
      <p:sp>
        <p:nvSpPr>
          <p:cNvPr id="10" name="Text 7"/>
          <p:cNvSpPr/>
          <p:nvPr/>
        </p:nvSpPr>
        <p:spPr>
          <a:xfrm>
            <a:off x="673456" y="4032504"/>
            <a:ext cx="1700784" cy="822960"/>
          </a:xfrm>
          <a:prstGeom prst="rect">
            <a:avLst/>
          </a:prstGeom>
          <a:noFill/>
        </p:spPr>
        <p:txBody>
          <a:bodyPr wrap="square" lIns="0" tIns="0" rIns="0" bIns="0" rtlCol="0" anchor="ctr"/>
          <a:lstStyle/>
          <a:p>
            <a:pPr marL="0" indent="0" algn="ctr">
              <a:lnSpc>
                <a:spcPts val="1300"/>
              </a:lnSpc>
              <a:buNone/>
            </a:pPr>
            <a:r>
              <a:rPr lang="en-US" sz="1080" dirty="0">
                <a:solidFill>
                  <a:srgbClr val="475569"/>
                </a:solidFill>
                <a:latin typeface="Calibri" panose="020F0502020204030204" pitchFamily="34" charset="0"/>
                <a:ea typeface="Calibri" panose="020F0502020204030204" pitchFamily="34" charset="-122"/>
                <a:cs typeface="Calibri" panose="020F0502020204030204" pitchFamily="34" charset="-120"/>
              </a:rPr>
              <a:t>Use the cameras already installed across the site.</a:t>
            </a:r>
            <a:endParaRPr lang="en-US" sz="1080" dirty="0"/>
          </a:p>
        </p:txBody>
      </p:sp>
      <p:pic>
        <p:nvPicPr>
          <p:cNvPr id="11" name="Image 1" descr="assets/icon_arrowRight_white.png"/>
          <p:cNvPicPr>
            <a:picLocks noChangeAspect="1"/>
          </p:cNvPicPr>
          <p:nvPr/>
        </p:nvPicPr>
        <p:blipFill>
          <a:blip r:embed="rId2"/>
          <a:stretch>
            <a:fillRect/>
          </a:stretch>
        </p:blipFill>
        <p:spPr>
          <a:xfrm>
            <a:off x="2520544" y="3232404"/>
            <a:ext cx="292608" cy="292608"/>
          </a:xfrm>
          <a:prstGeom prst="rect">
            <a:avLst/>
          </a:prstGeom>
        </p:spPr>
      </p:pic>
      <p:sp>
        <p:nvSpPr>
          <p:cNvPr id="12" name="Shape 8"/>
          <p:cNvSpPr/>
          <p:nvPr/>
        </p:nvSpPr>
        <p:spPr>
          <a:xfrm>
            <a:off x="2813152" y="2148840"/>
            <a:ext cx="1993392" cy="2788920"/>
          </a:xfrm>
          <a:prstGeom prst="roundRect">
            <a:avLst>
              <a:gd name="adj" fmla="val 5505"/>
            </a:avLst>
          </a:prstGeom>
          <a:solidFill>
            <a:srgbClr val="FFFFFF"/>
          </a:solidFill>
          <a:effectLst>
            <a:outerShdw blurRad="127000" dist="38100" dir="5400000" algn="bl" rotWithShape="0">
              <a:srgbClr val="000000">
                <a:alpha val="35000"/>
              </a:srgbClr>
            </a:outerShdw>
          </a:effectLst>
        </p:spPr>
      </p:sp>
      <p:sp>
        <p:nvSpPr>
          <p:cNvPr id="13" name="Shape 9"/>
          <p:cNvSpPr/>
          <p:nvPr/>
        </p:nvSpPr>
        <p:spPr>
          <a:xfrm>
            <a:off x="3375508" y="2441448"/>
            <a:ext cx="868680" cy="868680"/>
          </a:xfrm>
          <a:prstGeom prst="ellipse">
            <a:avLst/>
          </a:prstGeom>
          <a:solidFill>
            <a:srgbClr val="D97706"/>
          </a:solidFill>
        </p:spPr>
      </p:sp>
      <p:pic>
        <p:nvPicPr>
          <p:cNvPr id="14" name="Image 2" descr="assets/icon_crosshairs_white.png"/>
          <p:cNvPicPr>
            <a:picLocks noChangeAspect="1"/>
          </p:cNvPicPr>
          <p:nvPr/>
        </p:nvPicPr>
        <p:blipFill>
          <a:blip r:embed="rId3"/>
          <a:stretch>
            <a:fillRect/>
          </a:stretch>
        </p:blipFill>
        <p:spPr>
          <a:xfrm>
            <a:off x="3618738" y="2684678"/>
            <a:ext cx="382219" cy="382219"/>
          </a:xfrm>
          <a:prstGeom prst="rect">
            <a:avLst/>
          </a:prstGeom>
        </p:spPr>
      </p:pic>
      <p:sp>
        <p:nvSpPr>
          <p:cNvPr id="15" name="Text 10"/>
          <p:cNvSpPr/>
          <p:nvPr/>
        </p:nvSpPr>
        <p:spPr>
          <a:xfrm>
            <a:off x="4239616" y="2350008"/>
            <a:ext cx="411480" cy="320040"/>
          </a:xfrm>
          <a:prstGeom prst="rect">
            <a:avLst/>
          </a:prstGeom>
          <a:noFill/>
        </p:spPr>
        <p:txBody>
          <a:bodyPr wrap="square" lIns="0" tIns="0" rIns="0" bIns="0" rtlCol="0" anchor="ctr"/>
          <a:lstStyle/>
          <a:p>
            <a:pPr marL="0" indent="0" algn="r">
              <a:buNone/>
            </a:pPr>
            <a:r>
              <a:rPr lang="en-US" sz="1500" b="1" dirty="0">
                <a:solidFill>
                  <a:srgbClr val="D97706"/>
                </a:solidFill>
                <a:latin typeface="Calibri" panose="020F0502020204030204" pitchFamily="34" charset="0"/>
                <a:ea typeface="Calibri" panose="020F0502020204030204" pitchFamily="34" charset="-122"/>
                <a:cs typeface="Calibri" panose="020F0502020204030204" pitchFamily="34" charset="-120"/>
              </a:rPr>
              <a:t>2</a:t>
            </a:r>
            <a:endParaRPr lang="en-US" sz="1500" dirty="0"/>
          </a:p>
        </p:txBody>
      </p:sp>
      <p:sp>
        <p:nvSpPr>
          <p:cNvPr id="16" name="Text 11"/>
          <p:cNvSpPr/>
          <p:nvPr/>
        </p:nvSpPr>
        <p:spPr>
          <a:xfrm>
            <a:off x="2941168" y="3447288"/>
            <a:ext cx="1737360" cy="566928"/>
          </a:xfrm>
          <a:prstGeom prst="rect">
            <a:avLst/>
          </a:prstGeom>
          <a:noFill/>
        </p:spPr>
        <p:txBody>
          <a:bodyPr wrap="square" lIns="0" tIns="0" rIns="0" bIns="0" rtlCol="0" anchor="ctr"/>
          <a:lstStyle/>
          <a:p>
            <a:pPr marL="0" indent="0" algn="ctr">
              <a:lnSpc>
                <a:spcPts val="1600"/>
              </a:lnSpc>
              <a:buNone/>
            </a:pPr>
            <a:r>
              <a:rPr lang="en-US" sz="1450" b="1" dirty="0">
                <a:solidFill>
                  <a:srgbClr val="0D1B3E"/>
                </a:solidFill>
                <a:latin typeface="Calibri" panose="020F0502020204030204" pitchFamily="34" charset="0"/>
                <a:ea typeface="Calibri" panose="020F0502020204030204" pitchFamily="34" charset="-122"/>
                <a:cs typeface="Calibri" panose="020F0502020204030204" pitchFamily="34" charset="-120"/>
              </a:rPr>
              <a:t>YOLO AI Detection</a:t>
            </a:r>
            <a:endParaRPr lang="en-US" sz="1450" dirty="0"/>
          </a:p>
        </p:txBody>
      </p:sp>
      <p:sp>
        <p:nvSpPr>
          <p:cNvPr id="17" name="Text 12"/>
          <p:cNvSpPr/>
          <p:nvPr/>
        </p:nvSpPr>
        <p:spPr>
          <a:xfrm>
            <a:off x="2959456" y="4032504"/>
            <a:ext cx="1700784" cy="822960"/>
          </a:xfrm>
          <a:prstGeom prst="rect">
            <a:avLst/>
          </a:prstGeom>
          <a:noFill/>
        </p:spPr>
        <p:txBody>
          <a:bodyPr wrap="square" lIns="0" tIns="0" rIns="0" bIns="0" rtlCol="0" anchor="ctr"/>
          <a:lstStyle/>
          <a:p>
            <a:pPr marL="0" indent="0" algn="ctr">
              <a:lnSpc>
                <a:spcPts val="1300"/>
              </a:lnSpc>
              <a:buNone/>
            </a:pPr>
            <a:r>
              <a:rPr lang="en-US" sz="1080" dirty="0">
                <a:solidFill>
                  <a:srgbClr val="475569"/>
                </a:solidFill>
                <a:latin typeface="Calibri" panose="020F0502020204030204" pitchFamily="34" charset="0"/>
                <a:ea typeface="Calibri" panose="020F0502020204030204" pitchFamily="34" charset="-122"/>
                <a:cs typeface="Calibri" panose="020F0502020204030204" pitchFamily="34" charset="-120"/>
              </a:rPr>
              <a:t>Real-time detection of people, seats and zones.</a:t>
            </a:r>
            <a:endParaRPr lang="en-US" sz="1080" dirty="0"/>
          </a:p>
        </p:txBody>
      </p:sp>
      <p:pic>
        <p:nvPicPr>
          <p:cNvPr id="18" name="Image 3" descr="assets/icon_arrowRight_white.png"/>
          <p:cNvPicPr>
            <a:picLocks noChangeAspect="1"/>
          </p:cNvPicPr>
          <p:nvPr/>
        </p:nvPicPr>
        <p:blipFill>
          <a:blip r:embed="rId2"/>
          <a:stretch>
            <a:fillRect/>
          </a:stretch>
        </p:blipFill>
        <p:spPr>
          <a:xfrm>
            <a:off x="4806544" y="3232404"/>
            <a:ext cx="292608" cy="292608"/>
          </a:xfrm>
          <a:prstGeom prst="rect">
            <a:avLst/>
          </a:prstGeom>
        </p:spPr>
      </p:pic>
      <p:sp>
        <p:nvSpPr>
          <p:cNvPr id="19" name="Shape 13"/>
          <p:cNvSpPr/>
          <p:nvPr/>
        </p:nvSpPr>
        <p:spPr>
          <a:xfrm>
            <a:off x="5099152" y="2148840"/>
            <a:ext cx="1993392" cy="2788920"/>
          </a:xfrm>
          <a:prstGeom prst="roundRect">
            <a:avLst>
              <a:gd name="adj" fmla="val 5505"/>
            </a:avLst>
          </a:prstGeom>
          <a:solidFill>
            <a:srgbClr val="FFFFFF"/>
          </a:solidFill>
          <a:effectLst>
            <a:outerShdw blurRad="127000" dist="38100" dir="5400000" algn="bl" rotWithShape="0">
              <a:srgbClr val="000000">
                <a:alpha val="35000"/>
              </a:srgbClr>
            </a:outerShdw>
          </a:effectLst>
        </p:spPr>
      </p:sp>
      <p:sp>
        <p:nvSpPr>
          <p:cNvPr id="20" name="Shape 14"/>
          <p:cNvSpPr/>
          <p:nvPr/>
        </p:nvSpPr>
        <p:spPr>
          <a:xfrm>
            <a:off x="5661508" y="2441448"/>
            <a:ext cx="868680" cy="868680"/>
          </a:xfrm>
          <a:prstGeom prst="ellipse">
            <a:avLst/>
          </a:prstGeom>
          <a:solidFill>
            <a:srgbClr val="16A34A"/>
          </a:solidFill>
        </p:spPr>
      </p:sp>
      <p:pic>
        <p:nvPicPr>
          <p:cNvPr id="21" name="Image 4" descr="assets/icon_microchip_white.png"/>
          <p:cNvPicPr>
            <a:picLocks noChangeAspect="1"/>
          </p:cNvPicPr>
          <p:nvPr/>
        </p:nvPicPr>
        <p:blipFill>
          <a:blip r:embed="rId4"/>
          <a:stretch>
            <a:fillRect/>
          </a:stretch>
        </p:blipFill>
        <p:spPr>
          <a:xfrm>
            <a:off x="5904738" y="2684678"/>
            <a:ext cx="382219" cy="382219"/>
          </a:xfrm>
          <a:prstGeom prst="rect">
            <a:avLst/>
          </a:prstGeom>
        </p:spPr>
      </p:pic>
      <p:sp>
        <p:nvSpPr>
          <p:cNvPr id="22" name="Text 15"/>
          <p:cNvSpPr/>
          <p:nvPr/>
        </p:nvSpPr>
        <p:spPr>
          <a:xfrm>
            <a:off x="6525616" y="2350008"/>
            <a:ext cx="411480" cy="320040"/>
          </a:xfrm>
          <a:prstGeom prst="rect">
            <a:avLst/>
          </a:prstGeom>
          <a:noFill/>
        </p:spPr>
        <p:txBody>
          <a:bodyPr wrap="square" lIns="0" tIns="0" rIns="0" bIns="0" rtlCol="0" anchor="ctr"/>
          <a:lstStyle/>
          <a:p>
            <a:pPr marL="0" indent="0" algn="r">
              <a:buNone/>
            </a:pPr>
            <a:r>
              <a:rPr lang="en-US" sz="1500" b="1" dirty="0">
                <a:solidFill>
                  <a:srgbClr val="16A34A"/>
                </a:solidFill>
                <a:latin typeface="Calibri" panose="020F0502020204030204" pitchFamily="34" charset="0"/>
                <a:ea typeface="Calibri" panose="020F0502020204030204" pitchFamily="34" charset="-122"/>
                <a:cs typeface="Calibri" panose="020F0502020204030204" pitchFamily="34" charset="-120"/>
              </a:rPr>
              <a:t>3</a:t>
            </a:r>
            <a:endParaRPr lang="en-US" sz="1500" dirty="0"/>
          </a:p>
        </p:txBody>
      </p:sp>
      <p:sp>
        <p:nvSpPr>
          <p:cNvPr id="23" name="Text 16"/>
          <p:cNvSpPr/>
          <p:nvPr/>
        </p:nvSpPr>
        <p:spPr>
          <a:xfrm>
            <a:off x="5227168" y="3447288"/>
            <a:ext cx="1737360" cy="566928"/>
          </a:xfrm>
          <a:prstGeom prst="rect">
            <a:avLst/>
          </a:prstGeom>
          <a:noFill/>
        </p:spPr>
        <p:txBody>
          <a:bodyPr wrap="square" lIns="0" tIns="0" rIns="0" bIns="0" rtlCol="0" anchor="ctr"/>
          <a:lstStyle/>
          <a:p>
            <a:pPr marL="0" indent="0" algn="ctr">
              <a:lnSpc>
                <a:spcPts val="1600"/>
              </a:lnSpc>
              <a:buNone/>
            </a:pPr>
            <a:r>
              <a:rPr lang="en-US" sz="1450" b="1" dirty="0">
                <a:solidFill>
                  <a:srgbClr val="0D1B3E"/>
                </a:solidFill>
                <a:latin typeface="Calibri" panose="020F0502020204030204" pitchFamily="34" charset="0"/>
                <a:ea typeface="Calibri" panose="020F0502020204030204" pitchFamily="34" charset="-122"/>
                <a:cs typeface="Calibri" panose="020F0502020204030204" pitchFamily="34" charset="-120"/>
              </a:rPr>
              <a:t>Jetson Edge Device</a:t>
            </a:r>
            <a:endParaRPr lang="en-US" sz="1450" dirty="0"/>
          </a:p>
        </p:txBody>
      </p:sp>
      <p:sp>
        <p:nvSpPr>
          <p:cNvPr id="24" name="Text 17"/>
          <p:cNvSpPr/>
          <p:nvPr/>
        </p:nvSpPr>
        <p:spPr>
          <a:xfrm>
            <a:off x="5245456" y="4032504"/>
            <a:ext cx="1700784" cy="822960"/>
          </a:xfrm>
          <a:prstGeom prst="rect">
            <a:avLst/>
          </a:prstGeom>
          <a:noFill/>
        </p:spPr>
        <p:txBody>
          <a:bodyPr wrap="square" lIns="0" tIns="0" rIns="0" bIns="0" rtlCol="0" anchor="ctr"/>
          <a:lstStyle/>
          <a:p>
            <a:pPr marL="0" indent="0" algn="ctr">
              <a:lnSpc>
                <a:spcPts val="1300"/>
              </a:lnSpc>
              <a:buNone/>
            </a:pPr>
            <a:r>
              <a:rPr lang="en-US" sz="1080" dirty="0">
                <a:solidFill>
                  <a:srgbClr val="475569"/>
                </a:solidFill>
                <a:latin typeface="Calibri" panose="020F0502020204030204" pitchFamily="34" charset="0"/>
                <a:ea typeface="Calibri" panose="020F0502020204030204" pitchFamily="34" charset="-122"/>
                <a:cs typeface="Calibri" panose="020F0502020204030204" pitchFamily="34" charset="-120"/>
              </a:rPr>
              <a:t>On-prem inference — no video leaves the building.</a:t>
            </a:r>
            <a:endParaRPr lang="en-US" sz="1080" dirty="0"/>
          </a:p>
        </p:txBody>
      </p:sp>
      <p:pic>
        <p:nvPicPr>
          <p:cNvPr id="25" name="Image 5" descr="assets/icon_arrowRight_white.png"/>
          <p:cNvPicPr>
            <a:picLocks noChangeAspect="1"/>
          </p:cNvPicPr>
          <p:nvPr/>
        </p:nvPicPr>
        <p:blipFill>
          <a:blip r:embed="rId2"/>
          <a:stretch>
            <a:fillRect/>
          </a:stretch>
        </p:blipFill>
        <p:spPr>
          <a:xfrm>
            <a:off x="7092544" y="3232404"/>
            <a:ext cx="292608" cy="292608"/>
          </a:xfrm>
          <a:prstGeom prst="rect">
            <a:avLst/>
          </a:prstGeom>
        </p:spPr>
      </p:pic>
      <p:sp>
        <p:nvSpPr>
          <p:cNvPr id="26" name="Shape 18"/>
          <p:cNvSpPr/>
          <p:nvPr/>
        </p:nvSpPr>
        <p:spPr>
          <a:xfrm>
            <a:off x="7385152" y="2148840"/>
            <a:ext cx="1993392" cy="2788920"/>
          </a:xfrm>
          <a:prstGeom prst="roundRect">
            <a:avLst>
              <a:gd name="adj" fmla="val 5505"/>
            </a:avLst>
          </a:prstGeom>
          <a:solidFill>
            <a:srgbClr val="FFFFFF"/>
          </a:solidFill>
          <a:effectLst>
            <a:outerShdw blurRad="127000" dist="38100" dir="5400000" algn="bl" rotWithShape="0">
              <a:srgbClr val="000000">
                <a:alpha val="35000"/>
              </a:srgbClr>
            </a:outerShdw>
          </a:effectLst>
        </p:spPr>
      </p:sp>
      <p:sp>
        <p:nvSpPr>
          <p:cNvPr id="27" name="Shape 19"/>
          <p:cNvSpPr/>
          <p:nvPr/>
        </p:nvSpPr>
        <p:spPr>
          <a:xfrm>
            <a:off x="7947508" y="2441448"/>
            <a:ext cx="868680" cy="868680"/>
          </a:xfrm>
          <a:prstGeom prst="ellipse">
            <a:avLst/>
          </a:prstGeom>
          <a:solidFill>
            <a:srgbClr val="2563EB"/>
          </a:solidFill>
        </p:spPr>
      </p:sp>
      <p:pic>
        <p:nvPicPr>
          <p:cNvPr id="28" name="Image 6" descr="assets/icon_chartBar_white.png"/>
          <p:cNvPicPr>
            <a:picLocks noChangeAspect="1"/>
          </p:cNvPicPr>
          <p:nvPr/>
        </p:nvPicPr>
        <p:blipFill>
          <a:blip r:embed="rId5"/>
          <a:stretch>
            <a:fillRect/>
          </a:stretch>
        </p:blipFill>
        <p:spPr>
          <a:xfrm>
            <a:off x="8190738" y="2684678"/>
            <a:ext cx="382219" cy="382219"/>
          </a:xfrm>
          <a:prstGeom prst="rect">
            <a:avLst/>
          </a:prstGeom>
        </p:spPr>
      </p:pic>
      <p:sp>
        <p:nvSpPr>
          <p:cNvPr id="29" name="Text 20"/>
          <p:cNvSpPr/>
          <p:nvPr/>
        </p:nvSpPr>
        <p:spPr>
          <a:xfrm>
            <a:off x="8811616" y="2350008"/>
            <a:ext cx="411480" cy="320040"/>
          </a:xfrm>
          <a:prstGeom prst="rect">
            <a:avLst/>
          </a:prstGeom>
          <a:noFill/>
        </p:spPr>
        <p:txBody>
          <a:bodyPr wrap="square" lIns="0" tIns="0" rIns="0" bIns="0" rtlCol="0" anchor="ctr"/>
          <a:lstStyle/>
          <a:p>
            <a:pPr marL="0" indent="0" algn="r">
              <a:buNone/>
            </a:pPr>
            <a:r>
              <a:rPr lang="en-US" sz="1500" b="1" dirty="0">
                <a:solidFill>
                  <a:srgbClr val="2563EB"/>
                </a:solidFill>
                <a:latin typeface="Calibri" panose="020F0502020204030204" pitchFamily="34" charset="0"/>
                <a:ea typeface="Calibri" panose="020F0502020204030204" pitchFamily="34" charset="-122"/>
                <a:cs typeface="Calibri" panose="020F0502020204030204" pitchFamily="34" charset="-120"/>
              </a:rPr>
              <a:t>4</a:t>
            </a:r>
            <a:endParaRPr lang="en-US" sz="1500" dirty="0"/>
          </a:p>
        </p:txBody>
      </p:sp>
      <p:sp>
        <p:nvSpPr>
          <p:cNvPr id="30" name="Text 21"/>
          <p:cNvSpPr/>
          <p:nvPr/>
        </p:nvSpPr>
        <p:spPr>
          <a:xfrm>
            <a:off x="7513168" y="3447288"/>
            <a:ext cx="1737360" cy="566928"/>
          </a:xfrm>
          <a:prstGeom prst="rect">
            <a:avLst/>
          </a:prstGeom>
          <a:noFill/>
        </p:spPr>
        <p:txBody>
          <a:bodyPr wrap="square" lIns="0" tIns="0" rIns="0" bIns="0" rtlCol="0" anchor="ctr"/>
          <a:lstStyle/>
          <a:p>
            <a:pPr marL="0" indent="0" algn="ctr">
              <a:lnSpc>
                <a:spcPts val="1600"/>
              </a:lnSpc>
              <a:buNone/>
            </a:pPr>
            <a:r>
              <a:rPr lang="en-US" sz="1450" b="1" dirty="0">
                <a:solidFill>
                  <a:srgbClr val="0D1B3E"/>
                </a:solidFill>
                <a:latin typeface="Calibri" panose="020F0502020204030204" pitchFamily="34" charset="0"/>
                <a:ea typeface="Calibri" panose="020F0502020204030204" pitchFamily="34" charset="-122"/>
                <a:cs typeface="Calibri" panose="020F0502020204030204" pitchFamily="34" charset="-120"/>
              </a:rPr>
              <a:t>Analytics Engine</a:t>
            </a:r>
            <a:endParaRPr lang="en-US" sz="1450" dirty="0"/>
          </a:p>
        </p:txBody>
      </p:sp>
      <p:sp>
        <p:nvSpPr>
          <p:cNvPr id="31" name="Text 22"/>
          <p:cNvSpPr/>
          <p:nvPr/>
        </p:nvSpPr>
        <p:spPr>
          <a:xfrm>
            <a:off x="7531456" y="4032504"/>
            <a:ext cx="1700784" cy="822960"/>
          </a:xfrm>
          <a:prstGeom prst="rect">
            <a:avLst/>
          </a:prstGeom>
          <a:noFill/>
        </p:spPr>
        <p:txBody>
          <a:bodyPr wrap="square" lIns="0" tIns="0" rIns="0" bIns="0" rtlCol="0" anchor="ctr"/>
          <a:lstStyle/>
          <a:p>
            <a:pPr marL="0" indent="0" algn="ctr">
              <a:lnSpc>
                <a:spcPts val="1300"/>
              </a:lnSpc>
              <a:buNone/>
            </a:pPr>
            <a:r>
              <a:rPr lang="en-US" sz="1080" dirty="0">
                <a:solidFill>
                  <a:srgbClr val="475569"/>
                </a:solidFill>
                <a:latin typeface="Calibri" panose="020F0502020204030204" pitchFamily="34" charset="0"/>
                <a:ea typeface="Calibri" panose="020F0502020204030204" pitchFamily="34" charset="-122"/>
                <a:cs typeface="Calibri" panose="020F0502020204030204" pitchFamily="34" charset="-120"/>
              </a:rPr>
              <a:t>Occupancy, utilization and trends computed live.</a:t>
            </a:r>
            <a:endParaRPr lang="en-US" sz="1080" dirty="0"/>
          </a:p>
        </p:txBody>
      </p:sp>
      <p:pic>
        <p:nvPicPr>
          <p:cNvPr id="32" name="Image 7" descr="assets/icon_arrowRight_white.png"/>
          <p:cNvPicPr>
            <a:picLocks noChangeAspect="1"/>
          </p:cNvPicPr>
          <p:nvPr/>
        </p:nvPicPr>
        <p:blipFill>
          <a:blip r:embed="rId2"/>
          <a:stretch>
            <a:fillRect/>
          </a:stretch>
        </p:blipFill>
        <p:spPr>
          <a:xfrm>
            <a:off x="9378544" y="3232404"/>
            <a:ext cx="292608" cy="292608"/>
          </a:xfrm>
          <a:prstGeom prst="rect">
            <a:avLst/>
          </a:prstGeom>
        </p:spPr>
      </p:pic>
      <p:sp>
        <p:nvSpPr>
          <p:cNvPr id="33" name="Shape 23"/>
          <p:cNvSpPr/>
          <p:nvPr/>
        </p:nvSpPr>
        <p:spPr>
          <a:xfrm>
            <a:off x="9671152" y="2148840"/>
            <a:ext cx="1993392" cy="2788920"/>
          </a:xfrm>
          <a:prstGeom prst="roundRect">
            <a:avLst>
              <a:gd name="adj" fmla="val 5505"/>
            </a:avLst>
          </a:prstGeom>
          <a:solidFill>
            <a:srgbClr val="FFFFFF"/>
          </a:solidFill>
          <a:effectLst>
            <a:outerShdw blurRad="127000" dist="38100" dir="5400000" algn="bl" rotWithShape="0">
              <a:srgbClr val="000000">
                <a:alpha val="35000"/>
              </a:srgbClr>
            </a:outerShdw>
          </a:effectLst>
        </p:spPr>
      </p:sp>
      <p:sp>
        <p:nvSpPr>
          <p:cNvPr id="34" name="Shape 24"/>
          <p:cNvSpPr/>
          <p:nvPr/>
        </p:nvSpPr>
        <p:spPr>
          <a:xfrm>
            <a:off x="10233508" y="2441448"/>
            <a:ext cx="868680" cy="868680"/>
          </a:xfrm>
          <a:prstGeom prst="ellipse">
            <a:avLst/>
          </a:prstGeom>
          <a:solidFill>
            <a:srgbClr val="8B5CF6"/>
          </a:solidFill>
        </p:spPr>
      </p:sp>
      <p:pic>
        <p:nvPicPr>
          <p:cNvPr id="35" name="Image 8" descr="assets/icon_desktop_white.png"/>
          <p:cNvPicPr>
            <a:picLocks noChangeAspect="1"/>
          </p:cNvPicPr>
          <p:nvPr/>
        </p:nvPicPr>
        <p:blipFill>
          <a:blip r:embed="rId6"/>
          <a:stretch>
            <a:fillRect/>
          </a:stretch>
        </p:blipFill>
        <p:spPr>
          <a:xfrm>
            <a:off x="10476738" y="2684678"/>
            <a:ext cx="382219" cy="382219"/>
          </a:xfrm>
          <a:prstGeom prst="rect">
            <a:avLst/>
          </a:prstGeom>
        </p:spPr>
      </p:pic>
      <p:sp>
        <p:nvSpPr>
          <p:cNvPr id="36" name="Text 25"/>
          <p:cNvSpPr/>
          <p:nvPr/>
        </p:nvSpPr>
        <p:spPr>
          <a:xfrm>
            <a:off x="11097616" y="2350008"/>
            <a:ext cx="411480" cy="320040"/>
          </a:xfrm>
          <a:prstGeom prst="rect">
            <a:avLst/>
          </a:prstGeom>
          <a:noFill/>
        </p:spPr>
        <p:txBody>
          <a:bodyPr wrap="square" lIns="0" tIns="0" rIns="0" bIns="0" rtlCol="0" anchor="ctr"/>
          <a:lstStyle/>
          <a:p>
            <a:pPr marL="0" indent="0" algn="r">
              <a:buNone/>
            </a:pPr>
            <a:r>
              <a:rPr lang="en-US" sz="1500" b="1" dirty="0">
                <a:solidFill>
                  <a:srgbClr val="8B5CF6"/>
                </a:solidFill>
                <a:latin typeface="Calibri" panose="020F0502020204030204" pitchFamily="34" charset="0"/>
                <a:ea typeface="Calibri" panose="020F0502020204030204" pitchFamily="34" charset="-122"/>
                <a:cs typeface="Calibri" panose="020F0502020204030204" pitchFamily="34" charset="-120"/>
              </a:rPr>
              <a:t>5</a:t>
            </a:r>
            <a:endParaRPr lang="en-US" sz="1500" dirty="0"/>
          </a:p>
        </p:txBody>
      </p:sp>
      <p:sp>
        <p:nvSpPr>
          <p:cNvPr id="37" name="Text 26"/>
          <p:cNvSpPr/>
          <p:nvPr/>
        </p:nvSpPr>
        <p:spPr>
          <a:xfrm>
            <a:off x="9799168" y="3447288"/>
            <a:ext cx="1737360" cy="566928"/>
          </a:xfrm>
          <a:prstGeom prst="rect">
            <a:avLst/>
          </a:prstGeom>
          <a:noFill/>
        </p:spPr>
        <p:txBody>
          <a:bodyPr wrap="square" lIns="0" tIns="0" rIns="0" bIns="0" rtlCol="0" anchor="ctr"/>
          <a:lstStyle/>
          <a:p>
            <a:pPr marL="0" indent="0" algn="ctr">
              <a:lnSpc>
                <a:spcPts val="1600"/>
              </a:lnSpc>
              <a:buNone/>
            </a:pPr>
            <a:r>
              <a:rPr lang="en-US" sz="1450" b="1" dirty="0">
                <a:solidFill>
                  <a:srgbClr val="0D1B3E"/>
                </a:solidFill>
                <a:latin typeface="Calibri" panose="020F0502020204030204" pitchFamily="34" charset="0"/>
                <a:ea typeface="Calibri" panose="020F0502020204030204" pitchFamily="34" charset="-122"/>
                <a:cs typeface="Calibri" panose="020F0502020204030204" pitchFamily="34" charset="-120"/>
              </a:rPr>
              <a:t>Dashboards &amp; Reports</a:t>
            </a:r>
            <a:endParaRPr lang="en-US" sz="1450" dirty="0"/>
          </a:p>
        </p:txBody>
      </p:sp>
      <p:sp>
        <p:nvSpPr>
          <p:cNvPr id="38" name="Text 27"/>
          <p:cNvSpPr/>
          <p:nvPr/>
        </p:nvSpPr>
        <p:spPr>
          <a:xfrm>
            <a:off x="9817456" y="4032504"/>
            <a:ext cx="1700784" cy="822960"/>
          </a:xfrm>
          <a:prstGeom prst="rect">
            <a:avLst/>
          </a:prstGeom>
          <a:noFill/>
        </p:spPr>
        <p:txBody>
          <a:bodyPr wrap="square" lIns="0" tIns="0" rIns="0" bIns="0" rtlCol="0" anchor="ctr"/>
          <a:lstStyle/>
          <a:p>
            <a:pPr marL="0" indent="0" algn="ctr">
              <a:lnSpc>
                <a:spcPts val="1300"/>
              </a:lnSpc>
              <a:buNone/>
            </a:pPr>
            <a:r>
              <a:rPr lang="en-US" sz="1080" dirty="0">
                <a:solidFill>
                  <a:srgbClr val="475569"/>
                </a:solidFill>
                <a:latin typeface="Calibri" panose="020F0502020204030204" pitchFamily="34" charset="0"/>
                <a:ea typeface="Calibri" panose="020F0502020204030204" pitchFamily="34" charset="-122"/>
                <a:cs typeface="Calibri" panose="020F0502020204030204" pitchFamily="34" charset="-120"/>
              </a:rPr>
              <a:t>Clear insight for HR, Facilities and leadership.</a:t>
            </a:r>
            <a:endParaRPr lang="en-US" sz="1080" dirty="0"/>
          </a:p>
        </p:txBody>
      </p:sp>
      <p:sp>
        <p:nvSpPr>
          <p:cNvPr id="39" name="Shape 28"/>
          <p:cNvSpPr/>
          <p:nvPr/>
        </p:nvSpPr>
        <p:spPr>
          <a:xfrm>
            <a:off x="527152" y="5394960"/>
            <a:ext cx="11137392" cy="868680"/>
          </a:xfrm>
          <a:prstGeom prst="roundRect">
            <a:avLst>
              <a:gd name="adj" fmla="val 10526"/>
            </a:avLst>
          </a:prstGeom>
          <a:solidFill>
            <a:srgbClr val="1B3168"/>
          </a:solidFill>
        </p:spPr>
      </p:sp>
      <p:pic>
        <p:nvPicPr>
          <p:cNvPr id="40" name="Image 9" descr="assets/icon_userShield_white.png"/>
          <p:cNvPicPr>
            <a:picLocks noChangeAspect="1"/>
          </p:cNvPicPr>
          <p:nvPr/>
        </p:nvPicPr>
        <p:blipFill>
          <a:blip r:embed="rId7"/>
          <a:stretch>
            <a:fillRect/>
          </a:stretch>
        </p:blipFill>
        <p:spPr>
          <a:xfrm>
            <a:off x="847192" y="5596128"/>
            <a:ext cx="457200" cy="457200"/>
          </a:xfrm>
          <a:prstGeom prst="rect">
            <a:avLst/>
          </a:prstGeom>
        </p:spPr>
      </p:pic>
      <p:sp>
        <p:nvSpPr>
          <p:cNvPr id="41" name="Text 29"/>
          <p:cNvSpPr/>
          <p:nvPr/>
        </p:nvSpPr>
        <p:spPr>
          <a:xfrm>
            <a:off x="1487272" y="5440680"/>
            <a:ext cx="9857232" cy="777240"/>
          </a:xfrm>
          <a:prstGeom prst="rect">
            <a:avLst/>
          </a:prstGeom>
          <a:noFill/>
        </p:spPr>
        <p:txBody>
          <a:bodyPr wrap="square" lIns="0" tIns="0" rIns="0" bIns="0" rtlCol="0" anchor="ctr"/>
          <a:lstStyle/>
          <a:p>
            <a:pPr marL="0" indent="0">
              <a:lnSpc>
                <a:spcPts val="1600"/>
              </a:lnSpc>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Anonymous by design.  </a:t>
            </a:r>
            <a:r>
              <a:rPr lang="en-US" sz="1300" dirty="0">
                <a:solidFill>
                  <a:srgbClr val="CBD7F0"/>
                </a:solidFill>
                <a:latin typeface="Calibri" panose="020F0502020204030204" pitchFamily="34" charset="0"/>
                <a:ea typeface="Calibri" panose="020F0502020204030204" pitchFamily="34" charset="-122"/>
                <a:cs typeface="Calibri" panose="020F0502020204030204" pitchFamily="34" charset="-120"/>
              </a:rPr>
              <a:t>The pipeline counts people and reads zones to produce occupancy data — it does not perform facial recognition or identify individuals.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274320"/>
          </a:xfrm>
          <a:prstGeom prst="rect">
            <a:avLst/>
          </a:prstGeom>
          <a:noFill/>
        </p:spPr>
        <p:txBody>
          <a:bodyPr wrap="square" lIns="0" tIns="0" rIns="0" bIns="0" rtlCol="0" anchor="ctr"/>
          <a:lstStyle/>
          <a:p>
            <a:pPr marL="0" indent="0">
              <a:buNone/>
            </a:pPr>
            <a:r>
              <a:rPr lang="en-US" sz="1200" b="1" kern="0" spc="300" dirty="0">
                <a:solidFill>
                  <a:srgbClr val="D62B2B"/>
                </a:solidFill>
                <a:latin typeface="Calibri" panose="020F0502020204030204" pitchFamily="34" charset="0"/>
                <a:ea typeface="Calibri" panose="020F0502020204030204" pitchFamily="34" charset="-122"/>
                <a:cs typeface="Calibri" panose="020F0502020204030204" pitchFamily="34" charset="-120"/>
              </a:rPr>
              <a:t>PRIMARY USE CASE</a:t>
            </a:r>
            <a:endParaRPr lang="en-US" sz="1200" dirty="0"/>
          </a:p>
        </p:txBody>
      </p:sp>
      <p:sp>
        <p:nvSpPr>
          <p:cNvPr id="3" name="Text 1"/>
          <p:cNvSpPr/>
          <p:nvPr/>
        </p:nvSpPr>
        <p:spPr>
          <a:xfrm>
            <a:off x="640080" y="740664"/>
            <a:ext cx="7772400" cy="603504"/>
          </a:xfrm>
          <a:prstGeom prst="rect">
            <a:avLst/>
          </a:prstGeom>
          <a:noFill/>
        </p:spPr>
        <p:txBody>
          <a:bodyPr wrap="square" lIns="0" tIns="0" rIns="0" bIns="0" rtlCol="0" anchor="ctr"/>
          <a:lstStyle/>
          <a:p>
            <a:pPr marL="0" indent="0">
              <a:buNone/>
            </a:pPr>
            <a:r>
              <a:rPr lang="en-US" sz="2900" b="1" dirty="0">
                <a:solidFill>
                  <a:srgbClr val="0D1B3E"/>
                </a:solidFill>
                <a:latin typeface="Calibri" panose="020F0502020204030204" pitchFamily="34" charset="0"/>
                <a:ea typeface="Calibri" panose="020F0502020204030204" pitchFamily="34" charset="-122"/>
                <a:cs typeface="Calibri" panose="020F0502020204030204" pitchFamily="34" charset="-120"/>
              </a:rPr>
              <a:t>Desk Occupancy &amp; Utilization</a:t>
            </a:r>
            <a:endParaRPr lang="en-US" sz="2900" dirty="0"/>
          </a:p>
        </p:txBody>
      </p:sp>
      <p:sp>
        <p:nvSpPr>
          <p:cNvPr id="4" name="Shape 2"/>
          <p:cNvSpPr/>
          <p:nvPr/>
        </p:nvSpPr>
        <p:spPr>
          <a:xfrm>
            <a:off x="585216" y="1517904"/>
            <a:ext cx="6830568" cy="4590288"/>
          </a:xfrm>
          <a:prstGeom prst="roundRect">
            <a:avLst>
              <a:gd name="adj" fmla="val 1992"/>
            </a:avLst>
          </a:prstGeom>
          <a:solidFill>
            <a:srgbClr val="FFFFFF"/>
          </a:solidFill>
          <a:effectLst>
            <a:outerShdw blurRad="165100" dist="50800" dir="5400000" algn="bl" rotWithShape="0">
              <a:srgbClr val="0D1B3E">
                <a:alpha val="32000"/>
              </a:srgbClr>
            </a:outerShdw>
          </a:effectLst>
        </p:spPr>
      </p:sp>
      <p:pic>
        <p:nvPicPr>
          <p:cNvPr id="5" name="Image 0" descr="assets/desk_live.png"/>
          <p:cNvPicPr>
            <a:picLocks noChangeAspect="1"/>
          </p:cNvPicPr>
          <p:nvPr/>
        </p:nvPicPr>
        <p:blipFill>
          <a:blip r:embed="rId1"/>
          <a:srcRect/>
          <a:stretch>
            <a:fillRect/>
          </a:stretch>
        </p:blipFill>
        <p:spPr>
          <a:xfrm>
            <a:off x="640080" y="1572768"/>
            <a:ext cx="6720840" cy="4480560"/>
          </a:xfrm>
          <a:prstGeom prst="rect">
            <a:avLst/>
          </a:prstGeom>
        </p:spPr>
      </p:pic>
      <p:sp>
        <p:nvSpPr>
          <p:cNvPr id="6" name="Shape 3"/>
          <p:cNvSpPr/>
          <p:nvPr/>
        </p:nvSpPr>
        <p:spPr>
          <a:xfrm>
            <a:off x="868680" y="5532120"/>
            <a:ext cx="2697480" cy="384048"/>
          </a:xfrm>
          <a:prstGeom prst="roundRect">
            <a:avLst>
              <a:gd name="adj" fmla="val 19048"/>
            </a:avLst>
          </a:prstGeom>
          <a:solidFill>
            <a:srgbClr val="0D1B3E"/>
          </a:solidFill>
        </p:spPr>
      </p:sp>
      <p:sp>
        <p:nvSpPr>
          <p:cNvPr id="7" name="Text 4"/>
          <p:cNvSpPr/>
          <p:nvPr/>
        </p:nvSpPr>
        <p:spPr>
          <a:xfrm>
            <a:off x="868680" y="5541264"/>
            <a:ext cx="2697480" cy="365760"/>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Live YOLO desk detection</a:t>
            </a:r>
            <a:endParaRPr lang="en-US" sz="1100" dirty="0"/>
          </a:p>
        </p:txBody>
      </p:sp>
      <p:sp>
        <p:nvSpPr>
          <p:cNvPr id="8" name="Shape 5"/>
          <p:cNvSpPr/>
          <p:nvPr/>
        </p:nvSpPr>
        <p:spPr>
          <a:xfrm>
            <a:off x="7635240" y="2286000"/>
            <a:ext cx="3931920" cy="0"/>
          </a:xfrm>
          <a:prstGeom prst="line">
            <a:avLst/>
          </a:prstGeom>
          <a:noFill/>
          <a:ln w="12700">
            <a:solidFill>
              <a:srgbClr val="E2E8F0"/>
            </a:solidFill>
            <a:prstDash val="solid"/>
          </a:ln>
        </p:spPr>
      </p:sp>
      <p:sp>
        <p:nvSpPr>
          <p:cNvPr id="9" name="Shape 6"/>
          <p:cNvSpPr/>
          <p:nvPr/>
        </p:nvSpPr>
        <p:spPr>
          <a:xfrm>
            <a:off x="7635240" y="1636776"/>
            <a:ext cx="530352" cy="530352"/>
          </a:xfrm>
          <a:prstGeom prst="ellipse">
            <a:avLst/>
          </a:prstGeom>
          <a:solidFill>
            <a:srgbClr val="2563EB"/>
          </a:solidFill>
        </p:spPr>
      </p:sp>
      <p:pic>
        <p:nvPicPr>
          <p:cNvPr id="10" name="Image 1" descr="assets/icon_th_white.png"/>
          <p:cNvPicPr>
            <a:picLocks noChangeAspect="1"/>
          </p:cNvPicPr>
          <p:nvPr/>
        </p:nvPicPr>
        <p:blipFill>
          <a:blip r:embed="rId2"/>
          <a:stretch>
            <a:fillRect/>
          </a:stretch>
        </p:blipFill>
        <p:spPr>
          <a:xfrm>
            <a:off x="7783739" y="1785275"/>
            <a:ext cx="233355" cy="233355"/>
          </a:xfrm>
          <a:prstGeom prst="rect">
            <a:avLst/>
          </a:prstGeom>
        </p:spPr>
      </p:pic>
      <p:sp>
        <p:nvSpPr>
          <p:cNvPr id="11" name="Text 7"/>
          <p:cNvSpPr/>
          <p:nvPr/>
        </p:nvSpPr>
        <p:spPr>
          <a:xfrm>
            <a:off x="8311896" y="1591056"/>
            <a:ext cx="3255264" cy="292608"/>
          </a:xfrm>
          <a:prstGeom prst="rect">
            <a:avLst/>
          </a:prstGeom>
          <a:noFill/>
        </p:spPr>
        <p:txBody>
          <a:bodyPr wrap="square" lIns="0" tIns="0" rIns="0" bIns="0" rtlCol="0" anchor="ctr"/>
          <a:lstStyle/>
          <a:p>
            <a:pPr marL="0" indent="0">
              <a:buNone/>
            </a:pPr>
            <a:r>
              <a:rPr lang="en-US" sz="1350" b="1" dirty="0">
                <a:solidFill>
                  <a:srgbClr val="0D1B3E"/>
                </a:solidFill>
                <a:latin typeface="Calibri" panose="020F0502020204030204" pitchFamily="34" charset="0"/>
                <a:ea typeface="Calibri" panose="020F0502020204030204" pitchFamily="34" charset="-122"/>
                <a:cs typeface="Calibri" panose="020F0502020204030204" pitchFamily="34" charset="-120"/>
              </a:rPr>
              <a:t>Desk occupancy tracking</a:t>
            </a:r>
            <a:endParaRPr lang="en-US" sz="1350" dirty="0"/>
          </a:p>
        </p:txBody>
      </p:sp>
      <p:sp>
        <p:nvSpPr>
          <p:cNvPr id="12" name="Text 8"/>
          <p:cNvSpPr/>
          <p:nvPr/>
        </p:nvSpPr>
        <p:spPr>
          <a:xfrm>
            <a:off x="8311896" y="1892808"/>
            <a:ext cx="3255264" cy="329184"/>
          </a:xfrm>
          <a:prstGeom prst="rect">
            <a:avLst/>
          </a:prstGeom>
          <a:noFill/>
        </p:spPr>
        <p:txBody>
          <a:bodyPr wrap="square" lIns="0" tIns="0" rIns="0" bIns="0" rtlCol="0" anchor="ctr"/>
          <a:lstStyle/>
          <a:p>
            <a:pPr marL="0" indent="0">
              <a:lnSpc>
                <a:spcPts val="1300"/>
              </a:lnSpc>
              <a:buNone/>
            </a:pPr>
            <a:r>
              <a:rPr lang="en-US" sz="1080" dirty="0">
                <a:solidFill>
                  <a:srgbClr val="475569"/>
                </a:solidFill>
                <a:latin typeface="Calibri" panose="020F0502020204030204" pitchFamily="34" charset="0"/>
                <a:ea typeface="Calibri" panose="020F0502020204030204" pitchFamily="34" charset="-122"/>
                <a:cs typeface="Calibri" panose="020F0502020204030204" pitchFamily="34" charset="-120"/>
              </a:rPr>
              <a:t>Live occupied / vacant status for every desk.</a:t>
            </a:r>
            <a:endParaRPr lang="en-US" sz="1080" dirty="0"/>
          </a:p>
        </p:txBody>
      </p:sp>
      <p:sp>
        <p:nvSpPr>
          <p:cNvPr id="13" name="Shape 9"/>
          <p:cNvSpPr/>
          <p:nvPr/>
        </p:nvSpPr>
        <p:spPr>
          <a:xfrm>
            <a:off x="7635240" y="3044952"/>
            <a:ext cx="3931920" cy="0"/>
          </a:xfrm>
          <a:prstGeom prst="line">
            <a:avLst/>
          </a:prstGeom>
          <a:noFill/>
          <a:ln w="12700">
            <a:solidFill>
              <a:srgbClr val="E2E8F0"/>
            </a:solidFill>
            <a:prstDash val="solid"/>
          </a:ln>
        </p:spPr>
      </p:sp>
      <p:sp>
        <p:nvSpPr>
          <p:cNvPr id="14" name="Shape 10"/>
          <p:cNvSpPr/>
          <p:nvPr/>
        </p:nvSpPr>
        <p:spPr>
          <a:xfrm>
            <a:off x="7635240" y="2395728"/>
            <a:ext cx="530352" cy="530352"/>
          </a:xfrm>
          <a:prstGeom prst="ellipse">
            <a:avLst/>
          </a:prstGeom>
          <a:solidFill>
            <a:srgbClr val="0D9488"/>
          </a:solidFill>
        </p:spPr>
      </p:sp>
      <p:pic>
        <p:nvPicPr>
          <p:cNvPr id="15" name="Image 2" descr="assets/icon_clock_white.png"/>
          <p:cNvPicPr>
            <a:picLocks noChangeAspect="1"/>
          </p:cNvPicPr>
          <p:nvPr/>
        </p:nvPicPr>
        <p:blipFill>
          <a:blip r:embed="rId3"/>
          <a:stretch>
            <a:fillRect/>
          </a:stretch>
        </p:blipFill>
        <p:spPr>
          <a:xfrm>
            <a:off x="7783739" y="2544227"/>
            <a:ext cx="233355" cy="233355"/>
          </a:xfrm>
          <a:prstGeom prst="rect">
            <a:avLst/>
          </a:prstGeom>
        </p:spPr>
      </p:pic>
      <p:sp>
        <p:nvSpPr>
          <p:cNvPr id="16" name="Text 11"/>
          <p:cNvSpPr/>
          <p:nvPr/>
        </p:nvSpPr>
        <p:spPr>
          <a:xfrm>
            <a:off x="8311896" y="2350008"/>
            <a:ext cx="3255264" cy="292608"/>
          </a:xfrm>
          <a:prstGeom prst="rect">
            <a:avLst/>
          </a:prstGeom>
          <a:noFill/>
        </p:spPr>
        <p:txBody>
          <a:bodyPr wrap="square" lIns="0" tIns="0" rIns="0" bIns="0" rtlCol="0" anchor="ctr"/>
          <a:lstStyle/>
          <a:p>
            <a:pPr marL="0" indent="0">
              <a:buNone/>
            </a:pPr>
            <a:r>
              <a:rPr lang="en-US" sz="1350" b="1" dirty="0">
                <a:solidFill>
                  <a:srgbClr val="0D1B3E"/>
                </a:solidFill>
                <a:latin typeface="Calibri" panose="020F0502020204030204" pitchFamily="34" charset="0"/>
                <a:ea typeface="Calibri" panose="020F0502020204030204" pitchFamily="34" charset="-122"/>
                <a:cs typeface="Calibri" panose="020F0502020204030204" pitchFamily="34" charset="-120"/>
              </a:rPr>
              <a:t>Productive desk time</a:t>
            </a:r>
            <a:endParaRPr lang="en-US" sz="1350" dirty="0"/>
          </a:p>
        </p:txBody>
      </p:sp>
      <p:sp>
        <p:nvSpPr>
          <p:cNvPr id="17" name="Text 12"/>
          <p:cNvSpPr/>
          <p:nvPr/>
        </p:nvSpPr>
        <p:spPr>
          <a:xfrm>
            <a:off x="8311896" y="2651760"/>
            <a:ext cx="3255264" cy="329184"/>
          </a:xfrm>
          <a:prstGeom prst="rect">
            <a:avLst/>
          </a:prstGeom>
          <a:noFill/>
        </p:spPr>
        <p:txBody>
          <a:bodyPr wrap="square" lIns="0" tIns="0" rIns="0" bIns="0" rtlCol="0" anchor="ctr"/>
          <a:lstStyle/>
          <a:p>
            <a:pPr marL="0" indent="0">
              <a:lnSpc>
                <a:spcPts val="1300"/>
              </a:lnSpc>
              <a:buNone/>
            </a:pPr>
            <a:r>
              <a:rPr lang="en-US" sz="1080" dirty="0">
                <a:solidFill>
                  <a:srgbClr val="475569"/>
                </a:solidFill>
                <a:latin typeface="Calibri" panose="020F0502020204030204" pitchFamily="34" charset="0"/>
                <a:ea typeface="Calibri" panose="020F0502020204030204" pitchFamily="34" charset="-122"/>
                <a:cs typeface="Calibri" panose="020F0502020204030204" pitchFamily="34" charset="-120"/>
              </a:rPr>
              <a:t>Aggregate hours desks are actively in use.</a:t>
            </a:r>
            <a:endParaRPr lang="en-US" sz="1080" dirty="0"/>
          </a:p>
        </p:txBody>
      </p:sp>
      <p:sp>
        <p:nvSpPr>
          <p:cNvPr id="18" name="Shape 13"/>
          <p:cNvSpPr/>
          <p:nvPr/>
        </p:nvSpPr>
        <p:spPr>
          <a:xfrm>
            <a:off x="7635240" y="3803904"/>
            <a:ext cx="3931920" cy="0"/>
          </a:xfrm>
          <a:prstGeom prst="line">
            <a:avLst/>
          </a:prstGeom>
          <a:noFill/>
          <a:ln w="12700">
            <a:solidFill>
              <a:srgbClr val="E2E8F0"/>
            </a:solidFill>
            <a:prstDash val="solid"/>
          </a:ln>
        </p:spPr>
      </p:sp>
      <p:sp>
        <p:nvSpPr>
          <p:cNvPr id="19" name="Shape 14"/>
          <p:cNvSpPr/>
          <p:nvPr/>
        </p:nvSpPr>
        <p:spPr>
          <a:xfrm>
            <a:off x="7635240" y="3154680"/>
            <a:ext cx="530352" cy="530352"/>
          </a:xfrm>
          <a:prstGeom prst="ellipse">
            <a:avLst/>
          </a:prstGeom>
          <a:solidFill>
            <a:srgbClr val="D62B2B"/>
          </a:solidFill>
        </p:spPr>
      </p:sp>
      <p:pic>
        <p:nvPicPr>
          <p:cNvPr id="20" name="Image 3" descr="assets/icon_timesCircle_white.png"/>
          <p:cNvPicPr>
            <a:picLocks noChangeAspect="1"/>
          </p:cNvPicPr>
          <p:nvPr/>
        </p:nvPicPr>
        <p:blipFill>
          <a:blip r:embed="rId4"/>
          <a:stretch>
            <a:fillRect/>
          </a:stretch>
        </p:blipFill>
        <p:spPr>
          <a:xfrm>
            <a:off x="7783739" y="3303179"/>
            <a:ext cx="233355" cy="233355"/>
          </a:xfrm>
          <a:prstGeom prst="rect">
            <a:avLst/>
          </a:prstGeom>
        </p:spPr>
      </p:pic>
      <p:sp>
        <p:nvSpPr>
          <p:cNvPr id="21" name="Text 15"/>
          <p:cNvSpPr/>
          <p:nvPr/>
        </p:nvSpPr>
        <p:spPr>
          <a:xfrm>
            <a:off x="8311896" y="3108960"/>
            <a:ext cx="3255264" cy="292608"/>
          </a:xfrm>
          <a:prstGeom prst="rect">
            <a:avLst/>
          </a:prstGeom>
          <a:noFill/>
        </p:spPr>
        <p:txBody>
          <a:bodyPr wrap="square" lIns="0" tIns="0" rIns="0" bIns="0" rtlCol="0" anchor="ctr"/>
          <a:lstStyle/>
          <a:p>
            <a:pPr marL="0" indent="0">
              <a:buNone/>
            </a:pPr>
            <a:r>
              <a:rPr lang="en-US" sz="1350" b="1" dirty="0">
                <a:solidFill>
                  <a:srgbClr val="0D1B3E"/>
                </a:solidFill>
                <a:latin typeface="Calibri" panose="020F0502020204030204" pitchFamily="34" charset="0"/>
                <a:ea typeface="Calibri" panose="020F0502020204030204" pitchFamily="34" charset="-122"/>
                <a:cs typeface="Calibri" panose="020F0502020204030204" pitchFamily="34" charset="-120"/>
              </a:rPr>
              <a:t>Idle desk detection</a:t>
            </a:r>
            <a:endParaRPr lang="en-US" sz="1350" dirty="0"/>
          </a:p>
        </p:txBody>
      </p:sp>
      <p:sp>
        <p:nvSpPr>
          <p:cNvPr id="22" name="Text 16"/>
          <p:cNvSpPr/>
          <p:nvPr/>
        </p:nvSpPr>
        <p:spPr>
          <a:xfrm>
            <a:off x="8311896" y="3410712"/>
            <a:ext cx="3255264" cy="329184"/>
          </a:xfrm>
          <a:prstGeom prst="rect">
            <a:avLst/>
          </a:prstGeom>
          <a:noFill/>
        </p:spPr>
        <p:txBody>
          <a:bodyPr wrap="square" lIns="0" tIns="0" rIns="0" bIns="0" rtlCol="0" anchor="ctr"/>
          <a:lstStyle/>
          <a:p>
            <a:pPr marL="0" indent="0">
              <a:lnSpc>
                <a:spcPts val="1300"/>
              </a:lnSpc>
              <a:buNone/>
            </a:pPr>
            <a:r>
              <a:rPr lang="en-US" sz="1080" dirty="0">
                <a:solidFill>
                  <a:srgbClr val="475569"/>
                </a:solidFill>
                <a:latin typeface="Calibri" panose="020F0502020204030204" pitchFamily="34" charset="0"/>
                <a:ea typeface="Calibri" panose="020F0502020204030204" pitchFamily="34" charset="-122"/>
                <a:cs typeface="Calibri" panose="020F0502020204030204" pitchFamily="34" charset="-120"/>
              </a:rPr>
              <a:t>Surfaces seats left empty across the day.</a:t>
            </a:r>
            <a:endParaRPr lang="en-US" sz="1080" dirty="0"/>
          </a:p>
        </p:txBody>
      </p:sp>
      <p:sp>
        <p:nvSpPr>
          <p:cNvPr id="23" name="Shape 17"/>
          <p:cNvSpPr/>
          <p:nvPr/>
        </p:nvSpPr>
        <p:spPr>
          <a:xfrm>
            <a:off x="7635240" y="4562856"/>
            <a:ext cx="3931920" cy="0"/>
          </a:xfrm>
          <a:prstGeom prst="line">
            <a:avLst/>
          </a:prstGeom>
          <a:noFill/>
          <a:ln w="12700">
            <a:solidFill>
              <a:srgbClr val="E2E8F0"/>
            </a:solidFill>
            <a:prstDash val="solid"/>
          </a:ln>
        </p:spPr>
      </p:sp>
      <p:sp>
        <p:nvSpPr>
          <p:cNvPr id="24" name="Shape 18"/>
          <p:cNvSpPr/>
          <p:nvPr/>
        </p:nvSpPr>
        <p:spPr>
          <a:xfrm>
            <a:off x="7635240" y="3913632"/>
            <a:ext cx="530352" cy="530352"/>
          </a:xfrm>
          <a:prstGeom prst="ellipse">
            <a:avLst/>
          </a:prstGeom>
          <a:solidFill>
            <a:srgbClr val="D97706"/>
          </a:solidFill>
        </p:spPr>
      </p:sp>
      <p:pic>
        <p:nvPicPr>
          <p:cNvPr id="25" name="Image 4" descr="assets/icon_fire_white.png"/>
          <p:cNvPicPr>
            <a:picLocks noChangeAspect="1"/>
          </p:cNvPicPr>
          <p:nvPr/>
        </p:nvPicPr>
        <p:blipFill>
          <a:blip r:embed="rId5"/>
          <a:stretch>
            <a:fillRect/>
          </a:stretch>
        </p:blipFill>
        <p:spPr>
          <a:xfrm>
            <a:off x="7783739" y="4062131"/>
            <a:ext cx="233355" cy="233355"/>
          </a:xfrm>
          <a:prstGeom prst="rect">
            <a:avLst/>
          </a:prstGeom>
        </p:spPr>
      </p:pic>
      <p:sp>
        <p:nvSpPr>
          <p:cNvPr id="26" name="Text 19"/>
          <p:cNvSpPr/>
          <p:nvPr/>
        </p:nvSpPr>
        <p:spPr>
          <a:xfrm>
            <a:off x="8311896" y="3867912"/>
            <a:ext cx="3255264" cy="292608"/>
          </a:xfrm>
          <a:prstGeom prst="rect">
            <a:avLst/>
          </a:prstGeom>
          <a:noFill/>
        </p:spPr>
        <p:txBody>
          <a:bodyPr wrap="square" lIns="0" tIns="0" rIns="0" bIns="0" rtlCol="0" anchor="ctr"/>
          <a:lstStyle/>
          <a:p>
            <a:pPr marL="0" indent="0">
              <a:buNone/>
            </a:pPr>
            <a:r>
              <a:rPr lang="en-US" sz="1350" b="1" dirty="0">
                <a:solidFill>
                  <a:srgbClr val="0D1B3E"/>
                </a:solidFill>
                <a:latin typeface="Calibri" panose="020F0502020204030204" pitchFamily="34" charset="0"/>
                <a:ea typeface="Calibri" panose="020F0502020204030204" pitchFamily="34" charset="-122"/>
                <a:cs typeface="Calibri" panose="020F0502020204030204" pitchFamily="34" charset="-120"/>
              </a:rPr>
              <a:t>Peak occupancy hours</a:t>
            </a:r>
            <a:endParaRPr lang="en-US" sz="1350" dirty="0"/>
          </a:p>
        </p:txBody>
      </p:sp>
      <p:sp>
        <p:nvSpPr>
          <p:cNvPr id="27" name="Text 20"/>
          <p:cNvSpPr/>
          <p:nvPr/>
        </p:nvSpPr>
        <p:spPr>
          <a:xfrm>
            <a:off x="8311896" y="4169664"/>
            <a:ext cx="3255264" cy="329184"/>
          </a:xfrm>
          <a:prstGeom prst="rect">
            <a:avLst/>
          </a:prstGeom>
          <a:noFill/>
        </p:spPr>
        <p:txBody>
          <a:bodyPr wrap="square" lIns="0" tIns="0" rIns="0" bIns="0" rtlCol="0" anchor="ctr"/>
          <a:lstStyle/>
          <a:p>
            <a:pPr marL="0" indent="0">
              <a:lnSpc>
                <a:spcPts val="1300"/>
              </a:lnSpc>
              <a:buNone/>
            </a:pPr>
            <a:r>
              <a:rPr lang="en-US" sz="1080" dirty="0">
                <a:solidFill>
                  <a:srgbClr val="475569"/>
                </a:solidFill>
                <a:latin typeface="Calibri" panose="020F0502020204030204" pitchFamily="34" charset="0"/>
                <a:ea typeface="Calibri" panose="020F0502020204030204" pitchFamily="34" charset="-122"/>
                <a:cs typeface="Calibri" panose="020F0502020204030204" pitchFamily="34" charset="-120"/>
              </a:rPr>
              <a:t>When floors fill up and when they empty.</a:t>
            </a:r>
            <a:endParaRPr lang="en-US" sz="1080" dirty="0"/>
          </a:p>
        </p:txBody>
      </p:sp>
      <p:sp>
        <p:nvSpPr>
          <p:cNvPr id="28" name="Shape 21"/>
          <p:cNvSpPr/>
          <p:nvPr/>
        </p:nvSpPr>
        <p:spPr>
          <a:xfrm>
            <a:off x="7635240" y="5321808"/>
            <a:ext cx="3931920" cy="0"/>
          </a:xfrm>
          <a:prstGeom prst="line">
            <a:avLst/>
          </a:prstGeom>
          <a:noFill/>
          <a:ln w="12700">
            <a:solidFill>
              <a:srgbClr val="E2E8F0"/>
            </a:solidFill>
            <a:prstDash val="solid"/>
          </a:ln>
        </p:spPr>
      </p:sp>
      <p:sp>
        <p:nvSpPr>
          <p:cNvPr id="29" name="Shape 22"/>
          <p:cNvSpPr/>
          <p:nvPr/>
        </p:nvSpPr>
        <p:spPr>
          <a:xfrm>
            <a:off x="7635240" y="4672584"/>
            <a:ext cx="530352" cy="530352"/>
          </a:xfrm>
          <a:prstGeom prst="ellipse">
            <a:avLst/>
          </a:prstGeom>
          <a:solidFill>
            <a:srgbClr val="8B5CF6"/>
          </a:solidFill>
        </p:spPr>
      </p:sp>
      <p:pic>
        <p:nvPicPr>
          <p:cNvPr id="30" name="Image 5" descr="assets/icon_layerGroup_white.png"/>
          <p:cNvPicPr>
            <a:picLocks noChangeAspect="1"/>
          </p:cNvPicPr>
          <p:nvPr/>
        </p:nvPicPr>
        <p:blipFill>
          <a:blip r:embed="rId6"/>
          <a:stretch>
            <a:fillRect/>
          </a:stretch>
        </p:blipFill>
        <p:spPr>
          <a:xfrm>
            <a:off x="7783739" y="4821083"/>
            <a:ext cx="233355" cy="233355"/>
          </a:xfrm>
          <a:prstGeom prst="rect">
            <a:avLst/>
          </a:prstGeom>
        </p:spPr>
      </p:pic>
      <p:sp>
        <p:nvSpPr>
          <p:cNvPr id="31" name="Text 23"/>
          <p:cNvSpPr/>
          <p:nvPr/>
        </p:nvSpPr>
        <p:spPr>
          <a:xfrm>
            <a:off x="8311896" y="4626864"/>
            <a:ext cx="3255264" cy="292608"/>
          </a:xfrm>
          <a:prstGeom prst="rect">
            <a:avLst/>
          </a:prstGeom>
          <a:noFill/>
        </p:spPr>
        <p:txBody>
          <a:bodyPr wrap="square" lIns="0" tIns="0" rIns="0" bIns="0" rtlCol="0" anchor="ctr"/>
          <a:lstStyle/>
          <a:p>
            <a:pPr marL="0" indent="0">
              <a:buNone/>
            </a:pPr>
            <a:r>
              <a:rPr lang="en-US" sz="1350" b="1" dirty="0">
                <a:solidFill>
                  <a:srgbClr val="0D1B3E"/>
                </a:solidFill>
                <a:latin typeface="Calibri" panose="020F0502020204030204" pitchFamily="34" charset="0"/>
                <a:ea typeface="Calibri" panose="020F0502020204030204" pitchFamily="34" charset="-122"/>
                <a:cs typeface="Calibri" panose="020F0502020204030204" pitchFamily="34" charset="-120"/>
              </a:rPr>
              <a:t>Floor-wise utilization</a:t>
            </a:r>
            <a:endParaRPr lang="en-US" sz="1350" dirty="0"/>
          </a:p>
        </p:txBody>
      </p:sp>
      <p:sp>
        <p:nvSpPr>
          <p:cNvPr id="32" name="Text 24"/>
          <p:cNvSpPr/>
          <p:nvPr/>
        </p:nvSpPr>
        <p:spPr>
          <a:xfrm>
            <a:off x="8311896" y="4928616"/>
            <a:ext cx="3255264" cy="329184"/>
          </a:xfrm>
          <a:prstGeom prst="rect">
            <a:avLst/>
          </a:prstGeom>
          <a:noFill/>
        </p:spPr>
        <p:txBody>
          <a:bodyPr wrap="square" lIns="0" tIns="0" rIns="0" bIns="0" rtlCol="0" anchor="ctr"/>
          <a:lstStyle/>
          <a:p>
            <a:pPr marL="0" indent="0">
              <a:lnSpc>
                <a:spcPts val="1300"/>
              </a:lnSpc>
              <a:buNone/>
            </a:pPr>
            <a:r>
              <a:rPr lang="en-US" sz="1080" dirty="0">
                <a:solidFill>
                  <a:srgbClr val="475569"/>
                </a:solidFill>
                <a:latin typeface="Calibri" panose="020F0502020204030204" pitchFamily="34" charset="0"/>
                <a:ea typeface="Calibri" panose="020F0502020204030204" pitchFamily="34" charset="-122"/>
                <a:cs typeface="Calibri" panose="020F0502020204030204" pitchFamily="34" charset="-120"/>
              </a:rPr>
              <a:t>Compare usage across floors and zones.</a:t>
            </a:r>
            <a:endParaRPr lang="en-US" sz="1080" dirty="0"/>
          </a:p>
        </p:txBody>
      </p:sp>
      <p:sp>
        <p:nvSpPr>
          <p:cNvPr id="33" name="Shape 25"/>
          <p:cNvSpPr/>
          <p:nvPr/>
        </p:nvSpPr>
        <p:spPr>
          <a:xfrm>
            <a:off x="7635240" y="6080760"/>
            <a:ext cx="3931920" cy="0"/>
          </a:xfrm>
          <a:prstGeom prst="line">
            <a:avLst/>
          </a:prstGeom>
          <a:noFill/>
          <a:ln w="12700">
            <a:solidFill>
              <a:srgbClr val="E2E8F0"/>
            </a:solidFill>
            <a:prstDash val="solid"/>
          </a:ln>
        </p:spPr>
      </p:sp>
      <p:sp>
        <p:nvSpPr>
          <p:cNvPr id="34" name="Shape 26"/>
          <p:cNvSpPr/>
          <p:nvPr/>
        </p:nvSpPr>
        <p:spPr>
          <a:xfrm>
            <a:off x="7635240" y="5431536"/>
            <a:ext cx="530352" cy="530352"/>
          </a:xfrm>
          <a:prstGeom prst="ellipse">
            <a:avLst/>
          </a:prstGeom>
          <a:solidFill>
            <a:srgbClr val="16A34A"/>
          </a:solidFill>
        </p:spPr>
      </p:sp>
      <p:pic>
        <p:nvPicPr>
          <p:cNvPr id="35" name="Image 6" descr="assets/icon_percent_white.png"/>
          <p:cNvPicPr>
            <a:picLocks noChangeAspect="1"/>
          </p:cNvPicPr>
          <p:nvPr/>
        </p:nvPicPr>
        <p:blipFill>
          <a:blip r:embed="rId7"/>
          <a:stretch>
            <a:fillRect/>
          </a:stretch>
        </p:blipFill>
        <p:spPr>
          <a:xfrm>
            <a:off x="7783739" y="5580035"/>
            <a:ext cx="233355" cy="233355"/>
          </a:xfrm>
          <a:prstGeom prst="rect">
            <a:avLst/>
          </a:prstGeom>
        </p:spPr>
      </p:pic>
      <p:sp>
        <p:nvSpPr>
          <p:cNvPr id="36" name="Text 27"/>
          <p:cNvSpPr/>
          <p:nvPr/>
        </p:nvSpPr>
        <p:spPr>
          <a:xfrm>
            <a:off x="8311896" y="5385816"/>
            <a:ext cx="3255264" cy="292608"/>
          </a:xfrm>
          <a:prstGeom prst="rect">
            <a:avLst/>
          </a:prstGeom>
          <a:noFill/>
        </p:spPr>
        <p:txBody>
          <a:bodyPr wrap="square" lIns="0" tIns="0" rIns="0" bIns="0" rtlCol="0" anchor="ctr"/>
          <a:lstStyle/>
          <a:p>
            <a:pPr marL="0" indent="0">
              <a:buNone/>
            </a:pPr>
            <a:r>
              <a:rPr lang="en-US" sz="1350" b="1" dirty="0">
                <a:solidFill>
                  <a:srgbClr val="0D1B3E"/>
                </a:solidFill>
                <a:latin typeface="Calibri" panose="020F0502020204030204" pitchFamily="34" charset="0"/>
                <a:ea typeface="Calibri" panose="020F0502020204030204" pitchFamily="34" charset="-122"/>
                <a:cs typeface="Calibri" panose="020F0502020204030204" pitchFamily="34" charset="-120"/>
              </a:rPr>
              <a:t>Utilization rate</a:t>
            </a:r>
            <a:endParaRPr lang="en-US" sz="1350" dirty="0"/>
          </a:p>
        </p:txBody>
      </p:sp>
      <p:sp>
        <p:nvSpPr>
          <p:cNvPr id="37" name="Text 28"/>
          <p:cNvSpPr/>
          <p:nvPr/>
        </p:nvSpPr>
        <p:spPr>
          <a:xfrm>
            <a:off x="8311896" y="5687568"/>
            <a:ext cx="3255264" cy="329184"/>
          </a:xfrm>
          <a:prstGeom prst="rect">
            <a:avLst/>
          </a:prstGeom>
          <a:noFill/>
        </p:spPr>
        <p:txBody>
          <a:bodyPr wrap="square" lIns="0" tIns="0" rIns="0" bIns="0" rtlCol="0" anchor="ctr"/>
          <a:lstStyle/>
          <a:p>
            <a:pPr marL="0" indent="0">
              <a:lnSpc>
                <a:spcPts val="1300"/>
              </a:lnSpc>
              <a:buNone/>
            </a:pPr>
            <a:r>
              <a:rPr lang="en-US" sz="1080" dirty="0">
                <a:solidFill>
                  <a:srgbClr val="475569"/>
                </a:solidFill>
                <a:latin typeface="Calibri" panose="020F0502020204030204" pitchFamily="34" charset="0"/>
                <a:ea typeface="Calibri" panose="020F0502020204030204" pitchFamily="34" charset="-122"/>
                <a:cs typeface="Calibri" panose="020F0502020204030204" pitchFamily="34" charset="-120"/>
              </a:rPr>
              <a:t>One clear number for space efficiency.</a:t>
            </a:r>
            <a:endParaRPr lang="en-US" sz="1080" dirty="0"/>
          </a:p>
        </p:txBody>
      </p:sp>
      <p:pic>
        <p:nvPicPr>
          <p:cNvPr id="38" name="Image 7" descr="assets/logo_dark.png"/>
          <p:cNvPicPr>
            <a:picLocks noChangeAspect="1"/>
          </p:cNvPicPr>
          <p:nvPr/>
        </p:nvPicPr>
        <p:blipFill>
          <a:blip r:embed="rId8"/>
          <a:srcRect/>
          <a:stretch>
            <a:fillRect/>
          </a:stretch>
        </p:blipFill>
        <p:spPr>
          <a:xfrm>
            <a:off x="10317175" y="6400800"/>
            <a:ext cx="1280160" cy="214884"/>
          </a:xfrm>
          <a:prstGeom prst="rect">
            <a:avLst/>
          </a:prstGeom>
        </p:spPr>
      </p:pic>
      <p:sp>
        <p:nvSpPr>
          <p:cNvPr id="39" name="Text 29"/>
          <p:cNvSpPr/>
          <p:nvPr/>
        </p:nvSpPr>
        <p:spPr>
          <a:xfrm>
            <a:off x="640080" y="6382512"/>
            <a:ext cx="731520" cy="274320"/>
          </a:xfrm>
          <a:prstGeom prst="rect">
            <a:avLst/>
          </a:prstGeom>
          <a:noFill/>
        </p:spPr>
        <p:txBody>
          <a:bodyPr wrap="square" lIns="0" tIns="0" rIns="0" bIns="0" rtlCol="0" anchor="ctr"/>
          <a:lstStyle/>
          <a:p>
            <a:pPr marL="0" indent="0">
              <a:buNone/>
            </a:pPr>
            <a:r>
              <a:rPr lang="en-US" sz="1100" b="1" dirty="0">
                <a:solidFill>
                  <a:srgbClr val="64748B"/>
                </a:solidFill>
                <a:latin typeface="Calibri" panose="020F0502020204030204" pitchFamily="34" charset="0"/>
                <a:ea typeface="Calibri" panose="020F0502020204030204" pitchFamily="34" charset="-122"/>
                <a:cs typeface="Calibri" panose="020F0502020204030204"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640080" y="457200"/>
            <a:ext cx="10515600" cy="274320"/>
          </a:xfrm>
          <a:prstGeom prst="rect">
            <a:avLst/>
          </a:prstGeom>
          <a:noFill/>
        </p:spPr>
        <p:txBody>
          <a:bodyPr wrap="square" lIns="0" tIns="0" rIns="0" bIns="0" rtlCol="0" anchor="ctr"/>
          <a:lstStyle/>
          <a:p>
            <a:pPr marL="0" indent="0">
              <a:buNone/>
            </a:pPr>
            <a:r>
              <a:rPr lang="en-US" sz="1200" b="1" kern="0" spc="300" dirty="0">
                <a:solidFill>
                  <a:srgbClr val="D62B2B"/>
                </a:solidFill>
                <a:latin typeface="Calibri" panose="020F0502020204030204" pitchFamily="34" charset="0"/>
                <a:ea typeface="Calibri" panose="020F0502020204030204" pitchFamily="34" charset="-122"/>
                <a:cs typeface="Calibri" panose="020F0502020204030204" pitchFamily="34" charset="-120"/>
              </a:rPr>
              <a:t>DESK ANALYTICS</a:t>
            </a:r>
            <a:endParaRPr lang="en-US" sz="1200" dirty="0"/>
          </a:p>
        </p:txBody>
      </p:sp>
      <p:sp>
        <p:nvSpPr>
          <p:cNvPr id="3" name="Text 1"/>
          <p:cNvSpPr/>
          <p:nvPr/>
        </p:nvSpPr>
        <p:spPr>
          <a:xfrm>
            <a:off x="640080" y="740664"/>
            <a:ext cx="10972800" cy="603504"/>
          </a:xfrm>
          <a:prstGeom prst="rect">
            <a:avLst/>
          </a:prstGeom>
          <a:noFill/>
        </p:spPr>
        <p:txBody>
          <a:bodyPr wrap="square" lIns="0" tIns="0" rIns="0" bIns="0" rtlCol="0" anchor="ctr"/>
          <a:lstStyle/>
          <a:p>
            <a:pPr marL="0" indent="0">
              <a:buNone/>
            </a:pPr>
            <a:r>
              <a:rPr lang="en-US" sz="2900" b="1" dirty="0">
                <a:solidFill>
                  <a:srgbClr val="0D1B3E"/>
                </a:solidFill>
                <a:latin typeface="Calibri" panose="020F0502020204030204" pitchFamily="34" charset="0"/>
                <a:ea typeface="Calibri" panose="020F0502020204030204" pitchFamily="34" charset="-122"/>
                <a:cs typeface="Calibri" panose="020F0502020204030204" pitchFamily="34" charset="-120"/>
              </a:rPr>
              <a:t>The desk occupancy dashboard</a:t>
            </a:r>
            <a:endParaRPr lang="en-US" sz="2900" dirty="0"/>
          </a:p>
        </p:txBody>
      </p:sp>
      <p:sp>
        <p:nvSpPr>
          <p:cNvPr id="4" name="Shape 2"/>
          <p:cNvSpPr/>
          <p:nvPr/>
        </p:nvSpPr>
        <p:spPr>
          <a:xfrm>
            <a:off x="585216" y="1463040"/>
            <a:ext cx="7744968" cy="4681728"/>
          </a:xfrm>
          <a:prstGeom prst="roundRect">
            <a:avLst>
              <a:gd name="adj" fmla="val 1953"/>
            </a:avLst>
          </a:prstGeom>
          <a:solidFill>
            <a:srgbClr val="FFFFFF"/>
          </a:solidFill>
          <a:effectLst>
            <a:outerShdw blurRad="165100" dist="50800" dir="5400000" algn="bl" rotWithShape="0">
              <a:srgbClr val="0D1B3E">
                <a:alpha val="32000"/>
              </a:srgbClr>
            </a:outerShdw>
          </a:effectLst>
        </p:spPr>
      </p:sp>
      <p:pic>
        <p:nvPicPr>
          <p:cNvPr id="5" name="Image 0" descr="assets/dash_desk.png"/>
          <p:cNvPicPr>
            <a:picLocks noChangeAspect="1"/>
          </p:cNvPicPr>
          <p:nvPr/>
        </p:nvPicPr>
        <p:blipFill>
          <a:blip r:embed="rId1"/>
          <a:srcRect/>
          <a:stretch>
            <a:fillRect/>
          </a:stretch>
        </p:blipFill>
        <p:spPr>
          <a:xfrm>
            <a:off x="640080" y="1517904"/>
            <a:ext cx="7635240" cy="4572000"/>
          </a:xfrm>
          <a:prstGeom prst="rect">
            <a:avLst/>
          </a:prstGeom>
        </p:spPr>
      </p:pic>
      <p:sp>
        <p:nvSpPr>
          <p:cNvPr id="6" name="Shape 3"/>
          <p:cNvSpPr/>
          <p:nvPr/>
        </p:nvSpPr>
        <p:spPr>
          <a:xfrm>
            <a:off x="8549640" y="1517904"/>
            <a:ext cx="3017520" cy="768096"/>
          </a:xfrm>
          <a:prstGeom prst="roundRect">
            <a:avLst>
              <a:gd name="adj" fmla="val 11905"/>
            </a:avLst>
          </a:prstGeom>
          <a:solidFill>
            <a:srgbClr val="FFFFFF"/>
          </a:solidFill>
          <a:effectLst>
            <a:outerShdw blurRad="101600" dist="25400" dir="5400000" algn="bl" rotWithShape="0">
              <a:srgbClr val="94A3B8">
                <a:alpha val="28000"/>
              </a:srgbClr>
            </a:outerShdw>
          </a:effectLst>
        </p:spPr>
      </p:sp>
      <p:sp>
        <p:nvSpPr>
          <p:cNvPr id="7" name="Shape 4"/>
          <p:cNvSpPr/>
          <p:nvPr/>
        </p:nvSpPr>
        <p:spPr>
          <a:xfrm>
            <a:off x="8714232" y="1682496"/>
            <a:ext cx="438912" cy="438912"/>
          </a:xfrm>
          <a:prstGeom prst="ellipse">
            <a:avLst/>
          </a:prstGeom>
          <a:solidFill>
            <a:srgbClr val="2563EB"/>
          </a:solidFill>
        </p:spPr>
      </p:sp>
      <p:pic>
        <p:nvPicPr>
          <p:cNvPr id="8" name="Image 1" descr="assets/icon_th_white.png"/>
          <p:cNvPicPr>
            <a:picLocks noChangeAspect="1"/>
          </p:cNvPicPr>
          <p:nvPr/>
        </p:nvPicPr>
        <p:blipFill>
          <a:blip r:embed="rId2"/>
          <a:stretch>
            <a:fillRect/>
          </a:stretch>
        </p:blipFill>
        <p:spPr>
          <a:xfrm>
            <a:off x="8837127" y="1805391"/>
            <a:ext cx="193121" cy="193121"/>
          </a:xfrm>
          <a:prstGeom prst="rect">
            <a:avLst/>
          </a:prstGeom>
        </p:spPr>
      </p:pic>
      <p:sp>
        <p:nvSpPr>
          <p:cNvPr id="9" name="Text 5"/>
          <p:cNvSpPr/>
          <p:nvPr/>
        </p:nvSpPr>
        <p:spPr>
          <a:xfrm>
            <a:off x="9281160" y="1591056"/>
            <a:ext cx="2194560" cy="384048"/>
          </a:xfrm>
          <a:prstGeom prst="rect">
            <a:avLst/>
          </a:prstGeom>
          <a:noFill/>
        </p:spPr>
        <p:txBody>
          <a:bodyPr wrap="square" lIns="0" tIns="0" rIns="0" bIns="0" rtlCol="0" anchor="ctr"/>
          <a:lstStyle/>
          <a:p>
            <a:pPr marL="0" indent="0">
              <a:buNone/>
            </a:pPr>
            <a:r>
              <a:rPr lang="en-US" sz="1900" b="1" dirty="0">
                <a:solidFill>
                  <a:srgbClr val="0D1B3E"/>
                </a:solidFill>
                <a:latin typeface="Calibri" panose="020F0502020204030204" pitchFamily="34" charset="0"/>
                <a:ea typeface="Calibri" panose="020F0502020204030204" pitchFamily="34" charset="-122"/>
                <a:cs typeface="Calibri" panose="020F0502020204030204" pitchFamily="34" charset="-120"/>
              </a:rPr>
              <a:t>150</a:t>
            </a:r>
            <a:endParaRPr lang="en-US" sz="1900" dirty="0"/>
          </a:p>
        </p:txBody>
      </p:sp>
      <p:sp>
        <p:nvSpPr>
          <p:cNvPr id="10" name="Text 6"/>
          <p:cNvSpPr/>
          <p:nvPr/>
        </p:nvSpPr>
        <p:spPr>
          <a:xfrm>
            <a:off x="9281160" y="1975104"/>
            <a:ext cx="2194560" cy="256032"/>
          </a:xfrm>
          <a:prstGeom prst="rect">
            <a:avLst/>
          </a:prstGeom>
          <a:noFill/>
        </p:spPr>
        <p:txBody>
          <a:bodyPr wrap="square" lIns="0" tIns="0" rIns="0" bIns="0" rtlCol="0" anchor="ctr"/>
          <a:lstStyle/>
          <a:p>
            <a:pPr marL="0" indent="0">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Total Desks</a:t>
            </a:r>
            <a:endParaRPr lang="en-US" sz="1050" dirty="0"/>
          </a:p>
        </p:txBody>
      </p:sp>
      <p:sp>
        <p:nvSpPr>
          <p:cNvPr id="11" name="Shape 7"/>
          <p:cNvSpPr/>
          <p:nvPr/>
        </p:nvSpPr>
        <p:spPr>
          <a:xfrm>
            <a:off x="8549640" y="2432304"/>
            <a:ext cx="3017520" cy="768096"/>
          </a:xfrm>
          <a:prstGeom prst="roundRect">
            <a:avLst>
              <a:gd name="adj" fmla="val 11905"/>
            </a:avLst>
          </a:prstGeom>
          <a:solidFill>
            <a:srgbClr val="FFFFFF"/>
          </a:solidFill>
          <a:effectLst>
            <a:outerShdw blurRad="101600" dist="25400" dir="5400000" algn="bl" rotWithShape="0">
              <a:srgbClr val="94A3B8">
                <a:alpha val="28000"/>
              </a:srgbClr>
            </a:outerShdw>
          </a:effectLst>
        </p:spPr>
      </p:sp>
      <p:sp>
        <p:nvSpPr>
          <p:cNvPr id="12" name="Shape 8"/>
          <p:cNvSpPr/>
          <p:nvPr/>
        </p:nvSpPr>
        <p:spPr>
          <a:xfrm>
            <a:off x="8714232" y="2596896"/>
            <a:ext cx="438912" cy="438912"/>
          </a:xfrm>
          <a:prstGeom prst="ellipse">
            <a:avLst/>
          </a:prstGeom>
          <a:solidFill>
            <a:srgbClr val="16A34A"/>
          </a:solidFill>
        </p:spPr>
      </p:sp>
      <p:pic>
        <p:nvPicPr>
          <p:cNvPr id="13" name="Image 2" descr="assets/icon_userCheck_white.png"/>
          <p:cNvPicPr>
            <a:picLocks noChangeAspect="1"/>
          </p:cNvPicPr>
          <p:nvPr/>
        </p:nvPicPr>
        <p:blipFill>
          <a:blip r:embed="rId3"/>
          <a:stretch>
            <a:fillRect/>
          </a:stretch>
        </p:blipFill>
        <p:spPr>
          <a:xfrm>
            <a:off x="8837127" y="2719791"/>
            <a:ext cx="193121" cy="193121"/>
          </a:xfrm>
          <a:prstGeom prst="rect">
            <a:avLst/>
          </a:prstGeom>
        </p:spPr>
      </p:pic>
      <p:sp>
        <p:nvSpPr>
          <p:cNvPr id="14" name="Text 9"/>
          <p:cNvSpPr/>
          <p:nvPr/>
        </p:nvSpPr>
        <p:spPr>
          <a:xfrm>
            <a:off x="9281160" y="2505456"/>
            <a:ext cx="2194560" cy="384048"/>
          </a:xfrm>
          <a:prstGeom prst="rect">
            <a:avLst/>
          </a:prstGeom>
          <a:noFill/>
        </p:spPr>
        <p:txBody>
          <a:bodyPr wrap="square" lIns="0" tIns="0" rIns="0" bIns="0" rtlCol="0" anchor="ctr"/>
          <a:lstStyle/>
          <a:p>
            <a:pPr marL="0" indent="0">
              <a:buNone/>
            </a:pPr>
            <a:r>
              <a:rPr lang="en-US" sz="1900" b="1" dirty="0">
                <a:solidFill>
                  <a:srgbClr val="0D1B3E"/>
                </a:solidFill>
                <a:latin typeface="Calibri" panose="020F0502020204030204" pitchFamily="34" charset="0"/>
                <a:ea typeface="Calibri" panose="020F0502020204030204" pitchFamily="34" charset="-122"/>
                <a:cs typeface="Calibri" panose="020F0502020204030204" pitchFamily="34" charset="-120"/>
              </a:rPr>
              <a:t>108</a:t>
            </a:r>
            <a:endParaRPr lang="en-US" sz="1900" dirty="0"/>
          </a:p>
        </p:txBody>
      </p:sp>
      <p:sp>
        <p:nvSpPr>
          <p:cNvPr id="15" name="Text 10"/>
          <p:cNvSpPr/>
          <p:nvPr/>
        </p:nvSpPr>
        <p:spPr>
          <a:xfrm>
            <a:off x="9281160" y="2889504"/>
            <a:ext cx="2194560" cy="256032"/>
          </a:xfrm>
          <a:prstGeom prst="rect">
            <a:avLst/>
          </a:prstGeom>
          <a:noFill/>
        </p:spPr>
        <p:txBody>
          <a:bodyPr wrap="square" lIns="0" tIns="0" rIns="0" bIns="0" rtlCol="0" anchor="ctr"/>
          <a:lstStyle/>
          <a:p>
            <a:pPr marL="0" indent="0">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Occupied</a:t>
            </a:r>
            <a:endParaRPr lang="en-US" sz="1050" dirty="0"/>
          </a:p>
        </p:txBody>
      </p:sp>
      <p:sp>
        <p:nvSpPr>
          <p:cNvPr id="16" name="Shape 11"/>
          <p:cNvSpPr/>
          <p:nvPr/>
        </p:nvSpPr>
        <p:spPr>
          <a:xfrm>
            <a:off x="8549640" y="3346704"/>
            <a:ext cx="3017520" cy="768096"/>
          </a:xfrm>
          <a:prstGeom prst="roundRect">
            <a:avLst>
              <a:gd name="adj" fmla="val 11905"/>
            </a:avLst>
          </a:prstGeom>
          <a:solidFill>
            <a:srgbClr val="FFFFFF"/>
          </a:solidFill>
          <a:effectLst>
            <a:outerShdw blurRad="101600" dist="25400" dir="5400000" algn="bl" rotWithShape="0">
              <a:srgbClr val="94A3B8">
                <a:alpha val="28000"/>
              </a:srgbClr>
            </a:outerShdw>
          </a:effectLst>
        </p:spPr>
      </p:sp>
      <p:sp>
        <p:nvSpPr>
          <p:cNvPr id="17" name="Shape 12"/>
          <p:cNvSpPr/>
          <p:nvPr/>
        </p:nvSpPr>
        <p:spPr>
          <a:xfrm>
            <a:off x="8714232" y="3511296"/>
            <a:ext cx="438912" cy="438912"/>
          </a:xfrm>
          <a:prstGeom prst="ellipse">
            <a:avLst/>
          </a:prstGeom>
          <a:solidFill>
            <a:srgbClr val="D97706"/>
          </a:solidFill>
        </p:spPr>
      </p:sp>
      <p:pic>
        <p:nvPicPr>
          <p:cNvPr id="18" name="Image 3" descr="assets/icon_percent_white.png"/>
          <p:cNvPicPr>
            <a:picLocks noChangeAspect="1"/>
          </p:cNvPicPr>
          <p:nvPr/>
        </p:nvPicPr>
        <p:blipFill>
          <a:blip r:embed="rId4"/>
          <a:stretch>
            <a:fillRect/>
          </a:stretch>
        </p:blipFill>
        <p:spPr>
          <a:xfrm>
            <a:off x="8837127" y="3634191"/>
            <a:ext cx="193121" cy="193121"/>
          </a:xfrm>
          <a:prstGeom prst="rect">
            <a:avLst/>
          </a:prstGeom>
        </p:spPr>
      </p:pic>
      <p:sp>
        <p:nvSpPr>
          <p:cNvPr id="19" name="Text 13"/>
          <p:cNvSpPr/>
          <p:nvPr/>
        </p:nvSpPr>
        <p:spPr>
          <a:xfrm>
            <a:off x="9281160" y="3419856"/>
            <a:ext cx="2194560" cy="384048"/>
          </a:xfrm>
          <a:prstGeom prst="rect">
            <a:avLst/>
          </a:prstGeom>
          <a:noFill/>
        </p:spPr>
        <p:txBody>
          <a:bodyPr wrap="square" lIns="0" tIns="0" rIns="0" bIns="0" rtlCol="0" anchor="ctr"/>
          <a:lstStyle/>
          <a:p>
            <a:pPr marL="0" indent="0">
              <a:buNone/>
            </a:pPr>
            <a:r>
              <a:rPr lang="en-US" sz="1900" b="1" dirty="0">
                <a:solidFill>
                  <a:srgbClr val="0D1B3E"/>
                </a:solidFill>
                <a:latin typeface="Calibri" panose="020F0502020204030204" pitchFamily="34" charset="0"/>
                <a:ea typeface="Calibri" panose="020F0502020204030204" pitchFamily="34" charset="-122"/>
                <a:cs typeface="Calibri" panose="020F0502020204030204" pitchFamily="34" charset="-120"/>
              </a:rPr>
              <a:t>72%</a:t>
            </a:r>
            <a:endParaRPr lang="en-US" sz="1900" dirty="0"/>
          </a:p>
        </p:txBody>
      </p:sp>
      <p:sp>
        <p:nvSpPr>
          <p:cNvPr id="20" name="Text 14"/>
          <p:cNvSpPr/>
          <p:nvPr/>
        </p:nvSpPr>
        <p:spPr>
          <a:xfrm>
            <a:off x="9281160" y="3803904"/>
            <a:ext cx="2194560" cy="256032"/>
          </a:xfrm>
          <a:prstGeom prst="rect">
            <a:avLst/>
          </a:prstGeom>
          <a:noFill/>
        </p:spPr>
        <p:txBody>
          <a:bodyPr wrap="square" lIns="0" tIns="0" rIns="0" bIns="0" rtlCol="0" anchor="ctr"/>
          <a:lstStyle/>
          <a:p>
            <a:pPr marL="0" indent="0">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Occupancy Rate</a:t>
            </a:r>
            <a:endParaRPr lang="en-US" sz="1050" dirty="0"/>
          </a:p>
        </p:txBody>
      </p:sp>
      <p:sp>
        <p:nvSpPr>
          <p:cNvPr id="21" name="Shape 15"/>
          <p:cNvSpPr/>
          <p:nvPr/>
        </p:nvSpPr>
        <p:spPr>
          <a:xfrm>
            <a:off x="8549640" y="4261104"/>
            <a:ext cx="3017520" cy="768096"/>
          </a:xfrm>
          <a:prstGeom prst="roundRect">
            <a:avLst>
              <a:gd name="adj" fmla="val 11905"/>
            </a:avLst>
          </a:prstGeom>
          <a:solidFill>
            <a:srgbClr val="FFFFFF"/>
          </a:solidFill>
          <a:effectLst>
            <a:outerShdw blurRad="101600" dist="25400" dir="5400000" algn="bl" rotWithShape="0">
              <a:srgbClr val="94A3B8">
                <a:alpha val="28000"/>
              </a:srgbClr>
            </a:outerShdw>
          </a:effectLst>
        </p:spPr>
      </p:sp>
      <p:sp>
        <p:nvSpPr>
          <p:cNvPr id="22" name="Shape 16"/>
          <p:cNvSpPr/>
          <p:nvPr/>
        </p:nvSpPr>
        <p:spPr>
          <a:xfrm>
            <a:off x="8714232" y="4425696"/>
            <a:ext cx="438912" cy="438912"/>
          </a:xfrm>
          <a:prstGeom prst="ellipse">
            <a:avLst/>
          </a:prstGeom>
          <a:solidFill>
            <a:srgbClr val="0D9488"/>
          </a:solidFill>
        </p:spPr>
      </p:sp>
      <p:pic>
        <p:nvPicPr>
          <p:cNvPr id="23" name="Image 4" descr="assets/icon_clock_white.png"/>
          <p:cNvPicPr>
            <a:picLocks noChangeAspect="1"/>
          </p:cNvPicPr>
          <p:nvPr/>
        </p:nvPicPr>
        <p:blipFill>
          <a:blip r:embed="rId5"/>
          <a:stretch>
            <a:fillRect/>
          </a:stretch>
        </p:blipFill>
        <p:spPr>
          <a:xfrm>
            <a:off x="8837127" y="4548591"/>
            <a:ext cx="193121" cy="193121"/>
          </a:xfrm>
          <a:prstGeom prst="rect">
            <a:avLst/>
          </a:prstGeom>
        </p:spPr>
      </p:pic>
      <p:sp>
        <p:nvSpPr>
          <p:cNvPr id="24" name="Text 17"/>
          <p:cNvSpPr/>
          <p:nvPr/>
        </p:nvSpPr>
        <p:spPr>
          <a:xfrm>
            <a:off x="9281160" y="4334256"/>
            <a:ext cx="2194560" cy="384048"/>
          </a:xfrm>
          <a:prstGeom prst="rect">
            <a:avLst/>
          </a:prstGeom>
          <a:noFill/>
        </p:spPr>
        <p:txBody>
          <a:bodyPr wrap="square" lIns="0" tIns="0" rIns="0" bIns="0" rtlCol="0" anchor="ctr"/>
          <a:lstStyle/>
          <a:p>
            <a:pPr marL="0" indent="0">
              <a:buNone/>
            </a:pPr>
            <a:r>
              <a:rPr lang="en-US" sz="1900" b="1" dirty="0">
                <a:solidFill>
                  <a:srgbClr val="0D1B3E"/>
                </a:solidFill>
                <a:latin typeface="Calibri" panose="020F0502020204030204" pitchFamily="34" charset="0"/>
                <a:ea typeface="Calibri" panose="020F0502020204030204" pitchFamily="34" charset="-122"/>
                <a:cs typeface="Calibri" panose="020F0502020204030204" pitchFamily="34" charset="-120"/>
              </a:rPr>
              <a:t>6h 45m</a:t>
            </a:r>
            <a:endParaRPr lang="en-US" sz="1900" dirty="0"/>
          </a:p>
        </p:txBody>
      </p:sp>
      <p:sp>
        <p:nvSpPr>
          <p:cNvPr id="25" name="Text 18"/>
          <p:cNvSpPr/>
          <p:nvPr/>
        </p:nvSpPr>
        <p:spPr>
          <a:xfrm>
            <a:off x="9281160" y="4718304"/>
            <a:ext cx="2194560" cy="256032"/>
          </a:xfrm>
          <a:prstGeom prst="rect">
            <a:avLst/>
          </a:prstGeom>
          <a:noFill/>
        </p:spPr>
        <p:txBody>
          <a:bodyPr wrap="square" lIns="0" tIns="0" rIns="0" bIns="0" rtlCol="0" anchor="ctr"/>
          <a:lstStyle/>
          <a:p>
            <a:pPr marL="0" indent="0">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Avg Desk Time</a:t>
            </a:r>
            <a:endParaRPr lang="en-US" sz="1050" dirty="0"/>
          </a:p>
        </p:txBody>
      </p:sp>
      <p:sp>
        <p:nvSpPr>
          <p:cNvPr id="26" name="Shape 19"/>
          <p:cNvSpPr/>
          <p:nvPr/>
        </p:nvSpPr>
        <p:spPr>
          <a:xfrm>
            <a:off x="8549640" y="5175504"/>
            <a:ext cx="3017520" cy="768096"/>
          </a:xfrm>
          <a:prstGeom prst="roundRect">
            <a:avLst>
              <a:gd name="adj" fmla="val 11905"/>
            </a:avLst>
          </a:prstGeom>
          <a:solidFill>
            <a:srgbClr val="FFFFFF"/>
          </a:solidFill>
          <a:effectLst>
            <a:outerShdw blurRad="101600" dist="25400" dir="5400000" algn="bl" rotWithShape="0">
              <a:srgbClr val="94A3B8">
                <a:alpha val="28000"/>
              </a:srgbClr>
            </a:outerShdw>
          </a:effectLst>
        </p:spPr>
      </p:sp>
      <p:sp>
        <p:nvSpPr>
          <p:cNvPr id="27" name="Shape 20"/>
          <p:cNvSpPr/>
          <p:nvPr/>
        </p:nvSpPr>
        <p:spPr>
          <a:xfrm>
            <a:off x="8714232" y="5340096"/>
            <a:ext cx="438912" cy="438912"/>
          </a:xfrm>
          <a:prstGeom prst="ellipse">
            <a:avLst/>
          </a:prstGeom>
          <a:solidFill>
            <a:srgbClr val="D62B2B"/>
          </a:solidFill>
        </p:spPr>
      </p:sp>
      <p:pic>
        <p:nvPicPr>
          <p:cNvPr id="28" name="Image 5" descr="assets/icon_fire_white.png"/>
          <p:cNvPicPr>
            <a:picLocks noChangeAspect="1"/>
          </p:cNvPicPr>
          <p:nvPr/>
        </p:nvPicPr>
        <p:blipFill>
          <a:blip r:embed="rId6"/>
          <a:stretch>
            <a:fillRect/>
          </a:stretch>
        </p:blipFill>
        <p:spPr>
          <a:xfrm>
            <a:off x="8837127" y="5462991"/>
            <a:ext cx="193121" cy="193121"/>
          </a:xfrm>
          <a:prstGeom prst="rect">
            <a:avLst/>
          </a:prstGeom>
        </p:spPr>
      </p:pic>
      <p:sp>
        <p:nvSpPr>
          <p:cNvPr id="29" name="Text 21"/>
          <p:cNvSpPr/>
          <p:nvPr/>
        </p:nvSpPr>
        <p:spPr>
          <a:xfrm>
            <a:off x="9281160" y="5248656"/>
            <a:ext cx="2194560" cy="384048"/>
          </a:xfrm>
          <a:prstGeom prst="rect">
            <a:avLst/>
          </a:prstGeom>
          <a:noFill/>
        </p:spPr>
        <p:txBody>
          <a:bodyPr wrap="square" lIns="0" tIns="0" rIns="0" bIns="0" rtlCol="0" anchor="ctr"/>
          <a:lstStyle/>
          <a:p>
            <a:pPr marL="0" indent="0">
              <a:buNone/>
            </a:pPr>
            <a:r>
              <a:rPr lang="en-US" sz="1900" b="1" dirty="0">
                <a:solidFill>
                  <a:srgbClr val="0D1B3E"/>
                </a:solidFill>
                <a:latin typeface="Calibri" panose="020F0502020204030204" pitchFamily="34" charset="0"/>
                <a:ea typeface="Calibri" panose="020F0502020204030204" pitchFamily="34" charset="-122"/>
                <a:cs typeface="Calibri" panose="020F0502020204030204" pitchFamily="34" charset="-120"/>
              </a:rPr>
              <a:t>11 AM–12 PM</a:t>
            </a:r>
            <a:endParaRPr lang="en-US" sz="1900" dirty="0"/>
          </a:p>
        </p:txBody>
      </p:sp>
      <p:sp>
        <p:nvSpPr>
          <p:cNvPr id="30" name="Text 22"/>
          <p:cNvSpPr/>
          <p:nvPr/>
        </p:nvSpPr>
        <p:spPr>
          <a:xfrm>
            <a:off x="9281160" y="5632704"/>
            <a:ext cx="2194560" cy="256032"/>
          </a:xfrm>
          <a:prstGeom prst="rect">
            <a:avLst/>
          </a:prstGeom>
          <a:noFill/>
        </p:spPr>
        <p:txBody>
          <a:bodyPr wrap="square" lIns="0" tIns="0" rIns="0" bIns="0" rtlCol="0" anchor="ctr"/>
          <a:lstStyle/>
          <a:p>
            <a:pPr marL="0" indent="0">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Peak Window</a:t>
            </a:r>
            <a:endParaRPr lang="en-US" sz="1050" dirty="0"/>
          </a:p>
        </p:txBody>
      </p:sp>
      <p:pic>
        <p:nvPicPr>
          <p:cNvPr id="31" name="Image 6" descr="assets/logo_dark.png"/>
          <p:cNvPicPr>
            <a:picLocks noChangeAspect="1"/>
          </p:cNvPicPr>
          <p:nvPr/>
        </p:nvPicPr>
        <p:blipFill>
          <a:blip r:embed="rId7"/>
          <a:srcRect/>
          <a:stretch>
            <a:fillRect/>
          </a:stretch>
        </p:blipFill>
        <p:spPr>
          <a:xfrm>
            <a:off x="10317175" y="6400800"/>
            <a:ext cx="1280160" cy="214884"/>
          </a:xfrm>
          <a:prstGeom prst="rect">
            <a:avLst/>
          </a:prstGeom>
        </p:spPr>
      </p:pic>
      <p:sp>
        <p:nvSpPr>
          <p:cNvPr id="32" name="Text 23"/>
          <p:cNvSpPr/>
          <p:nvPr/>
        </p:nvSpPr>
        <p:spPr>
          <a:xfrm>
            <a:off x="640080" y="6382512"/>
            <a:ext cx="731520" cy="274320"/>
          </a:xfrm>
          <a:prstGeom prst="rect">
            <a:avLst/>
          </a:prstGeom>
          <a:noFill/>
        </p:spPr>
        <p:txBody>
          <a:bodyPr wrap="square" lIns="0" tIns="0" rIns="0" bIns="0" rtlCol="0" anchor="ctr"/>
          <a:lstStyle/>
          <a:p>
            <a:pPr marL="0" indent="0">
              <a:buNone/>
            </a:pPr>
            <a:r>
              <a:rPr lang="en-US" sz="1100" b="1" dirty="0">
                <a:solidFill>
                  <a:srgbClr val="64748B"/>
                </a:solidFill>
                <a:latin typeface="Calibri" panose="020F0502020204030204" pitchFamily="34" charset="0"/>
                <a:ea typeface="Calibri" panose="020F0502020204030204" pitchFamily="34" charset="-122"/>
                <a:cs typeface="Calibri" panose="020F0502020204030204"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8412480" y="-2743200"/>
            <a:ext cx="7315200" cy="7315200"/>
          </a:xfrm>
          <a:prstGeom prst="ellipse">
            <a:avLst/>
          </a:prstGeom>
          <a:solidFill>
            <a:srgbClr val="16285A"/>
          </a:solidFill>
        </p:spPr>
      </p:sp>
      <p:sp>
        <p:nvSpPr>
          <p:cNvPr id="3" name="Text 1"/>
          <p:cNvSpPr/>
          <p:nvPr/>
        </p:nvSpPr>
        <p:spPr>
          <a:xfrm>
            <a:off x="640080" y="457200"/>
            <a:ext cx="5486400" cy="274320"/>
          </a:xfrm>
          <a:prstGeom prst="rect">
            <a:avLst/>
          </a:prstGeom>
          <a:noFill/>
        </p:spPr>
        <p:txBody>
          <a:bodyPr wrap="square" lIns="0" tIns="0" rIns="0" bIns="0" rtlCol="0" anchor="ctr"/>
          <a:lstStyle/>
          <a:p>
            <a:pPr marL="0" indent="0">
              <a:buNone/>
            </a:pPr>
            <a:r>
              <a:rPr lang="en-US" sz="1200" b="1" kern="0" spc="300" dirty="0">
                <a:solidFill>
                  <a:srgbClr val="7DA3FF"/>
                </a:solidFill>
                <a:latin typeface="Calibri" panose="020F0502020204030204" pitchFamily="34" charset="0"/>
                <a:ea typeface="Calibri" panose="020F0502020204030204" pitchFamily="34" charset="-122"/>
                <a:cs typeface="Calibri" panose="020F0502020204030204" pitchFamily="34" charset="-120"/>
              </a:rPr>
              <a:t>LIVE DETECTION</a:t>
            </a:r>
            <a:endParaRPr lang="en-US" sz="1200" dirty="0"/>
          </a:p>
        </p:txBody>
      </p:sp>
      <p:sp>
        <p:nvSpPr>
          <p:cNvPr id="4" name="Text 2"/>
          <p:cNvSpPr/>
          <p:nvPr/>
        </p:nvSpPr>
        <p:spPr>
          <a:xfrm>
            <a:off x="640080" y="740664"/>
            <a:ext cx="8229600" cy="603504"/>
          </a:xfrm>
          <a:prstGeom prst="rect">
            <a:avLst/>
          </a:prstGeom>
          <a:noFill/>
        </p:spPr>
        <p:txBody>
          <a:bodyPr wrap="square" lIns="0" tIns="0" rIns="0" bIns="0" rtlCol="0" anchor="ctr"/>
          <a:lstStyle/>
          <a:p>
            <a:pPr marL="0" indent="0">
              <a:buNone/>
            </a:pPr>
            <a:r>
              <a:rPr lang="en-US" sz="2900" b="1" dirty="0">
                <a:solidFill>
                  <a:srgbClr val="FFFFFF"/>
                </a:solidFill>
                <a:latin typeface="Calibri" panose="020F0502020204030204" pitchFamily="34" charset="0"/>
                <a:ea typeface="Calibri" panose="020F0502020204030204" pitchFamily="34" charset="-122"/>
                <a:cs typeface="Calibri" panose="020F0502020204030204" pitchFamily="34" charset="-120"/>
              </a:rPr>
              <a:t>YOLO desk detection in real time</a:t>
            </a:r>
            <a:endParaRPr lang="en-US" sz="2900" dirty="0"/>
          </a:p>
        </p:txBody>
      </p:sp>
      <p:sp>
        <p:nvSpPr>
          <p:cNvPr id="5" name="Shape 3"/>
          <p:cNvSpPr/>
          <p:nvPr/>
        </p:nvSpPr>
        <p:spPr>
          <a:xfrm>
            <a:off x="585216" y="1499616"/>
            <a:ext cx="7836408" cy="4681728"/>
          </a:xfrm>
          <a:prstGeom prst="roundRect">
            <a:avLst>
              <a:gd name="adj" fmla="val 1953"/>
            </a:avLst>
          </a:prstGeom>
          <a:solidFill>
            <a:srgbClr val="FFFFFF"/>
          </a:solidFill>
          <a:effectLst>
            <a:outerShdw blurRad="165100" dist="50800" dir="5400000" algn="bl" rotWithShape="0">
              <a:srgbClr val="0D1B3E">
                <a:alpha val="32000"/>
              </a:srgbClr>
            </a:outerShdw>
          </a:effectLst>
        </p:spPr>
      </p:sp>
      <p:pic>
        <p:nvPicPr>
          <p:cNvPr id="6" name="Image 0" descr="assets/desk_live.png"/>
          <p:cNvPicPr>
            <a:picLocks noChangeAspect="1"/>
          </p:cNvPicPr>
          <p:nvPr/>
        </p:nvPicPr>
        <p:blipFill>
          <a:blip r:embed="rId1"/>
          <a:srcRect/>
          <a:stretch>
            <a:fillRect/>
          </a:stretch>
        </p:blipFill>
        <p:spPr>
          <a:xfrm>
            <a:off x="640080" y="1554480"/>
            <a:ext cx="7726680" cy="4572000"/>
          </a:xfrm>
          <a:prstGeom prst="rect">
            <a:avLst/>
          </a:prstGeom>
        </p:spPr>
      </p:pic>
      <p:sp>
        <p:nvSpPr>
          <p:cNvPr id="7" name="Shape 4"/>
          <p:cNvSpPr/>
          <p:nvPr/>
        </p:nvSpPr>
        <p:spPr>
          <a:xfrm>
            <a:off x="8686800" y="1783080"/>
            <a:ext cx="2926080" cy="914400"/>
          </a:xfrm>
          <a:prstGeom prst="roundRect">
            <a:avLst>
              <a:gd name="adj" fmla="val 10000"/>
            </a:avLst>
          </a:prstGeom>
          <a:solidFill>
            <a:srgbClr val="1B3168"/>
          </a:solidFill>
        </p:spPr>
      </p:sp>
      <p:sp>
        <p:nvSpPr>
          <p:cNvPr id="8" name="Shape 5"/>
          <p:cNvSpPr/>
          <p:nvPr/>
        </p:nvSpPr>
        <p:spPr>
          <a:xfrm>
            <a:off x="8869680" y="2002536"/>
            <a:ext cx="475488" cy="475488"/>
          </a:xfrm>
          <a:prstGeom prst="ellipse">
            <a:avLst/>
          </a:prstGeom>
          <a:solidFill>
            <a:srgbClr val="16A34A"/>
          </a:solidFill>
        </p:spPr>
      </p:sp>
      <p:pic>
        <p:nvPicPr>
          <p:cNvPr id="9" name="Image 1" descr="assets/icon_checkCircle_white.png"/>
          <p:cNvPicPr>
            <a:picLocks noChangeAspect="1"/>
          </p:cNvPicPr>
          <p:nvPr/>
        </p:nvPicPr>
        <p:blipFill>
          <a:blip r:embed="rId2"/>
          <a:stretch>
            <a:fillRect/>
          </a:stretch>
        </p:blipFill>
        <p:spPr>
          <a:xfrm>
            <a:off x="9002817" y="2135673"/>
            <a:ext cx="209215" cy="209215"/>
          </a:xfrm>
          <a:prstGeom prst="rect">
            <a:avLst/>
          </a:prstGeom>
        </p:spPr>
      </p:pic>
      <p:sp>
        <p:nvSpPr>
          <p:cNvPr id="10" name="Text 6"/>
          <p:cNvSpPr/>
          <p:nvPr/>
        </p:nvSpPr>
        <p:spPr>
          <a:xfrm>
            <a:off x="9464040" y="1929384"/>
            <a:ext cx="2011680" cy="310896"/>
          </a:xfrm>
          <a:prstGeom prst="rect">
            <a:avLst/>
          </a:prstGeom>
          <a:noFill/>
        </p:spPr>
        <p:txBody>
          <a:bodyPr wrap="square" lIns="0" tIns="0" rIns="0" bIns="0"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Occupied desk detection</a:t>
            </a:r>
            <a:endParaRPr lang="en-US" sz="1300" dirty="0"/>
          </a:p>
        </p:txBody>
      </p:sp>
      <p:sp>
        <p:nvSpPr>
          <p:cNvPr id="11" name="Text 7"/>
          <p:cNvSpPr/>
          <p:nvPr/>
        </p:nvSpPr>
        <p:spPr>
          <a:xfrm>
            <a:off x="9464040" y="2231136"/>
            <a:ext cx="2011680" cy="365760"/>
          </a:xfrm>
          <a:prstGeom prst="rect">
            <a:avLst/>
          </a:prstGeom>
          <a:noFill/>
        </p:spPr>
        <p:txBody>
          <a:bodyPr wrap="square" lIns="0" tIns="0" rIns="0" bIns="0" rtlCol="0" anchor="ctr"/>
          <a:lstStyle/>
          <a:p>
            <a:pPr marL="0" indent="0">
              <a:lnSpc>
                <a:spcPts val="1300"/>
              </a:lnSpc>
              <a:buNone/>
            </a:pPr>
            <a:r>
              <a:rPr lang="en-US" sz="1050" dirty="0">
                <a:solidFill>
                  <a:srgbClr val="BBC8E6"/>
                </a:solidFill>
                <a:latin typeface="Calibri" panose="020F0502020204030204" pitchFamily="34" charset="0"/>
                <a:ea typeface="Calibri" panose="020F0502020204030204" pitchFamily="34" charset="-122"/>
                <a:cs typeface="Calibri" panose="020F0502020204030204" pitchFamily="34" charset="-120"/>
              </a:rPr>
              <a:t>Each in-use desk boxed and timed.</a:t>
            </a:r>
            <a:endParaRPr lang="en-US" sz="1050" dirty="0"/>
          </a:p>
        </p:txBody>
      </p:sp>
      <p:sp>
        <p:nvSpPr>
          <p:cNvPr id="12" name="Shape 8"/>
          <p:cNvSpPr/>
          <p:nvPr/>
        </p:nvSpPr>
        <p:spPr>
          <a:xfrm>
            <a:off x="8686800" y="2862072"/>
            <a:ext cx="2926080" cy="914400"/>
          </a:xfrm>
          <a:prstGeom prst="roundRect">
            <a:avLst>
              <a:gd name="adj" fmla="val 10000"/>
            </a:avLst>
          </a:prstGeom>
          <a:solidFill>
            <a:srgbClr val="1B3168"/>
          </a:solidFill>
        </p:spPr>
      </p:sp>
      <p:sp>
        <p:nvSpPr>
          <p:cNvPr id="13" name="Shape 9"/>
          <p:cNvSpPr/>
          <p:nvPr/>
        </p:nvSpPr>
        <p:spPr>
          <a:xfrm>
            <a:off x="8869680" y="3081528"/>
            <a:ext cx="475488" cy="475488"/>
          </a:xfrm>
          <a:prstGeom prst="ellipse">
            <a:avLst/>
          </a:prstGeom>
          <a:solidFill>
            <a:srgbClr val="D62B2B"/>
          </a:solidFill>
        </p:spPr>
      </p:sp>
      <p:pic>
        <p:nvPicPr>
          <p:cNvPr id="14" name="Image 2" descr="assets/icon_timesCircle_white.png"/>
          <p:cNvPicPr>
            <a:picLocks noChangeAspect="1"/>
          </p:cNvPicPr>
          <p:nvPr/>
        </p:nvPicPr>
        <p:blipFill>
          <a:blip r:embed="rId3"/>
          <a:stretch>
            <a:fillRect/>
          </a:stretch>
        </p:blipFill>
        <p:spPr>
          <a:xfrm>
            <a:off x="9002817" y="3214665"/>
            <a:ext cx="209215" cy="209215"/>
          </a:xfrm>
          <a:prstGeom prst="rect">
            <a:avLst/>
          </a:prstGeom>
        </p:spPr>
      </p:pic>
      <p:sp>
        <p:nvSpPr>
          <p:cNvPr id="15" name="Text 10"/>
          <p:cNvSpPr/>
          <p:nvPr/>
        </p:nvSpPr>
        <p:spPr>
          <a:xfrm>
            <a:off x="9464040" y="3008376"/>
            <a:ext cx="2011680" cy="310896"/>
          </a:xfrm>
          <a:prstGeom prst="rect">
            <a:avLst/>
          </a:prstGeom>
          <a:noFill/>
        </p:spPr>
        <p:txBody>
          <a:bodyPr wrap="square" lIns="0" tIns="0" rIns="0" bIns="0"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Empty desk detection</a:t>
            </a:r>
            <a:endParaRPr lang="en-US" sz="1300" dirty="0"/>
          </a:p>
        </p:txBody>
      </p:sp>
      <p:sp>
        <p:nvSpPr>
          <p:cNvPr id="16" name="Text 11"/>
          <p:cNvSpPr/>
          <p:nvPr/>
        </p:nvSpPr>
        <p:spPr>
          <a:xfrm>
            <a:off x="9464040" y="3310128"/>
            <a:ext cx="2011680" cy="365760"/>
          </a:xfrm>
          <a:prstGeom prst="rect">
            <a:avLst/>
          </a:prstGeom>
          <a:noFill/>
        </p:spPr>
        <p:txBody>
          <a:bodyPr wrap="square" lIns="0" tIns="0" rIns="0" bIns="0" rtlCol="0" anchor="ctr"/>
          <a:lstStyle/>
          <a:p>
            <a:pPr marL="0" indent="0">
              <a:lnSpc>
                <a:spcPts val="1300"/>
              </a:lnSpc>
              <a:buNone/>
            </a:pPr>
            <a:r>
              <a:rPr lang="en-US" sz="1050" dirty="0">
                <a:solidFill>
                  <a:srgbClr val="BBC8E6"/>
                </a:solidFill>
                <a:latin typeface="Calibri" panose="020F0502020204030204" pitchFamily="34" charset="0"/>
                <a:ea typeface="Calibri" panose="020F0502020204030204" pitchFamily="34" charset="-122"/>
                <a:cs typeface="Calibri" panose="020F0502020204030204" pitchFamily="34" charset="-120"/>
              </a:rPr>
              <a:t>Vacant seats flagged instantly.</a:t>
            </a:r>
            <a:endParaRPr lang="en-US" sz="1050" dirty="0"/>
          </a:p>
        </p:txBody>
      </p:sp>
      <p:sp>
        <p:nvSpPr>
          <p:cNvPr id="17" name="Shape 12"/>
          <p:cNvSpPr/>
          <p:nvPr/>
        </p:nvSpPr>
        <p:spPr>
          <a:xfrm>
            <a:off x="8686800" y="3941064"/>
            <a:ext cx="2926080" cy="914400"/>
          </a:xfrm>
          <a:prstGeom prst="roundRect">
            <a:avLst>
              <a:gd name="adj" fmla="val 10000"/>
            </a:avLst>
          </a:prstGeom>
          <a:solidFill>
            <a:srgbClr val="1B3168"/>
          </a:solidFill>
        </p:spPr>
      </p:sp>
      <p:sp>
        <p:nvSpPr>
          <p:cNvPr id="18" name="Shape 13"/>
          <p:cNvSpPr/>
          <p:nvPr/>
        </p:nvSpPr>
        <p:spPr>
          <a:xfrm>
            <a:off x="8869680" y="4160520"/>
            <a:ext cx="475488" cy="475488"/>
          </a:xfrm>
          <a:prstGeom prst="ellipse">
            <a:avLst/>
          </a:prstGeom>
          <a:solidFill>
            <a:srgbClr val="2563EB"/>
          </a:solidFill>
        </p:spPr>
      </p:sp>
      <p:pic>
        <p:nvPicPr>
          <p:cNvPr id="19" name="Image 3" descr="assets/icon_gauge_white.png"/>
          <p:cNvPicPr>
            <a:picLocks noChangeAspect="1"/>
          </p:cNvPicPr>
          <p:nvPr/>
        </p:nvPicPr>
        <p:blipFill>
          <a:blip r:embed="rId4"/>
          <a:stretch>
            <a:fillRect/>
          </a:stretch>
        </p:blipFill>
        <p:spPr>
          <a:xfrm>
            <a:off x="9002817" y="4293657"/>
            <a:ext cx="209215" cy="209215"/>
          </a:xfrm>
          <a:prstGeom prst="rect">
            <a:avLst/>
          </a:prstGeom>
        </p:spPr>
      </p:pic>
      <p:sp>
        <p:nvSpPr>
          <p:cNvPr id="20" name="Text 14"/>
          <p:cNvSpPr/>
          <p:nvPr/>
        </p:nvSpPr>
        <p:spPr>
          <a:xfrm>
            <a:off x="9464040" y="4087368"/>
            <a:ext cx="2011680" cy="310896"/>
          </a:xfrm>
          <a:prstGeom prst="rect">
            <a:avLst/>
          </a:prstGeom>
          <a:noFill/>
        </p:spPr>
        <p:txBody>
          <a:bodyPr wrap="square" lIns="0" tIns="0" rIns="0" bIns="0"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Real-time occupancy</a:t>
            </a:r>
            <a:endParaRPr lang="en-US" sz="1300" dirty="0"/>
          </a:p>
        </p:txBody>
      </p:sp>
      <p:sp>
        <p:nvSpPr>
          <p:cNvPr id="21" name="Text 15"/>
          <p:cNvSpPr/>
          <p:nvPr/>
        </p:nvSpPr>
        <p:spPr>
          <a:xfrm>
            <a:off x="9464040" y="4389120"/>
            <a:ext cx="2011680" cy="365760"/>
          </a:xfrm>
          <a:prstGeom prst="rect">
            <a:avLst/>
          </a:prstGeom>
          <a:noFill/>
        </p:spPr>
        <p:txBody>
          <a:bodyPr wrap="square" lIns="0" tIns="0" rIns="0" bIns="0" rtlCol="0" anchor="ctr"/>
          <a:lstStyle/>
          <a:p>
            <a:pPr marL="0" indent="0">
              <a:lnSpc>
                <a:spcPts val="1300"/>
              </a:lnSpc>
              <a:buNone/>
            </a:pPr>
            <a:r>
              <a:rPr lang="en-US" sz="1050" dirty="0">
                <a:solidFill>
                  <a:srgbClr val="BBC8E6"/>
                </a:solidFill>
                <a:latin typeface="Calibri" panose="020F0502020204030204" pitchFamily="34" charset="0"/>
                <a:ea typeface="Calibri" panose="020F0502020204030204" pitchFamily="34" charset="-122"/>
                <a:cs typeface="Calibri" panose="020F0502020204030204" pitchFamily="34" charset="-120"/>
              </a:rPr>
              <a:t>Live counts update continuously.</a:t>
            </a:r>
            <a:endParaRPr lang="en-US" sz="1050" dirty="0"/>
          </a:p>
        </p:txBody>
      </p:sp>
      <p:sp>
        <p:nvSpPr>
          <p:cNvPr id="22" name="Shape 16"/>
          <p:cNvSpPr/>
          <p:nvPr/>
        </p:nvSpPr>
        <p:spPr>
          <a:xfrm>
            <a:off x="8686800" y="5020056"/>
            <a:ext cx="2926080" cy="914400"/>
          </a:xfrm>
          <a:prstGeom prst="roundRect">
            <a:avLst>
              <a:gd name="adj" fmla="val 10000"/>
            </a:avLst>
          </a:prstGeom>
          <a:solidFill>
            <a:srgbClr val="1B3168"/>
          </a:solidFill>
        </p:spPr>
      </p:sp>
      <p:sp>
        <p:nvSpPr>
          <p:cNvPr id="23" name="Shape 17"/>
          <p:cNvSpPr/>
          <p:nvPr/>
        </p:nvSpPr>
        <p:spPr>
          <a:xfrm>
            <a:off x="8869680" y="5239512"/>
            <a:ext cx="475488" cy="475488"/>
          </a:xfrm>
          <a:prstGeom prst="ellipse">
            <a:avLst/>
          </a:prstGeom>
          <a:solidFill>
            <a:srgbClr val="D97706"/>
          </a:solidFill>
        </p:spPr>
      </p:sp>
      <p:pic>
        <p:nvPicPr>
          <p:cNvPr id="24" name="Image 4" descr="assets/icon_history_white.png"/>
          <p:cNvPicPr>
            <a:picLocks noChangeAspect="1"/>
          </p:cNvPicPr>
          <p:nvPr/>
        </p:nvPicPr>
        <p:blipFill>
          <a:blip r:embed="rId5"/>
          <a:stretch>
            <a:fillRect/>
          </a:stretch>
        </p:blipFill>
        <p:spPr>
          <a:xfrm>
            <a:off x="9002817" y="5372649"/>
            <a:ext cx="209215" cy="209215"/>
          </a:xfrm>
          <a:prstGeom prst="rect">
            <a:avLst/>
          </a:prstGeom>
        </p:spPr>
      </p:pic>
      <p:sp>
        <p:nvSpPr>
          <p:cNvPr id="25" name="Text 18"/>
          <p:cNvSpPr/>
          <p:nvPr/>
        </p:nvSpPr>
        <p:spPr>
          <a:xfrm>
            <a:off x="9464040" y="5166360"/>
            <a:ext cx="2011680" cy="310896"/>
          </a:xfrm>
          <a:prstGeom prst="rect">
            <a:avLst/>
          </a:prstGeom>
          <a:noFill/>
        </p:spPr>
        <p:txBody>
          <a:bodyPr wrap="square" lIns="0" tIns="0" rIns="0" bIns="0"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Historical usage</a:t>
            </a:r>
            <a:endParaRPr lang="en-US" sz="1300" dirty="0"/>
          </a:p>
        </p:txBody>
      </p:sp>
      <p:sp>
        <p:nvSpPr>
          <p:cNvPr id="26" name="Text 19"/>
          <p:cNvSpPr/>
          <p:nvPr/>
        </p:nvSpPr>
        <p:spPr>
          <a:xfrm>
            <a:off x="9464040" y="5468112"/>
            <a:ext cx="2011680" cy="365760"/>
          </a:xfrm>
          <a:prstGeom prst="rect">
            <a:avLst/>
          </a:prstGeom>
          <a:noFill/>
        </p:spPr>
        <p:txBody>
          <a:bodyPr wrap="square" lIns="0" tIns="0" rIns="0" bIns="0" rtlCol="0" anchor="ctr"/>
          <a:lstStyle/>
          <a:p>
            <a:pPr marL="0" indent="0">
              <a:lnSpc>
                <a:spcPts val="1300"/>
              </a:lnSpc>
              <a:buNone/>
            </a:pPr>
            <a:r>
              <a:rPr lang="en-US" sz="1050" dirty="0">
                <a:solidFill>
                  <a:srgbClr val="BBC8E6"/>
                </a:solidFill>
                <a:latin typeface="Calibri" panose="020F0502020204030204" pitchFamily="34" charset="0"/>
                <a:ea typeface="Calibri" panose="020F0502020204030204" pitchFamily="34" charset="-122"/>
                <a:cs typeface="Calibri" panose="020F0502020204030204" pitchFamily="34" charset="-120"/>
              </a:rPr>
              <a:t>Every reading stored for trend analysis.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640080" y="457200"/>
            <a:ext cx="10515600" cy="274320"/>
          </a:xfrm>
          <a:prstGeom prst="rect">
            <a:avLst/>
          </a:prstGeom>
          <a:noFill/>
        </p:spPr>
        <p:txBody>
          <a:bodyPr wrap="square" lIns="0" tIns="0" rIns="0" bIns="0" rtlCol="0" anchor="ctr"/>
          <a:lstStyle/>
          <a:p>
            <a:pPr marL="0" indent="0">
              <a:buNone/>
            </a:pPr>
            <a:r>
              <a:rPr lang="en-US" sz="1200" b="1" kern="0" spc="300" dirty="0">
                <a:solidFill>
                  <a:srgbClr val="D62B2B"/>
                </a:solidFill>
                <a:latin typeface="Calibri" panose="020F0502020204030204" pitchFamily="34" charset="0"/>
                <a:ea typeface="Calibri" panose="020F0502020204030204" pitchFamily="34" charset="-122"/>
                <a:cs typeface="Calibri" panose="020F0502020204030204" pitchFamily="34" charset="-120"/>
              </a:rPr>
              <a:t>FACILITIES PLANNING</a:t>
            </a:r>
            <a:endParaRPr lang="en-US" sz="1200" dirty="0"/>
          </a:p>
        </p:txBody>
      </p:sp>
      <p:sp>
        <p:nvSpPr>
          <p:cNvPr id="3" name="Text 1"/>
          <p:cNvSpPr/>
          <p:nvPr/>
        </p:nvSpPr>
        <p:spPr>
          <a:xfrm>
            <a:off x="640080" y="740664"/>
            <a:ext cx="10972800" cy="603504"/>
          </a:xfrm>
          <a:prstGeom prst="rect">
            <a:avLst/>
          </a:prstGeom>
          <a:noFill/>
        </p:spPr>
        <p:txBody>
          <a:bodyPr wrap="square" lIns="0" tIns="0" rIns="0" bIns="0" rtlCol="0" anchor="ctr"/>
          <a:lstStyle/>
          <a:p>
            <a:pPr marL="0" indent="0">
              <a:buNone/>
            </a:pPr>
            <a:r>
              <a:rPr lang="en-US" sz="2900" b="1" dirty="0">
                <a:solidFill>
                  <a:srgbClr val="0D1B3E"/>
                </a:solidFill>
                <a:latin typeface="Calibri" panose="020F0502020204030204" pitchFamily="34" charset="0"/>
                <a:ea typeface="Calibri" panose="020F0502020204030204" pitchFamily="34" charset="-122"/>
                <a:cs typeface="Calibri" panose="020F0502020204030204" pitchFamily="34" charset="-120"/>
              </a:rPr>
              <a:t>After-hours building utilization</a:t>
            </a:r>
            <a:endParaRPr lang="en-US" sz="2900" dirty="0"/>
          </a:p>
        </p:txBody>
      </p:sp>
      <p:sp>
        <p:nvSpPr>
          <p:cNvPr id="4" name="Text 2"/>
          <p:cNvSpPr/>
          <p:nvPr/>
        </p:nvSpPr>
        <p:spPr>
          <a:xfrm>
            <a:off x="640080" y="1170432"/>
            <a:ext cx="10881360" cy="548640"/>
          </a:xfrm>
          <a:prstGeom prst="rect">
            <a:avLst/>
          </a:prstGeom>
          <a:noFill/>
        </p:spPr>
        <p:txBody>
          <a:bodyPr wrap="square" lIns="0" tIns="0" rIns="0" bIns="0" rtlCol="0" anchor="ctr"/>
          <a:lstStyle/>
          <a:p>
            <a:pPr marL="0" indent="0">
              <a:lnSpc>
                <a:spcPts val="1800"/>
              </a:lnSpc>
              <a:buNone/>
            </a:pPr>
            <a:r>
              <a:rPr lang="en-US" sz="1350" dirty="0">
                <a:solidFill>
                  <a:srgbClr val="475569"/>
                </a:solidFill>
                <a:latin typeface="Calibri" panose="020F0502020204030204" pitchFamily="34" charset="0"/>
                <a:ea typeface="Calibri" panose="020F0502020204030204" pitchFamily="34" charset="-122"/>
                <a:cs typeface="Calibri" panose="020F0502020204030204" pitchFamily="34" charset="-120"/>
              </a:rPr>
              <a:t>Aggregate late-occupancy by floor and zone — to plan HVAC, lighting, security and energy spend. Reported as anonymous headcount and duration, never individual tracking.</a:t>
            </a:r>
            <a:endParaRPr lang="en-US" sz="1350" dirty="0"/>
          </a:p>
        </p:txBody>
      </p:sp>
      <p:sp>
        <p:nvSpPr>
          <p:cNvPr id="5" name="Shape 3"/>
          <p:cNvSpPr/>
          <p:nvPr/>
        </p:nvSpPr>
        <p:spPr>
          <a:xfrm>
            <a:off x="640080" y="1874520"/>
            <a:ext cx="3429000" cy="1828800"/>
          </a:xfrm>
          <a:prstGeom prst="roundRect">
            <a:avLst>
              <a:gd name="adj" fmla="val 5000"/>
            </a:avLst>
          </a:prstGeom>
          <a:solidFill>
            <a:srgbClr val="FFFFFF"/>
          </a:solidFill>
          <a:effectLst>
            <a:outerShdw blurRad="101600" dist="25400" dir="5400000" algn="bl" rotWithShape="0">
              <a:srgbClr val="94A3B8">
                <a:alpha val="28000"/>
              </a:srgbClr>
            </a:outerShdw>
          </a:effectLst>
        </p:spPr>
      </p:sp>
      <p:sp>
        <p:nvSpPr>
          <p:cNvPr id="6" name="Shape 4"/>
          <p:cNvSpPr/>
          <p:nvPr/>
        </p:nvSpPr>
        <p:spPr>
          <a:xfrm>
            <a:off x="896112" y="2121408"/>
            <a:ext cx="658368" cy="658368"/>
          </a:xfrm>
          <a:prstGeom prst="roundRect">
            <a:avLst>
              <a:gd name="adj" fmla="val 26000"/>
            </a:avLst>
          </a:prstGeom>
          <a:solidFill>
            <a:srgbClr val="2563EB"/>
          </a:solidFill>
        </p:spPr>
      </p:sp>
      <p:pic>
        <p:nvPicPr>
          <p:cNvPr id="7" name="Image 0" descr="assets/icon_moon_white.png"/>
          <p:cNvPicPr>
            <a:picLocks noChangeAspect="1"/>
          </p:cNvPicPr>
          <p:nvPr/>
        </p:nvPicPr>
        <p:blipFill>
          <a:blip r:embed="rId2"/>
          <a:stretch>
            <a:fillRect/>
          </a:stretch>
        </p:blipFill>
        <p:spPr>
          <a:xfrm>
            <a:off x="1093622" y="2318918"/>
            <a:ext cx="263347" cy="263347"/>
          </a:xfrm>
          <a:prstGeom prst="rect">
            <a:avLst/>
          </a:prstGeom>
        </p:spPr>
      </p:pic>
      <p:sp>
        <p:nvSpPr>
          <p:cNvPr id="8" name="Text 5"/>
          <p:cNvSpPr/>
          <p:nvPr/>
        </p:nvSpPr>
        <p:spPr>
          <a:xfrm>
            <a:off x="1691640" y="2157984"/>
            <a:ext cx="2286000" cy="548640"/>
          </a:xfrm>
          <a:prstGeom prst="rect">
            <a:avLst/>
          </a:prstGeom>
          <a:noFill/>
        </p:spPr>
        <p:txBody>
          <a:bodyPr wrap="square" lIns="0" tIns="0" rIns="0" bIns="0" rtlCol="0" anchor="ctr"/>
          <a:lstStyle/>
          <a:p>
            <a:pPr marL="0" indent="0">
              <a:buNone/>
            </a:pPr>
            <a:r>
              <a:rPr lang="en-US" sz="1550" b="1" dirty="0">
                <a:solidFill>
                  <a:srgbClr val="0D1B3E"/>
                </a:solidFill>
                <a:latin typeface="Calibri" panose="020F0502020204030204" pitchFamily="34" charset="0"/>
                <a:ea typeface="Calibri" panose="020F0502020204030204" pitchFamily="34" charset="-122"/>
                <a:cs typeface="Calibri" panose="020F0502020204030204" pitchFamily="34" charset="-120"/>
              </a:rPr>
              <a:t>Late occupancy</a:t>
            </a:r>
            <a:endParaRPr lang="en-US" sz="1550" dirty="0"/>
          </a:p>
        </p:txBody>
      </p:sp>
      <p:sp>
        <p:nvSpPr>
          <p:cNvPr id="9" name="Text 6"/>
          <p:cNvSpPr/>
          <p:nvPr/>
        </p:nvSpPr>
        <p:spPr>
          <a:xfrm>
            <a:off x="896112" y="2907792"/>
            <a:ext cx="2926080" cy="685800"/>
          </a:xfrm>
          <a:prstGeom prst="rect">
            <a:avLst/>
          </a:prstGeom>
          <a:noFill/>
        </p:spPr>
        <p:txBody>
          <a:bodyPr wrap="square" lIns="0" tIns="0" rIns="0" bIns="0" rtlCol="0" anchor="ctr"/>
          <a:lstStyle/>
          <a:p>
            <a:pPr marL="0" indent="0">
              <a:lnSpc>
                <a:spcPts val="1500"/>
              </a:lnSpc>
              <a:buNone/>
            </a:pPr>
            <a:r>
              <a:rPr lang="en-US" sz="1150" dirty="0">
                <a:solidFill>
                  <a:srgbClr val="475569"/>
                </a:solidFill>
                <a:latin typeface="Calibri" panose="020F0502020204030204" pitchFamily="34" charset="0"/>
                <a:ea typeface="Calibri" panose="020F0502020204030204" pitchFamily="34" charset="-122"/>
                <a:cs typeface="Calibri" panose="020F0502020204030204" pitchFamily="34" charset="-120"/>
              </a:rPr>
              <a:t>Headcount still on each floor after standard hours.</a:t>
            </a:r>
            <a:endParaRPr lang="en-US" sz="1150" dirty="0"/>
          </a:p>
        </p:txBody>
      </p:sp>
      <p:sp>
        <p:nvSpPr>
          <p:cNvPr id="10" name="Shape 7"/>
          <p:cNvSpPr/>
          <p:nvPr/>
        </p:nvSpPr>
        <p:spPr>
          <a:xfrm>
            <a:off x="4297680" y="1874520"/>
            <a:ext cx="3429000" cy="1828800"/>
          </a:xfrm>
          <a:prstGeom prst="roundRect">
            <a:avLst>
              <a:gd name="adj" fmla="val 5000"/>
            </a:avLst>
          </a:prstGeom>
          <a:solidFill>
            <a:srgbClr val="FFFFFF"/>
          </a:solidFill>
          <a:effectLst>
            <a:outerShdw blurRad="101600" dist="25400" dir="5400000" algn="bl" rotWithShape="0">
              <a:srgbClr val="94A3B8">
                <a:alpha val="28000"/>
              </a:srgbClr>
            </a:outerShdw>
          </a:effectLst>
        </p:spPr>
      </p:sp>
      <p:sp>
        <p:nvSpPr>
          <p:cNvPr id="11" name="Shape 8"/>
          <p:cNvSpPr/>
          <p:nvPr/>
        </p:nvSpPr>
        <p:spPr>
          <a:xfrm>
            <a:off x="4553712" y="2121408"/>
            <a:ext cx="658368" cy="658368"/>
          </a:xfrm>
          <a:prstGeom prst="roundRect">
            <a:avLst>
              <a:gd name="adj" fmla="val 26000"/>
            </a:avLst>
          </a:prstGeom>
          <a:solidFill>
            <a:srgbClr val="0D9488"/>
          </a:solidFill>
        </p:spPr>
      </p:sp>
      <p:pic>
        <p:nvPicPr>
          <p:cNvPr id="12" name="Image 1" descr="assets/icon_hourglass_white.png"/>
          <p:cNvPicPr>
            <a:picLocks noChangeAspect="1"/>
          </p:cNvPicPr>
          <p:nvPr/>
        </p:nvPicPr>
        <p:blipFill>
          <a:blip r:embed="rId3"/>
          <a:stretch>
            <a:fillRect/>
          </a:stretch>
        </p:blipFill>
        <p:spPr>
          <a:xfrm>
            <a:off x="4751222" y="2318918"/>
            <a:ext cx="263347" cy="263347"/>
          </a:xfrm>
          <a:prstGeom prst="rect">
            <a:avLst/>
          </a:prstGeom>
        </p:spPr>
      </p:pic>
      <p:sp>
        <p:nvSpPr>
          <p:cNvPr id="13" name="Text 9"/>
          <p:cNvSpPr/>
          <p:nvPr/>
        </p:nvSpPr>
        <p:spPr>
          <a:xfrm>
            <a:off x="5349240" y="2157984"/>
            <a:ext cx="2286000" cy="548640"/>
          </a:xfrm>
          <a:prstGeom prst="rect">
            <a:avLst/>
          </a:prstGeom>
          <a:noFill/>
        </p:spPr>
        <p:txBody>
          <a:bodyPr wrap="square" lIns="0" tIns="0" rIns="0" bIns="0" rtlCol="0" anchor="ctr"/>
          <a:lstStyle/>
          <a:p>
            <a:pPr marL="0" indent="0">
              <a:buNone/>
            </a:pPr>
            <a:r>
              <a:rPr lang="en-US" sz="1550" b="1" dirty="0">
                <a:solidFill>
                  <a:srgbClr val="0D1B3E"/>
                </a:solidFill>
                <a:latin typeface="Calibri" panose="020F0502020204030204" pitchFamily="34" charset="0"/>
                <a:ea typeface="Calibri" panose="020F0502020204030204" pitchFamily="34" charset="-122"/>
                <a:cs typeface="Calibri" panose="020F0502020204030204" pitchFamily="34" charset="-120"/>
              </a:rPr>
              <a:t>Occupancy duration</a:t>
            </a:r>
            <a:endParaRPr lang="en-US" sz="1550" dirty="0"/>
          </a:p>
        </p:txBody>
      </p:sp>
      <p:sp>
        <p:nvSpPr>
          <p:cNvPr id="14" name="Text 10"/>
          <p:cNvSpPr/>
          <p:nvPr/>
        </p:nvSpPr>
        <p:spPr>
          <a:xfrm>
            <a:off x="4553712" y="2907792"/>
            <a:ext cx="2926080" cy="685800"/>
          </a:xfrm>
          <a:prstGeom prst="rect">
            <a:avLst/>
          </a:prstGeom>
          <a:noFill/>
        </p:spPr>
        <p:txBody>
          <a:bodyPr wrap="square" lIns="0" tIns="0" rIns="0" bIns="0" rtlCol="0" anchor="ctr"/>
          <a:lstStyle/>
          <a:p>
            <a:pPr marL="0" indent="0">
              <a:lnSpc>
                <a:spcPts val="1500"/>
              </a:lnSpc>
              <a:buNone/>
            </a:pPr>
            <a:r>
              <a:rPr lang="en-US" sz="1150" dirty="0">
                <a:solidFill>
                  <a:srgbClr val="475569"/>
                </a:solidFill>
                <a:latin typeface="Calibri" panose="020F0502020204030204" pitchFamily="34" charset="0"/>
                <a:ea typeface="Calibri" panose="020F0502020204030204" pitchFamily="34" charset="-122"/>
                <a:cs typeface="Calibri" panose="020F0502020204030204" pitchFamily="34" charset="-120"/>
              </a:rPr>
              <a:t>How long zones stay active into the evening.</a:t>
            </a:r>
            <a:endParaRPr lang="en-US" sz="1150" dirty="0"/>
          </a:p>
        </p:txBody>
      </p:sp>
      <p:sp>
        <p:nvSpPr>
          <p:cNvPr id="15" name="Shape 11"/>
          <p:cNvSpPr/>
          <p:nvPr/>
        </p:nvSpPr>
        <p:spPr>
          <a:xfrm>
            <a:off x="7955280" y="1874520"/>
            <a:ext cx="3429000" cy="1828800"/>
          </a:xfrm>
          <a:prstGeom prst="roundRect">
            <a:avLst>
              <a:gd name="adj" fmla="val 5000"/>
            </a:avLst>
          </a:prstGeom>
          <a:solidFill>
            <a:srgbClr val="FFFFFF"/>
          </a:solidFill>
          <a:effectLst>
            <a:outerShdw blurRad="101600" dist="25400" dir="5400000" algn="bl" rotWithShape="0">
              <a:srgbClr val="94A3B8">
                <a:alpha val="28000"/>
              </a:srgbClr>
            </a:outerShdw>
          </a:effectLst>
        </p:spPr>
      </p:sp>
      <p:sp>
        <p:nvSpPr>
          <p:cNvPr id="16" name="Shape 12"/>
          <p:cNvSpPr/>
          <p:nvPr/>
        </p:nvSpPr>
        <p:spPr>
          <a:xfrm>
            <a:off x="8211312" y="2121408"/>
            <a:ext cx="658368" cy="658368"/>
          </a:xfrm>
          <a:prstGeom prst="roundRect">
            <a:avLst>
              <a:gd name="adj" fmla="val 26000"/>
            </a:avLst>
          </a:prstGeom>
          <a:solidFill>
            <a:srgbClr val="8B5CF6"/>
          </a:solidFill>
        </p:spPr>
      </p:sp>
      <p:pic>
        <p:nvPicPr>
          <p:cNvPr id="17" name="Image 2" descr="assets/icon_sitemap_white.png"/>
          <p:cNvPicPr>
            <a:picLocks noChangeAspect="1"/>
          </p:cNvPicPr>
          <p:nvPr/>
        </p:nvPicPr>
        <p:blipFill>
          <a:blip r:embed="rId4"/>
          <a:stretch>
            <a:fillRect/>
          </a:stretch>
        </p:blipFill>
        <p:spPr>
          <a:xfrm>
            <a:off x="8408822" y="2318918"/>
            <a:ext cx="263347" cy="263347"/>
          </a:xfrm>
          <a:prstGeom prst="rect">
            <a:avLst/>
          </a:prstGeom>
        </p:spPr>
      </p:pic>
      <p:sp>
        <p:nvSpPr>
          <p:cNvPr id="18" name="Text 13"/>
          <p:cNvSpPr/>
          <p:nvPr/>
        </p:nvSpPr>
        <p:spPr>
          <a:xfrm>
            <a:off x="9006840" y="2157984"/>
            <a:ext cx="2286000" cy="548640"/>
          </a:xfrm>
          <a:prstGeom prst="rect">
            <a:avLst/>
          </a:prstGeom>
          <a:noFill/>
        </p:spPr>
        <p:txBody>
          <a:bodyPr wrap="square" lIns="0" tIns="0" rIns="0" bIns="0" rtlCol="0" anchor="ctr"/>
          <a:lstStyle/>
          <a:p>
            <a:pPr marL="0" indent="0">
              <a:buNone/>
            </a:pPr>
            <a:r>
              <a:rPr lang="en-US" sz="1550" b="1" dirty="0">
                <a:solidFill>
                  <a:srgbClr val="0D1B3E"/>
                </a:solidFill>
                <a:latin typeface="Calibri" panose="020F0502020204030204" pitchFamily="34" charset="0"/>
                <a:ea typeface="Calibri" panose="020F0502020204030204" pitchFamily="34" charset="-122"/>
                <a:cs typeface="Calibri" panose="020F0502020204030204" pitchFamily="34" charset="-120"/>
              </a:rPr>
              <a:t>Zone &amp; floor split</a:t>
            </a:r>
            <a:endParaRPr lang="en-US" sz="1550" dirty="0"/>
          </a:p>
        </p:txBody>
      </p:sp>
      <p:sp>
        <p:nvSpPr>
          <p:cNvPr id="19" name="Text 14"/>
          <p:cNvSpPr/>
          <p:nvPr/>
        </p:nvSpPr>
        <p:spPr>
          <a:xfrm>
            <a:off x="8211312" y="2907792"/>
            <a:ext cx="2926080" cy="685800"/>
          </a:xfrm>
          <a:prstGeom prst="rect">
            <a:avLst/>
          </a:prstGeom>
          <a:noFill/>
        </p:spPr>
        <p:txBody>
          <a:bodyPr wrap="square" lIns="0" tIns="0" rIns="0" bIns="0" rtlCol="0" anchor="ctr"/>
          <a:lstStyle/>
          <a:p>
            <a:pPr marL="0" indent="0">
              <a:lnSpc>
                <a:spcPts val="1500"/>
              </a:lnSpc>
              <a:buNone/>
            </a:pPr>
            <a:r>
              <a:rPr lang="en-US" sz="1150" dirty="0">
                <a:solidFill>
                  <a:srgbClr val="475569"/>
                </a:solidFill>
                <a:latin typeface="Calibri" panose="020F0502020204030204" pitchFamily="34" charset="0"/>
                <a:ea typeface="Calibri" panose="020F0502020204030204" pitchFamily="34" charset="-122"/>
                <a:cs typeface="Calibri" panose="020F0502020204030204" pitchFamily="34" charset="-120"/>
              </a:rPr>
              <a:t>Which areas drive after-hours usage.</a:t>
            </a:r>
            <a:endParaRPr lang="en-US" sz="1150" dirty="0"/>
          </a:p>
        </p:txBody>
      </p:sp>
      <p:sp>
        <p:nvSpPr>
          <p:cNvPr id="20" name="Shape 15"/>
          <p:cNvSpPr/>
          <p:nvPr/>
        </p:nvSpPr>
        <p:spPr>
          <a:xfrm>
            <a:off x="640080" y="3931920"/>
            <a:ext cx="6675120" cy="2240280"/>
          </a:xfrm>
          <a:prstGeom prst="roundRect">
            <a:avLst>
              <a:gd name="adj" fmla="val 4082"/>
            </a:avLst>
          </a:prstGeom>
          <a:solidFill>
            <a:srgbClr val="FFFFFF"/>
          </a:solidFill>
          <a:effectLst>
            <a:outerShdw blurRad="101600" dist="25400" dir="5400000" algn="bl" rotWithShape="0">
              <a:srgbClr val="94A3B8">
                <a:alpha val="28000"/>
              </a:srgbClr>
            </a:outerShdw>
          </a:effectLst>
        </p:spPr>
      </p:sp>
      <p:sp>
        <p:nvSpPr>
          <p:cNvPr id="21" name="Text 16"/>
          <p:cNvSpPr/>
          <p:nvPr/>
        </p:nvSpPr>
        <p:spPr>
          <a:xfrm>
            <a:off x="914400" y="4114800"/>
            <a:ext cx="6217920" cy="310896"/>
          </a:xfrm>
          <a:prstGeom prst="rect">
            <a:avLst/>
          </a:prstGeom>
          <a:noFill/>
        </p:spPr>
        <p:txBody>
          <a:bodyPr wrap="square" lIns="0" tIns="0" rIns="0" bIns="0" rtlCol="0" anchor="ctr"/>
          <a:lstStyle/>
          <a:p>
            <a:pPr marL="0" indent="0">
              <a:buNone/>
            </a:pPr>
            <a:r>
              <a:rPr lang="en-US" sz="1300" b="1" dirty="0">
                <a:solidFill>
                  <a:srgbClr val="0D1B3E"/>
                </a:solidFill>
                <a:latin typeface="Calibri" panose="020F0502020204030204" pitchFamily="34" charset="0"/>
                <a:ea typeface="Calibri" panose="020F0502020204030204" pitchFamily="34" charset="-122"/>
                <a:cs typeface="Calibri" panose="020F0502020204030204" pitchFamily="34" charset="-120"/>
              </a:rPr>
              <a:t>After-Hours Headcount by Floor (post 7 PM, weekly avg)</a:t>
            </a:r>
            <a:endParaRPr lang="en-US" sz="1300" dirty="0"/>
          </a:p>
        </p:txBody>
      </p:sp>
      <p:graphicFrame>
        <p:nvGraphicFramePr>
          <p:cNvPr id="22" name="Chart 0"/>
          <p:cNvGraphicFramePr/>
          <p:nvPr/>
        </p:nvGraphicFramePr>
        <p:xfrm>
          <a:off x="868680" y="4480560"/>
          <a:ext cx="6263640" cy="1554480"/>
        </p:xfrm>
        <a:graphic>
          <a:graphicData uri="http://schemas.openxmlformats.org/drawingml/2006/chart">
            <c:chart xmlns:c="http://schemas.openxmlformats.org/drawingml/2006/chart" xmlns:r="http://schemas.openxmlformats.org/officeDocument/2006/relationships" r:id="rId1"/>
          </a:graphicData>
        </a:graphic>
      </p:graphicFrame>
      <p:sp>
        <p:nvSpPr>
          <p:cNvPr id="23" name="Shape 17"/>
          <p:cNvSpPr/>
          <p:nvPr/>
        </p:nvSpPr>
        <p:spPr>
          <a:xfrm>
            <a:off x="7498080" y="3931920"/>
            <a:ext cx="4023360" cy="2240280"/>
          </a:xfrm>
          <a:prstGeom prst="roundRect">
            <a:avLst>
              <a:gd name="adj" fmla="val 4898"/>
            </a:avLst>
          </a:prstGeom>
          <a:solidFill>
            <a:srgbClr val="0D1B3E"/>
          </a:solidFill>
          <a:effectLst>
            <a:outerShdw blurRad="165100" dist="50800" dir="5400000" algn="bl" rotWithShape="0">
              <a:srgbClr val="0D1B3E">
                <a:alpha val="32000"/>
              </a:srgbClr>
            </a:outerShdw>
          </a:effectLst>
        </p:spPr>
      </p:sp>
      <p:sp>
        <p:nvSpPr>
          <p:cNvPr id="24" name="Text 18"/>
          <p:cNvSpPr/>
          <p:nvPr/>
        </p:nvSpPr>
        <p:spPr>
          <a:xfrm>
            <a:off x="7772400" y="4114800"/>
            <a:ext cx="3474720" cy="274320"/>
          </a:xfrm>
          <a:prstGeom prst="rect">
            <a:avLst/>
          </a:prstGeom>
          <a:noFill/>
        </p:spPr>
        <p:txBody>
          <a:bodyPr wrap="square" lIns="0" tIns="0" rIns="0" bIns="0" rtlCol="0" anchor="ctr"/>
          <a:lstStyle/>
          <a:p>
            <a:pPr marL="0" indent="0">
              <a:buNone/>
            </a:pPr>
            <a:r>
              <a:rPr lang="en-US" sz="1100" b="1" kern="0" spc="200" dirty="0">
                <a:solidFill>
                  <a:srgbClr val="7DA3FF"/>
                </a:solidFill>
                <a:latin typeface="Calibri" panose="020F0502020204030204" pitchFamily="34" charset="0"/>
                <a:ea typeface="Calibri" panose="020F0502020204030204" pitchFamily="34" charset="-122"/>
                <a:cs typeface="Calibri" panose="020F0502020204030204" pitchFamily="34" charset="-120"/>
              </a:rPr>
              <a:t>WHY IT MATTERS</a:t>
            </a:r>
            <a:endParaRPr lang="en-US" sz="1100" dirty="0"/>
          </a:p>
        </p:txBody>
      </p:sp>
      <p:pic>
        <p:nvPicPr>
          <p:cNvPr id="25" name="Image 3" descr="assets/icon_sitemap_white.png"/>
          <p:cNvPicPr>
            <a:picLocks noChangeAspect="1"/>
          </p:cNvPicPr>
          <p:nvPr/>
        </p:nvPicPr>
        <p:blipFill>
          <a:blip r:embed="rId4"/>
          <a:stretch>
            <a:fillRect/>
          </a:stretch>
        </p:blipFill>
        <p:spPr>
          <a:xfrm>
            <a:off x="7818120" y="4526280"/>
            <a:ext cx="274320" cy="274320"/>
          </a:xfrm>
          <a:prstGeom prst="rect">
            <a:avLst/>
          </a:prstGeom>
        </p:spPr>
      </p:pic>
      <p:sp>
        <p:nvSpPr>
          <p:cNvPr id="26" name="Text 19"/>
          <p:cNvSpPr/>
          <p:nvPr/>
        </p:nvSpPr>
        <p:spPr>
          <a:xfrm>
            <a:off x="8229600" y="4498848"/>
            <a:ext cx="3108960" cy="365760"/>
          </a:xfrm>
          <a:prstGeom prst="rect">
            <a:avLst/>
          </a:prstGeom>
          <a:noFill/>
        </p:spPr>
        <p:txBody>
          <a:bodyPr wrap="square" lIns="0" tIns="0" rIns="0" bIns="0" rtlCol="0" anchor="ctr"/>
          <a:lstStyle/>
          <a:p>
            <a:pPr marL="0" indent="0">
              <a:buNone/>
            </a:pPr>
            <a:r>
              <a:rPr lang="en-US" sz="1300" dirty="0">
                <a:solidFill>
                  <a:srgbClr val="EAF0FC"/>
                </a:solidFill>
                <a:latin typeface="Calibri" panose="020F0502020204030204" pitchFamily="34" charset="0"/>
                <a:ea typeface="Calibri" panose="020F0502020204030204" pitchFamily="34" charset="-122"/>
                <a:cs typeface="Calibri" panose="020F0502020204030204" pitchFamily="34" charset="-120"/>
              </a:rPr>
              <a:t>Workforce &amp; shift planning</a:t>
            </a:r>
            <a:endParaRPr lang="en-US" sz="1300" dirty="0"/>
          </a:p>
        </p:txBody>
      </p:sp>
      <p:pic>
        <p:nvPicPr>
          <p:cNvPr id="27" name="Image 4" descr="assets/icon_heart_white.png"/>
          <p:cNvPicPr>
            <a:picLocks noChangeAspect="1"/>
          </p:cNvPicPr>
          <p:nvPr/>
        </p:nvPicPr>
        <p:blipFill>
          <a:blip r:embed="rId5"/>
          <a:stretch>
            <a:fillRect/>
          </a:stretch>
        </p:blipFill>
        <p:spPr>
          <a:xfrm>
            <a:off x="7818120" y="5038344"/>
            <a:ext cx="274320" cy="274320"/>
          </a:xfrm>
          <a:prstGeom prst="rect">
            <a:avLst/>
          </a:prstGeom>
        </p:spPr>
      </p:pic>
      <p:sp>
        <p:nvSpPr>
          <p:cNvPr id="28" name="Text 20"/>
          <p:cNvSpPr/>
          <p:nvPr/>
        </p:nvSpPr>
        <p:spPr>
          <a:xfrm>
            <a:off x="8229600" y="5010912"/>
            <a:ext cx="3108960" cy="365760"/>
          </a:xfrm>
          <a:prstGeom prst="rect">
            <a:avLst/>
          </a:prstGeom>
          <a:noFill/>
        </p:spPr>
        <p:txBody>
          <a:bodyPr wrap="square" lIns="0" tIns="0" rIns="0" bIns="0" rtlCol="0" anchor="ctr"/>
          <a:lstStyle/>
          <a:p>
            <a:pPr marL="0" indent="0">
              <a:buNone/>
            </a:pPr>
            <a:r>
              <a:rPr lang="en-US" sz="1300" dirty="0">
                <a:solidFill>
                  <a:srgbClr val="EAF0FC"/>
                </a:solidFill>
                <a:latin typeface="Calibri" panose="020F0502020204030204" pitchFamily="34" charset="0"/>
                <a:ea typeface="Calibri" panose="020F0502020204030204" pitchFamily="34" charset="-122"/>
                <a:cs typeface="Calibri" panose="020F0502020204030204" pitchFamily="34" charset="-120"/>
              </a:rPr>
              <a:t>Employee wellbeing &amp; safety</a:t>
            </a:r>
            <a:endParaRPr lang="en-US" sz="1300" dirty="0"/>
          </a:p>
        </p:txBody>
      </p:sp>
      <p:pic>
        <p:nvPicPr>
          <p:cNvPr id="29" name="Image 5" descr="assets/icon_bolt2_white.png"/>
          <p:cNvPicPr>
            <a:picLocks noChangeAspect="1"/>
          </p:cNvPicPr>
          <p:nvPr/>
        </p:nvPicPr>
        <p:blipFill>
          <a:blip r:embed="rId6"/>
          <a:stretch>
            <a:fillRect/>
          </a:stretch>
        </p:blipFill>
        <p:spPr>
          <a:xfrm>
            <a:off x="7818120" y="5550408"/>
            <a:ext cx="274320" cy="274320"/>
          </a:xfrm>
          <a:prstGeom prst="rect">
            <a:avLst/>
          </a:prstGeom>
        </p:spPr>
      </p:pic>
      <p:sp>
        <p:nvSpPr>
          <p:cNvPr id="30" name="Text 21"/>
          <p:cNvSpPr/>
          <p:nvPr/>
        </p:nvSpPr>
        <p:spPr>
          <a:xfrm>
            <a:off x="8229600" y="5522976"/>
            <a:ext cx="3108960" cy="365760"/>
          </a:xfrm>
          <a:prstGeom prst="rect">
            <a:avLst/>
          </a:prstGeom>
          <a:noFill/>
        </p:spPr>
        <p:txBody>
          <a:bodyPr wrap="square" lIns="0" tIns="0" rIns="0" bIns="0" rtlCol="0" anchor="ctr"/>
          <a:lstStyle/>
          <a:p>
            <a:pPr marL="0" indent="0">
              <a:buNone/>
            </a:pPr>
            <a:r>
              <a:rPr lang="en-US" sz="1300" dirty="0">
                <a:solidFill>
                  <a:srgbClr val="EAF0FC"/>
                </a:solidFill>
                <a:latin typeface="Calibri" panose="020F0502020204030204" pitchFamily="34" charset="0"/>
                <a:ea typeface="Calibri" panose="020F0502020204030204" pitchFamily="34" charset="-122"/>
                <a:cs typeface="Calibri" panose="020F0502020204030204" pitchFamily="34" charset="-120"/>
              </a:rPr>
              <a:t>Energy &amp; HVAC optimization</a:t>
            </a:r>
            <a:endParaRPr lang="en-US" sz="1300" dirty="0"/>
          </a:p>
        </p:txBody>
      </p:sp>
      <p:pic>
        <p:nvPicPr>
          <p:cNvPr id="31" name="Image 6" descr="assets/logo_dark.png"/>
          <p:cNvPicPr>
            <a:picLocks noChangeAspect="1"/>
          </p:cNvPicPr>
          <p:nvPr/>
        </p:nvPicPr>
        <p:blipFill>
          <a:blip r:embed="rId7"/>
          <a:srcRect/>
          <a:stretch>
            <a:fillRect/>
          </a:stretch>
        </p:blipFill>
        <p:spPr>
          <a:xfrm>
            <a:off x="10317175" y="6400800"/>
            <a:ext cx="1280160" cy="214884"/>
          </a:xfrm>
          <a:prstGeom prst="rect">
            <a:avLst/>
          </a:prstGeom>
        </p:spPr>
      </p:pic>
      <p:sp>
        <p:nvSpPr>
          <p:cNvPr id="32" name="Text 22"/>
          <p:cNvSpPr/>
          <p:nvPr/>
        </p:nvSpPr>
        <p:spPr>
          <a:xfrm>
            <a:off x="640080" y="6382512"/>
            <a:ext cx="731520" cy="274320"/>
          </a:xfrm>
          <a:prstGeom prst="rect">
            <a:avLst/>
          </a:prstGeom>
          <a:noFill/>
        </p:spPr>
        <p:txBody>
          <a:bodyPr wrap="square" lIns="0" tIns="0" rIns="0" bIns="0" rtlCol="0" anchor="ctr"/>
          <a:lstStyle/>
          <a:p>
            <a:pPr marL="0" indent="0">
              <a:buNone/>
            </a:pPr>
            <a:r>
              <a:rPr lang="en-US" sz="1100" b="1" dirty="0">
                <a:solidFill>
                  <a:srgbClr val="64748B"/>
                </a:solidFill>
                <a:latin typeface="Calibri" panose="020F0502020204030204" pitchFamily="34" charset="0"/>
                <a:ea typeface="Calibri" panose="020F0502020204030204" pitchFamily="34" charset="-122"/>
                <a:cs typeface="Calibri" panose="020F0502020204030204"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274320"/>
          </a:xfrm>
          <a:prstGeom prst="rect">
            <a:avLst/>
          </a:prstGeom>
          <a:noFill/>
        </p:spPr>
        <p:txBody>
          <a:bodyPr wrap="square" lIns="0" tIns="0" rIns="0" bIns="0" rtlCol="0" anchor="ctr"/>
          <a:lstStyle/>
          <a:p>
            <a:pPr marL="0" indent="0">
              <a:buNone/>
            </a:pPr>
            <a:r>
              <a:rPr lang="en-US" sz="1200" b="1" kern="0" spc="300" dirty="0">
                <a:solidFill>
                  <a:srgbClr val="D62B2B"/>
                </a:solidFill>
                <a:latin typeface="Calibri" panose="020F0502020204030204" pitchFamily="34" charset="0"/>
                <a:ea typeface="Calibri" panose="020F0502020204030204" pitchFamily="34" charset="-122"/>
                <a:cs typeface="Calibri" panose="020F0502020204030204" pitchFamily="34" charset="-120"/>
              </a:rPr>
              <a:t>USE CASE</a:t>
            </a:r>
            <a:endParaRPr lang="en-US" sz="1200" dirty="0"/>
          </a:p>
        </p:txBody>
      </p:sp>
      <p:sp>
        <p:nvSpPr>
          <p:cNvPr id="3" name="Text 1"/>
          <p:cNvSpPr/>
          <p:nvPr/>
        </p:nvSpPr>
        <p:spPr>
          <a:xfrm>
            <a:off x="640080" y="740664"/>
            <a:ext cx="7772400" cy="603504"/>
          </a:xfrm>
          <a:prstGeom prst="rect">
            <a:avLst/>
          </a:prstGeom>
          <a:noFill/>
        </p:spPr>
        <p:txBody>
          <a:bodyPr wrap="square" lIns="0" tIns="0" rIns="0" bIns="0" rtlCol="0" anchor="ctr"/>
          <a:lstStyle/>
          <a:p>
            <a:pPr marL="0" indent="0">
              <a:buNone/>
            </a:pPr>
            <a:r>
              <a:rPr lang="en-US" sz="2900" b="1" dirty="0">
                <a:solidFill>
                  <a:srgbClr val="0D1B3E"/>
                </a:solidFill>
                <a:latin typeface="Calibri" panose="020F0502020204030204" pitchFamily="34" charset="0"/>
                <a:ea typeface="Calibri" panose="020F0502020204030204" pitchFamily="34" charset="-122"/>
                <a:cs typeface="Calibri" panose="020F0502020204030204" pitchFamily="34" charset="-120"/>
              </a:rPr>
              <a:t>Meeting Room Utilization</a:t>
            </a:r>
            <a:endParaRPr lang="en-US" sz="2900" dirty="0"/>
          </a:p>
        </p:txBody>
      </p:sp>
      <p:sp>
        <p:nvSpPr>
          <p:cNvPr id="4" name="Shape 2"/>
          <p:cNvSpPr/>
          <p:nvPr/>
        </p:nvSpPr>
        <p:spPr>
          <a:xfrm>
            <a:off x="585216" y="1517904"/>
            <a:ext cx="6830568" cy="4590288"/>
          </a:xfrm>
          <a:prstGeom prst="roundRect">
            <a:avLst>
              <a:gd name="adj" fmla="val 1992"/>
            </a:avLst>
          </a:prstGeom>
          <a:solidFill>
            <a:srgbClr val="FFFFFF"/>
          </a:solidFill>
          <a:effectLst>
            <a:outerShdw blurRad="165100" dist="50800" dir="5400000" algn="bl" rotWithShape="0">
              <a:srgbClr val="0D1B3E">
                <a:alpha val="32000"/>
              </a:srgbClr>
            </a:outerShdw>
          </a:effectLst>
        </p:spPr>
      </p:sp>
      <p:pic>
        <p:nvPicPr>
          <p:cNvPr id="5" name="Image 0" descr="assets/mtg_m01.png"/>
          <p:cNvPicPr>
            <a:picLocks noChangeAspect="1"/>
          </p:cNvPicPr>
          <p:nvPr/>
        </p:nvPicPr>
        <p:blipFill>
          <a:blip r:embed="rId1"/>
          <a:srcRect/>
          <a:stretch>
            <a:fillRect/>
          </a:stretch>
        </p:blipFill>
        <p:spPr>
          <a:xfrm>
            <a:off x="640080" y="1572768"/>
            <a:ext cx="6720840" cy="4480560"/>
          </a:xfrm>
          <a:prstGeom prst="rect">
            <a:avLst/>
          </a:prstGeom>
        </p:spPr>
      </p:pic>
      <p:sp>
        <p:nvSpPr>
          <p:cNvPr id="6" name="Shape 3"/>
          <p:cNvSpPr/>
          <p:nvPr/>
        </p:nvSpPr>
        <p:spPr>
          <a:xfrm>
            <a:off x="868680" y="5532120"/>
            <a:ext cx="2926080" cy="384048"/>
          </a:xfrm>
          <a:prstGeom prst="roundRect">
            <a:avLst>
              <a:gd name="adj" fmla="val 19048"/>
            </a:avLst>
          </a:prstGeom>
          <a:solidFill>
            <a:srgbClr val="0D1B3E"/>
          </a:solidFill>
        </p:spPr>
      </p:sp>
      <p:sp>
        <p:nvSpPr>
          <p:cNvPr id="7" name="Text 4"/>
          <p:cNvSpPr/>
          <p:nvPr/>
        </p:nvSpPr>
        <p:spPr>
          <a:xfrm>
            <a:off x="868680" y="5541264"/>
            <a:ext cx="2926080" cy="365760"/>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Live room occupancy detection</a:t>
            </a:r>
            <a:endParaRPr lang="en-US" sz="1100" dirty="0"/>
          </a:p>
        </p:txBody>
      </p:sp>
      <p:sp>
        <p:nvSpPr>
          <p:cNvPr id="8" name="Shape 5"/>
          <p:cNvSpPr/>
          <p:nvPr/>
        </p:nvSpPr>
        <p:spPr>
          <a:xfrm>
            <a:off x="7635240" y="2286000"/>
            <a:ext cx="3931920" cy="0"/>
          </a:xfrm>
          <a:prstGeom prst="line">
            <a:avLst/>
          </a:prstGeom>
          <a:noFill/>
          <a:ln w="12700">
            <a:solidFill>
              <a:srgbClr val="E2E8F0"/>
            </a:solidFill>
            <a:prstDash val="solid"/>
          </a:ln>
        </p:spPr>
      </p:sp>
      <p:sp>
        <p:nvSpPr>
          <p:cNvPr id="9" name="Shape 6"/>
          <p:cNvSpPr/>
          <p:nvPr/>
        </p:nvSpPr>
        <p:spPr>
          <a:xfrm>
            <a:off x="7635240" y="1636776"/>
            <a:ext cx="530352" cy="530352"/>
          </a:xfrm>
          <a:prstGeom prst="ellipse">
            <a:avLst/>
          </a:prstGeom>
          <a:solidFill>
            <a:srgbClr val="2563EB"/>
          </a:solidFill>
        </p:spPr>
      </p:sp>
      <p:pic>
        <p:nvPicPr>
          <p:cNvPr id="10" name="Image 1" descr="assets/icon_doorOpen_white.png"/>
          <p:cNvPicPr>
            <a:picLocks noChangeAspect="1"/>
          </p:cNvPicPr>
          <p:nvPr/>
        </p:nvPicPr>
        <p:blipFill>
          <a:blip r:embed="rId2"/>
          <a:stretch>
            <a:fillRect/>
          </a:stretch>
        </p:blipFill>
        <p:spPr>
          <a:xfrm>
            <a:off x="7783739" y="1785275"/>
            <a:ext cx="233355" cy="233355"/>
          </a:xfrm>
          <a:prstGeom prst="rect">
            <a:avLst/>
          </a:prstGeom>
        </p:spPr>
      </p:pic>
      <p:sp>
        <p:nvSpPr>
          <p:cNvPr id="11" name="Text 7"/>
          <p:cNvSpPr/>
          <p:nvPr/>
        </p:nvSpPr>
        <p:spPr>
          <a:xfrm>
            <a:off x="8311896" y="1591056"/>
            <a:ext cx="3255264" cy="292608"/>
          </a:xfrm>
          <a:prstGeom prst="rect">
            <a:avLst/>
          </a:prstGeom>
          <a:noFill/>
        </p:spPr>
        <p:txBody>
          <a:bodyPr wrap="square" lIns="0" tIns="0" rIns="0" bIns="0" rtlCol="0" anchor="ctr"/>
          <a:lstStyle/>
          <a:p>
            <a:pPr marL="0" indent="0">
              <a:buNone/>
            </a:pPr>
            <a:r>
              <a:rPr lang="en-US" sz="1350" b="1" dirty="0">
                <a:solidFill>
                  <a:srgbClr val="0D1B3E"/>
                </a:solidFill>
                <a:latin typeface="Calibri" panose="020F0502020204030204" pitchFamily="34" charset="0"/>
                <a:ea typeface="Calibri" panose="020F0502020204030204" pitchFamily="34" charset="-122"/>
                <a:cs typeface="Calibri" panose="020F0502020204030204" pitchFamily="34" charset="-120"/>
              </a:rPr>
              <a:t>Room occupancy</a:t>
            </a:r>
            <a:endParaRPr lang="en-US" sz="1350" dirty="0"/>
          </a:p>
        </p:txBody>
      </p:sp>
      <p:sp>
        <p:nvSpPr>
          <p:cNvPr id="12" name="Text 8"/>
          <p:cNvSpPr/>
          <p:nvPr/>
        </p:nvSpPr>
        <p:spPr>
          <a:xfrm>
            <a:off x="8311896" y="1892808"/>
            <a:ext cx="3255264" cy="329184"/>
          </a:xfrm>
          <a:prstGeom prst="rect">
            <a:avLst/>
          </a:prstGeom>
          <a:noFill/>
        </p:spPr>
        <p:txBody>
          <a:bodyPr wrap="square" lIns="0" tIns="0" rIns="0" bIns="0" rtlCol="0" anchor="ctr"/>
          <a:lstStyle/>
          <a:p>
            <a:pPr marL="0" indent="0">
              <a:lnSpc>
                <a:spcPts val="1300"/>
              </a:lnSpc>
              <a:buNone/>
            </a:pPr>
            <a:r>
              <a:rPr lang="en-US" sz="1080" dirty="0">
                <a:solidFill>
                  <a:srgbClr val="475569"/>
                </a:solidFill>
                <a:latin typeface="Calibri" panose="020F0502020204030204" pitchFamily="34" charset="0"/>
                <a:ea typeface="Calibri" panose="020F0502020204030204" pitchFamily="34" charset="-122"/>
                <a:cs typeface="Calibri" panose="020F0502020204030204" pitchFamily="34" charset="-120"/>
              </a:rPr>
              <a:t>Occupied vs free, in real time.</a:t>
            </a:r>
            <a:endParaRPr lang="en-US" sz="1080" dirty="0"/>
          </a:p>
        </p:txBody>
      </p:sp>
      <p:sp>
        <p:nvSpPr>
          <p:cNvPr id="13" name="Shape 9"/>
          <p:cNvSpPr/>
          <p:nvPr/>
        </p:nvSpPr>
        <p:spPr>
          <a:xfrm>
            <a:off x="7635240" y="3044952"/>
            <a:ext cx="3931920" cy="0"/>
          </a:xfrm>
          <a:prstGeom prst="line">
            <a:avLst/>
          </a:prstGeom>
          <a:noFill/>
          <a:ln w="12700">
            <a:solidFill>
              <a:srgbClr val="E2E8F0"/>
            </a:solidFill>
            <a:prstDash val="solid"/>
          </a:ln>
        </p:spPr>
      </p:sp>
      <p:sp>
        <p:nvSpPr>
          <p:cNvPr id="14" name="Shape 10"/>
          <p:cNvSpPr/>
          <p:nvPr/>
        </p:nvSpPr>
        <p:spPr>
          <a:xfrm>
            <a:off x="7635240" y="2395728"/>
            <a:ext cx="530352" cy="530352"/>
          </a:xfrm>
          <a:prstGeom prst="ellipse">
            <a:avLst/>
          </a:prstGeom>
          <a:solidFill>
            <a:srgbClr val="0D9488"/>
          </a:solidFill>
        </p:spPr>
      </p:sp>
      <p:pic>
        <p:nvPicPr>
          <p:cNvPr id="15" name="Image 2" descr="assets/icon_peopleGroup_white.png"/>
          <p:cNvPicPr>
            <a:picLocks noChangeAspect="1"/>
          </p:cNvPicPr>
          <p:nvPr/>
        </p:nvPicPr>
        <p:blipFill>
          <a:blip r:embed="rId3"/>
          <a:stretch>
            <a:fillRect/>
          </a:stretch>
        </p:blipFill>
        <p:spPr>
          <a:xfrm>
            <a:off x="7783739" y="2544227"/>
            <a:ext cx="233355" cy="233355"/>
          </a:xfrm>
          <a:prstGeom prst="rect">
            <a:avLst/>
          </a:prstGeom>
        </p:spPr>
      </p:pic>
      <p:sp>
        <p:nvSpPr>
          <p:cNvPr id="16" name="Text 11"/>
          <p:cNvSpPr/>
          <p:nvPr/>
        </p:nvSpPr>
        <p:spPr>
          <a:xfrm>
            <a:off x="8311896" y="2350008"/>
            <a:ext cx="3255264" cy="292608"/>
          </a:xfrm>
          <a:prstGeom prst="rect">
            <a:avLst/>
          </a:prstGeom>
          <a:noFill/>
        </p:spPr>
        <p:txBody>
          <a:bodyPr wrap="square" lIns="0" tIns="0" rIns="0" bIns="0" rtlCol="0" anchor="ctr"/>
          <a:lstStyle/>
          <a:p>
            <a:pPr marL="0" indent="0">
              <a:buNone/>
            </a:pPr>
            <a:r>
              <a:rPr lang="en-US" sz="1350" b="1" dirty="0">
                <a:solidFill>
                  <a:srgbClr val="0D1B3E"/>
                </a:solidFill>
                <a:latin typeface="Calibri" panose="020F0502020204030204" pitchFamily="34" charset="0"/>
                <a:ea typeface="Calibri" panose="020F0502020204030204" pitchFamily="34" charset="-122"/>
                <a:cs typeface="Calibri" panose="020F0502020204030204" pitchFamily="34" charset="-120"/>
              </a:rPr>
              <a:t>Attendee count</a:t>
            </a:r>
            <a:endParaRPr lang="en-US" sz="1350" dirty="0"/>
          </a:p>
        </p:txBody>
      </p:sp>
      <p:sp>
        <p:nvSpPr>
          <p:cNvPr id="17" name="Text 12"/>
          <p:cNvSpPr/>
          <p:nvPr/>
        </p:nvSpPr>
        <p:spPr>
          <a:xfrm>
            <a:off x="8311896" y="2651760"/>
            <a:ext cx="3255264" cy="329184"/>
          </a:xfrm>
          <a:prstGeom prst="rect">
            <a:avLst/>
          </a:prstGeom>
          <a:noFill/>
        </p:spPr>
        <p:txBody>
          <a:bodyPr wrap="square" lIns="0" tIns="0" rIns="0" bIns="0" rtlCol="0" anchor="ctr"/>
          <a:lstStyle/>
          <a:p>
            <a:pPr marL="0" indent="0">
              <a:lnSpc>
                <a:spcPts val="1300"/>
              </a:lnSpc>
              <a:buNone/>
            </a:pPr>
            <a:r>
              <a:rPr lang="en-US" sz="1080" dirty="0">
                <a:solidFill>
                  <a:srgbClr val="475569"/>
                </a:solidFill>
                <a:latin typeface="Calibri" panose="020F0502020204030204" pitchFamily="34" charset="0"/>
                <a:ea typeface="Calibri" panose="020F0502020204030204" pitchFamily="34" charset="-122"/>
                <a:cs typeface="Calibri" panose="020F0502020204030204" pitchFamily="34" charset="-120"/>
              </a:rPr>
              <a:t>How many seats are actually used.</a:t>
            </a:r>
            <a:endParaRPr lang="en-US" sz="1080" dirty="0"/>
          </a:p>
        </p:txBody>
      </p:sp>
      <p:sp>
        <p:nvSpPr>
          <p:cNvPr id="18" name="Shape 13"/>
          <p:cNvSpPr/>
          <p:nvPr/>
        </p:nvSpPr>
        <p:spPr>
          <a:xfrm>
            <a:off x="7635240" y="3803904"/>
            <a:ext cx="3931920" cy="0"/>
          </a:xfrm>
          <a:prstGeom prst="line">
            <a:avLst/>
          </a:prstGeom>
          <a:noFill/>
          <a:ln w="12700">
            <a:solidFill>
              <a:srgbClr val="E2E8F0"/>
            </a:solidFill>
            <a:prstDash val="solid"/>
          </a:ln>
        </p:spPr>
      </p:sp>
      <p:sp>
        <p:nvSpPr>
          <p:cNvPr id="19" name="Shape 14"/>
          <p:cNvSpPr/>
          <p:nvPr/>
        </p:nvSpPr>
        <p:spPr>
          <a:xfrm>
            <a:off x="7635240" y="3154680"/>
            <a:ext cx="530352" cy="530352"/>
          </a:xfrm>
          <a:prstGeom prst="ellipse">
            <a:avLst/>
          </a:prstGeom>
          <a:solidFill>
            <a:srgbClr val="D97706"/>
          </a:solidFill>
        </p:spPr>
      </p:sp>
      <p:pic>
        <p:nvPicPr>
          <p:cNvPr id="20" name="Image 3" descr="assets/icon_fire_white.png"/>
          <p:cNvPicPr>
            <a:picLocks noChangeAspect="1"/>
          </p:cNvPicPr>
          <p:nvPr/>
        </p:nvPicPr>
        <p:blipFill>
          <a:blip r:embed="rId4"/>
          <a:stretch>
            <a:fillRect/>
          </a:stretch>
        </p:blipFill>
        <p:spPr>
          <a:xfrm>
            <a:off x="7783739" y="3303179"/>
            <a:ext cx="233355" cy="233355"/>
          </a:xfrm>
          <a:prstGeom prst="rect">
            <a:avLst/>
          </a:prstGeom>
        </p:spPr>
      </p:pic>
      <p:sp>
        <p:nvSpPr>
          <p:cNvPr id="21" name="Text 15"/>
          <p:cNvSpPr/>
          <p:nvPr/>
        </p:nvSpPr>
        <p:spPr>
          <a:xfrm>
            <a:off x="8311896" y="3108960"/>
            <a:ext cx="3255264" cy="292608"/>
          </a:xfrm>
          <a:prstGeom prst="rect">
            <a:avLst/>
          </a:prstGeom>
          <a:noFill/>
        </p:spPr>
        <p:txBody>
          <a:bodyPr wrap="square" lIns="0" tIns="0" rIns="0" bIns="0" rtlCol="0" anchor="ctr"/>
          <a:lstStyle/>
          <a:p>
            <a:pPr marL="0" indent="0">
              <a:buNone/>
            </a:pPr>
            <a:r>
              <a:rPr lang="en-US" sz="1350" b="1" dirty="0">
                <a:solidFill>
                  <a:srgbClr val="0D1B3E"/>
                </a:solidFill>
                <a:latin typeface="Calibri" panose="020F0502020204030204" pitchFamily="34" charset="0"/>
                <a:ea typeface="Calibri" panose="020F0502020204030204" pitchFamily="34" charset="-122"/>
                <a:cs typeface="Calibri" panose="020F0502020204030204" pitchFamily="34" charset="-120"/>
              </a:rPr>
              <a:t>Peak meeting hours</a:t>
            </a:r>
            <a:endParaRPr lang="en-US" sz="1350" dirty="0"/>
          </a:p>
        </p:txBody>
      </p:sp>
      <p:sp>
        <p:nvSpPr>
          <p:cNvPr id="22" name="Text 16"/>
          <p:cNvSpPr/>
          <p:nvPr/>
        </p:nvSpPr>
        <p:spPr>
          <a:xfrm>
            <a:off x="8311896" y="3410712"/>
            <a:ext cx="3255264" cy="329184"/>
          </a:xfrm>
          <a:prstGeom prst="rect">
            <a:avLst/>
          </a:prstGeom>
          <a:noFill/>
        </p:spPr>
        <p:txBody>
          <a:bodyPr wrap="square" lIns="0" tIns="0" rIns="0" bIns="0" rtlCol="0" anchor="ctr"/>
          <a:lstStyle/>
          <a:p>
            <a:pPr marL="0" indent="0">
              <a:lnSpc>
                <a:spcPts val="1300"/>
              </a:lnSpc>
              <a:buNone/>
            </a:pPr>
            <a:r>
              <a:rPr lang="en-US" sz="1080" dirty="0">
                <a:solidFill>
                  <a:srgbClr val="475569"/>
                </a:solidFill>
                <a:latin typeface="Calibri" panose="020F0502020204030204" pitchFamily="34" charset="0"/>
                <a:ea typeface="Calibri" panose="020F0502020204030204" pitchFamily="34" charset="-122"/>
                <a:cs typeface="Calibri" panose="020F0502020204030204" pitchFamily="34" charset="-120"/>
              </a:rPr>
              <a:t>When demand for rooms spikes.</a:t>
            </a:r>
            <a:endParaRPr lang="en-US" sz="1080" dirty="0"/>
          </a:p>
        </p:txBody>
      </p:sp>
      <p:sp>
        <p:nvSpPr>
          <p:cNvPr id="23" name="Shape 17"/>
          <p:cNvSpPr/>
          <p:nvPr/>
        </p:nvSpPr>
        <p:spPr>
          <a:xfrm>
            <a:off x="7635240" y="4562856"/>
            <a:ext cx="3931920" cy="0"/>
          </a:xfrm>
          <a:prstGeom prst="line">
            <a:avLst/>
          </a:prstGeom>
          <a:noFill/>
          <a:ln w="12700">
            <a:solidFill>
              <a:srgbClr val="E2E8F0"/>
            </a:solidFill>
            <a:prstDash val="solid"/>
          </a:ln>
        </p:spPr>
      </p:sp>
      <p:sp>
        <p:nvSpPr>
          <p:cNvPr id="24" name="Shape 18"/>
          <p:cNvSpPr/>
          <p:nvPr/>
        </p:nvSpPr>
        <p:spPr>
          <a:xfrm>
            <a:off x="7635240" y="3913632"/>
            <a:ext cx="530352" cy="530352"/>
          </a:xfrm>
          <a:prstGeom prst="ellipse">
            <a:avLst/>
          </a:prstGeom>
          <a:solidFill>
            <a:srgbClr val="16A34A"/>
          </a:solidFill>
        </p:spPr>
      </p:sp>
      <p:pic>
        <p:nvPicPr>
          <p:cNvPr id="25" name="Image 4" descr="assets/icon_percent_white.png"/>
          <p:cNvPicPr>
            <a:picLocks noChangeAspect="1"/>
          </p:cNvPicPr>
          <p:nvPr/>
        </p:nvPicPr>
        <p:blipFill>
          <a:blip r:embed="rId5"/>
          <a:stretch>
            <a:fillRect/>
          </a:stretch>
        </p:blipFill>
        <p:spPr>
          <a:xfrm>
            <a:off x="7783739" y="4062131"/>
            <a:ext cx="233355" cy="233355"/>
          </a:xfrm>
          <a:prstGeom prst="rect">
            <a:avLst/>
          </a:prstGeom>
        </p:spPr>
      </p:pic>
      <p:sp>
        <p:nvSpPr>
          <p:cNvPr id="26" name="Text 19"/>
          <p:cNvSpPr/>
          <p:nvPr/>
        </p:nvSpPr>
        <p:spPr>
          <a:xfrm>
            <a:off x="8311896" y="3867912"/>
            <a:ext cx="3255264" cy="292608"/>
          </a:xfrm>
          <a:prstGeom prst="rect">
            <a:avLst/>
          </a:prstGeom>
          <a:noFill/>
        </p:spPr>
        <p:txBody>
          <a:bodyPr wrap="square" lIns="0" tIns="0" rIns="0" bIns="0" rtlCol="0" anchor="ctr"/>
          <a:lstStyle/>
          <a:p>
            <a:pPr marL="0" indent="0">
              <a:buNone/>
            </a:pPr>
            <a:r>
              <a:rPr lang="en-US" sz="1350" b="1" dirty="0">
                <a:solidFill>
                  <a:srgbClr val="0D1B3E"/>
                </a:solidFill>
                <a:latin typeface="Calibri" panose="020F0502020204030204" pitchFamily="34" charset="0"/>
                <a:ea typeface="Calibri" panose="020F0502020204030204" pitchFamily="34" charset="-122"/>
                <a:cs typeface="Calibri" panose="020F0502020204030204" pitchFamily="34" charset="-120"/>
              </a:rPr>
              <a:t>Utilization %</a:t>
            </a:r>
            <a:endParaRPr lang="en-US" sz="1350" dirty="0"/>
          </a:p>
        </p:txBody>
      </p:sp>
      <p:sp>
        <p:nvSpPr>
          <p:cNvPr id="27" name="Text 20"/>
          <p:cNvSpPr/>
          <p:nvPr/>
        </p:nvSpPr>
        <p:spPr>
          <a:xfrm>
            <a:off x="8311896" y="4169664"/>
            <a:ext cx="3255264" cy="329184"/>
          </a:xfrm>
          <a:prstGeom prst="rect">
            <a:avLst/>
          </a:prstGeom>
          <a:noFill/>
        </p:spPr>
        <p:txBody>
          <a:bodyPr wrap="square" lIns="0" tIns="0" rIns="0" bIns="0" rtlCol="0" anchor="ctr"/>
          <a:lstStyle/>
          <a:p>
            <a:pPr marL="0" indent="0">
              <a:lnSpc>
                <a:spcPts val="1300"/>
              </a:lnSpc>
              <a:buNone/>
            </a:pPr>
            <a:r>
              <a:rPr lang="en-US" sz="1080" dirty="0">
                <a:solidFill>
                  <a:srgbClr val="475569"/>
                </a:solidFill>
                <a:latin typeface="Calibri" panose="020F0502020204030204" pitchFamily="34" charset="0"/>
                <a:ea typeface="Calibri" panose="020F0502020204030204" pitchFamily="34" charset="-122"/>
                <a:cs typeface="Calibri" panose="020F0502020204030204" pitchFamily="34" charset="-120"/>
              </a:rPr>
              <a:t>Booked time vs actual usage.</a:t>
            </a:r>
            <a:endParaRPr lang="en-US" sz="1080" dirty="0"/>
          </a:p>
        </p:txBody>
      </p:sp>
      <p:sp>
        <p:nvSpPr>
          <p:cNvPr id="28" name="Shape 21"/>
          <p:cNvSpPr/>
          <p:nvPr/>
        </p:nvSpPr>
        <p:spPr>
          <a:xfrm>
            <a:off x="7635240" y="5321808"/>
            <a:ext cx="3931920" cy="0"/>
          </a:xfrm>
          <a:prstGeom prst="line">
            <a:avLst/>
          </a:prstGeom>
          <a:noFill/>
          <a:ln w="12700">
            <a:solidFill>
              <a:srgbClr val="E2E8F0"/>
            </a:solidFill>
            <a:prstDash val="solid"/>
          </a:ln>
        </p:spPr>
      </p:sp>
      <p:sp>
        <p:nvSpPr>
          <p:cNvPr id="29" name="Shape 22"/>
          <p:cNvSpPr/>
          <p:nvPr/>
        </p:nvSpPr>
        <p:spPr>
          <a:xfrm>
            <a:off x="7635240" y="4672584"/>
            <a:ext cx="530352" cy="530352"/>
          </a:xfrm>
          <a:prstGeom prst="ellipse">
            <a:avLst/>
          </a:prstGeom>
          <a:solidFill>
            <a:srgbClr val="D62B2B"/>
          </a:solidFill>
        </p:spPr>
      </p:sp>
      <p:pic>
        <p:nvPicPr>
          <p:cNvPr id="30" name="Image 5" descr="assets/icon_trophy_white.png"/>
          <p:cNvPicPr>
            <a:picLocks noChangeAspect="1"/>
          </p:cNvPicPr>
          <p:nvPr/>
        </p:nvPicPr>
        <p:blipFill>
          <a:blip r:embed="rId6"/>
          <a:stretch>
            <a:fillRect/>
          </a:stretch>
        </p:blipFill>
        <p:spPr>
          <a:xfrm>
            <a:off x="7783739" y="4821083"/>
            <a:ext cx="233355" cy="233355"/>
          </a:xfrm>
          <a:prstGeom prst="rect">
            <a:avLst/>
          </a:prstGeom>
        </p:spPr>
      </p:pic>
      <p:sp>
        <p:nvSpPr>
          <p:cNvPr id="31" name="Text 23"/>
          <p:cNvSpPr/>
          <p:nvPr/>
        </p:nvSpPr>
        <p:spPr>
          <a:xfrm>
            <a:off x="8311896" y="4626864"/>
            <a:ext cx="3255264" cy="292608"/>
          </a:xfrm>
          <a:prstGeom prst="rect">
            <a:avLst/>
          </a:prstGeom>
          <a:noFill/>
        </p:spPr>
        <p:txBody>
          <a:bodyPr wrap="square" lIns="0" tIns="0" rIns="0" bIns="0" rtlCol="0" anchor="ctr"/>
          <a:lstStyle/>
          <a:p>
            <a:pPr marL="0" indent="0">
              <a:buNone/>
            </a:pPr>
            <a:r>
              <a:rPr lang="en-US" sz="1350" b="1" dirty="0">
                <a:solidFill>
                  <a:srgbClr val="0D1B3E"/>
                </a:solidFill>
                <a:latin typeface="Calibri" panose="020F0502020204030204" pitchFamily="34" charset="0"/>
                <a:ea typeface="Calibri" panose="020F0502020204030204" pitchFamily="34" charset="-122"/>
                <a:cs typeface="Calibri" panose="020F0502020204030204" pitchFamily="34" charset="-120"/>
              </a:rPr>
              <a:t>Most-utilized rooms</a:t>
            </a:r>
            <a:endParaRPr lang="en-US" sz="1350" dirty="0"/>
          </a:p>
        </p:txBody>
      </p:sp>
      <p:sp>
        <p:nvSpPr>
          <p:cNvPr id="32" name="Text 24"/>
          <p:cNvSpPr/>
          <p:nvPr/>
        </p:nvSpPr>
        <p:spPr>
          <a:xfrm>
            <a:off x="8311896" y="4928616"/>
            <a:ext cx="3255264" cy="329184"/>
          </a:xfrm>
          <a:prstGeom prst="rect">
            <a:avLst/>
          </a:prstGeom>
          <a:noFill/>
        </p:spPr>
        <p:txBody>
          <a:bodyPr wrap="square" lIns="0" tIns="0" rIns="0" bIns="0" rtlCol="0" anchor="ctr"/>
          <a:lstStyle/>
          <a:p>
            <a:pPr marL="0" indent="0">
              <a:lnSpc>
                <a:spcPts val="1300"/>
              </a:lnSpc>
              <a:buNone/>
            </a:pPr>
            <a:r>
              <a:rPr lang="en-US" sz="1080" dirty="0">
                <a:solidFill>
                  <a:srgbClr val="475569"/>
                </a:solidFill>
                <a:latin typeface="Calibri" panose="020F0502020204030204" pitchFamily="34" charset="0"/>
                <a:ea typeface="Calibri" panose="020F0502020204030204" pitchFamily="34" charset="-122"/>
                <a:cs typeface="Calibri" panose="020F0502020204030204" pitchFamily="34" charset="-120"/>
              </a:rPr>
              <a:t>Spaces under genuine pressure.</a:t>
            </a:r>
            <a:endParaRPr lang="en-US" sz="1080" dirty="0"/>
          </a:p>
        </p:txBody>
      </p:sp>
      <p:sp>
        <p:nvSpPr>
          <p:cNvPr id="33" name="Shape 25"/>
          <p:cNvSpPr/>
          <p:nvPr/>
        </p:nvSpPr>
        <p:spPr>
          <a:xfrm>
            <a:off x="7635240" y="6080760"/>
            <a:ext cx="3931920" cy="0"/>
          </a:xfrm>
          <a:prstGeom prst="line">
            <a:avLst/>
          </a:prstGeom>
          <a:noFill/>
          <a:ln w="12700">
            <a:solidFill>
              <a:srgbClr val="E2E8F0"/>
            </a:solidFill>
            <a:prstDash val="solid"/>
          </a:ln>
        </p:spPr>
      </p:sp>
      <p:sp>
        <p:nvSpPr>
          <p:cNvPr id="34" name="Shape 26"/>
          <p:cNvSpPr/>
          <p:nvPr/>
        </p:nvSpPr>
        <p:spPr>
          <a:xfrm>
            <a:off x="7635240" y="5431536"/>
            <a:ext cx="530352" cy="530352"/>
          </a:xfrm>
          <a:prstGeom prst="ellipse">
            <a:avLst/>
          </a:prstGeom>
          <a:solidFill>
            <a:srgbClr val="8B5CF6"/>
          </a:solidFill>
        </p:spPr>
      </p:sp>
      <p:pic>
        <p:nvPicPr>
          <p:cNvPr id="35" name="Image 6" descr="assets/icon_arrowDown_white.png"/>
          <p:cNvPicPr>
            <a:picLocks noChangeAspect="1"/>
          </p:cNvPicPr>
          <p:nvPr/>
        </p:nvPicPr>
        <p:blipFill>
          <a:blip r:embed="rId7"/>
          <a:stretch>
            <a:fillRect/>
          </a:stretch>
        </p:blipFill>
        <p:spPr>
          <a:xfrm>
            <a:off x="7783739" y="5580035"/>
            <a:ext cx="233355" cy="233355"/>
          </a:xfrm>
          <a:prstGeom prst="rect">
            <a:avLst/>
          </a:prstGeom>
        </p:spPr>
      </p:pic>
      <p:sp>
        <p:nvSpPr>
          <p:cNvPr id="36" name="Text 27"/>
          <p:cNvSpPr/>
          <p:nvPr/>
        </p:nvSpPr>
        <p:spPr>
          <a:xfrm>
            <a:off x="8311896" y="5385816"/>
            <a:ext cx="3255264" cy="292608"/>
          </a:xfrm>
          <a:prstGeom prst="rect">
            <a:avLst/>
          </a:prstGeom>
          <a:noFill/>
        </p:spPr>
        <p:txBody>
          <a:bodyPr wrap="square" lIns="0" tIns="0" rIns="0" bIns="0" rtlCol="0" anchor="ctr"/>
          <a:lstStyle/>
          <a:p>
            <a:pPr marL="0" indent="0">
              <a:buNone/>
            </a:pPr>
            <a:r>
              <a:rPr lang="en-US" sz="1350" b="1" dirty="0">
                <a:solidFill>
                  <a:srgbClr val="0D1B3E"/>
                </a:solidFill>
                <a:latin typeface="Calibri" panose="020F0502020204030204" pitchFamily="34" charset="0"/>
                <a:ea typeface="Calibri" panose="020F0502020204030204" pitchFamily="34" charset="-122"/>
                <a:cs typeface="Calibri" panose="020F0502020204030204" pitchFamily="34" charset="-120"/>
              </a:rPr>
              <a:t>Least-utilized rooms</a:t>
            </a:r>
            <a:endParaRPr lang="en-US" sz="1350" dirty="0"/>
          </a:p>
        </p:txBody>
      </p:sp>
      <p:sp>
        <p:nvSpPr>
          <p:cNvPr id="37" name="Text 28"/>
          <p:cNvSpPr/>
          <p:nvPr/>
        </p:nvSpPr>
        <p:spPr>
          <a:xfrm>
            <a:off x="8311896" y="5687568"/>
            <a:ext cx="3255264" cy="329184"/>
          </a:xfrm>
          <a:prstGeom prst="rect">
            <a:avLst/>
          </a:prstGeom>
          <a:noFill/>
        </p:spPr>
        <p:txBody>
          <a:bodyPr wrap="square" lIns="0" tIns="0" rIns="0" bIns="0" rtlCol="0" anchor="ctr"/>
          <a:lstStyle/>
          <a:p>
            <a:pPr marL="0" indent="0">
              <a:lnSpc>
                <a:spcPts val="1300"/>
              </a:lnSpc>
              <a:buNone/>
            </a:pPr>
            <a:r>
              <a:rPr lang="en-US" sz="1080" dirty="0">
                <a:solidFill>
                  <a:srgbClr val="475569"/>
                </a:solidFill>
                <a:latin typeface="Calibri" panose="020F0502020204030204" pitchFamily="34" charset="0"/>
                <a:ea typeface="Calibri" panose="020F0502020204030204" pitchFamily="34" charset="-122"/>
                <a:cs typeface="Calibri" panose="020F0502020204030204" pitchFamily="34" charset="-120"/>
              </a:rPr>
              <a:t>Candidates to repurpose.</a:t>
            </a:r>
            <a:endParaRPr lang="en-US" sz="1080" dirty="0"/>
          </a:p>
        </p:txBody>
      </p:sp>
      <p:pic>
        <p:nvPicPr>
          <p:cNvPr id="38" name="Image 7" descr="assets/logo_dark.png"/>
          <p:cNvPicPr>
            <a:picLocks noChangeAspect="1"/>
          </p:cNvPicPr>
          <p:nvPr/>
        </p:nvPicPr>
        <p:blipFill>
          <a:blip r:embed="rId8"/>
          <a:srcRect/>
          <a:stretch>
            <a:fillRect/>
          </a:stretch>
        </p:blipFill>
        <p:spPr>
          <a:xfrm>
            <a:off x="10317175" y="6400800"/>
            <a:ext cx="1280160" cy="214884"/>
          </a:xfrm>
          <a:prstGeom prst="rect">
            <a:avLst/>
          </a:prstGeom>
        </p:spPr>
      </p:pic>
      <p:sp>
        <p:nvSpPr>
          <p:cNvPr id="39" name="Text 29"/>
          <p:cNvSpPr/>
          <p:nvPr/>
        </p:nvSpPr>
        <p:spPr>
          <a:xfrm>
            <a:off x="640080" y="6382512"/>
            <a:ext cx="731520" cy="274320"/>
          </a:xfrm>
          <a:prstGeom prst="rect">
            <a:avLst/>
          </a:prstGeom>
          <a:noFill/>
        </p:spPr>
        <p:txBody>
          <a:bodyPr wrap="square" lIns="0" tIns="0" rIns="0" bIns="0" rtlCol="0" anchor="ctr"/>
          <a:lstStyle/>
          <a:p>
            <a:pPr marL="0" indent="0">
              <a:buNone/>
            </a:pPr>
            <a:r>
              <a:rPr lang="en-US" sz="1100" b="1" dirty="0">
                <a:solidFill>
                  <a:srgbClr val="64748B"/>
                </a:solidFill>
                <a:latin typeface="Calibri" panose="020F0502020204030204" pitchFamily="34" charset="0"/>
                <a:ea typeface="Calibri" panose="020F0502020204030204" pitchFamily="34" charset="-122"/>
                <a:cs typeface="Calibri" panose="020F0502020204030204"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640080" y="457200"/>
            <a:ext cx="10515600" cy="274320"/>
          </a:xfrm>
          <a:prstGeom prst="rect">
            <a:avLst/>
          </a:prstGeom>
          <a:noFill/>
        </p:spPr>
        <p:txBody>
          <a:bodyPr wrap="square" lIns="0" tIns="0" rIns="0" bIns="0" rtlCol="0" anchor="ctr"/>
          <a:lstStyle/>
          <a:p>
            <a:pPr marL="0" indent="0">
              <a:buNone/>
            </a:pPr>
            <a:r>
              <a:rPr lang="en-US" sz="1200" b="1" kern="0" spc="300" dirty="0">
                <a:solidFill>
                  <a:srgbClr val="D62B2B"/>
                </a:solidFill>
                <a:latin typeface="Calibri" panose="020F0502020204030204" pitchFamily="34" charset="0"/>
                <a:ea typeface="Calibri" panose="020F0502020204030204" pitchFamily="34" charset="-122"/>
                <a:cs typeface="Calibri" panose="020F0502020204030204" pitchFamily="34" charset="-120"/>
              </a:rPr>
              <a:t>MEETING ANALYTICS</a:t>
            </a:r>
            <a:endParaRPr lang="en-US" sz="1200" dirty="0"/>
          </a:p>
        </p:txBody>
      </p:sp>
      <p:sp>
        <p:nvSpPr>
          <p:cNvPr id="3" name="Text 1"/>
          <p:cNvSpPr/>
          <p:nvPr/>
        </p:nvSpPr>
        <p:spPr>
          <a:xfrm>
            <a:off x="640080" y="740664"/>
            <a:ext cx="10972800" cy="603504"/>
          </a:xfrm>
          <a:prstGeom prst="rect">
            <a:avLst/>
          </a:prstGeom>
          <a:noFill/>
        </p:spPr>
        <p:txBody>
          <a:bodyPr wrap="square" lIns="0" tIns="0" rIns="0" bIns="0" rtlCol="0" anchor="ctr"/>
          <a:lstStyle/>
          <a:p>
            <a:pPr marL="0" indent="0">
              <a:buNone/>
            </a:pPr>
            <a:r>
              <a:rPr lang="en-US" sz="2900" b="1" dirty="0">
                <a:solidFill>
                  <a:srgbClr val="0D1B3E"/>
                </a:solidFill>
                <a:latin typeface="Calibri" panose="020F0502020204030204" pitchFamily="34" charset="0"/>
                <a:ea typeface="Calibri" panose="020F0502020204030204" pitchFamily="34" charset="-122"/>
                <a:cs typeface="Calibri" panose="020F0502020204030204" pitchFamily="34" charset="-120"/>
              </a:rPr>
              <a:t>The meeting room dashboard</a:t>
            </a:r>
            <a:endParaRPr lang="en-US" sz="2900" dirty="0"/>
          </a:p>
        </p:txBody>
      </p:sp>
      <p:sp>
        <p:nvSpPr>
          <p:cNvPr id="4" name="Shape 2"/>
          <p:cNvSpPr/>
          <p:nvPr/>
        </p:nvSpPr>
        <p:spPr>
          <a:xfrm>
            <a:off x="585216" y="1463040"/>
            <a:ext cx="7744968" cy="4681728"/>
          </a:xfrm>
          <a:prstGeom prst="roundRect">
            <a:avLst>
              <a:gd name="adj" fmla="val 1953"/>
            </a:avLst>
          </a:prstGeom>
          <a:solidFill>
            <a:srgbClr val="FFFFFF"/>
          </a:solidFill>
          <a:effectLst>
            <a:outerShdw blurRad="165100" dist="50800" dir="5400000" algn="bl" rotWithShape="0">
              <a:srgbClr val="0D1B3E">
                <a:alpha val="32000"/>
              </a:srgbClr>
            </a:outerShdw>
          </a:effectLst>
        </p:spPr>
      </p:sp>
      <p:pic>
        <p:nvPicPr>
          <p:cNvPr id="5" name="Image 0" descr="assets/dash_meeting.png"/>
          <p:cNvPicPr>
            <a:picLocks noChangeAspect="1"/>
          </p:cNvPicPr>
          <p:nvPr/>
        </p:nvPicPr>
        <p:blipFill>
          <a:blip r:embed="rId1"/>
          <a:srcRect/>
          <a:stretch>
            <a:fillRect/>
          </a:stretch>
        </p:blipFill>
        <p:spPr>
          <a:xfrm>
            <a:off x="640080" y="1517904"/>
            <a:ext cx="7635240" cy="4572000"/>
          </a:xfrm>
          <a:prstGeom prst="rect">
            <a:avLst/>
          </a:prstGeom>
        </p:spPr>
      </p:pic>
      <p:sp>
        <p:nvSpPr>
          <p:cNvPr id="6" name="Shape 3"/>
          <p:cNvSpPr/>
          <p:nvPr/>
        </p:nvSpPr>
        <p:spPr>
          <a:xfrm>
            <a:off x="8549640" y="1517904"/>
            <a:ext cx="3017520" cy="768096"/>
          </a:xfrm>
          <a:prstGeom prst="roundRect">
            <a:avLst>
              <a:gd name="adj" fmla="val 11905"/>
            </a:avLst>
          </a:prstGeom>
          <a:solidFill>
            <a:srgbClr val="FFFFFF"/>
          </a:solidFill>
          <a:effectLst>
            <a:outerShdw blurRad="101600" dist="25400" dir="5400000" algn="bl" rotWithShape="0">
              <a:srgbClr val="94A3B8">
                <a:alpha val="28000"/>
              </a:srgbClr>
            </a:outerShdw>
          </a:effectLst>
        </p:spPr>
      </p:sp>
      <p:sp>
        <p:nvSpPr>
          <p:cNvPr id="7" name="Shape 4"/>
          <p:cNvSpPr/>
          <p:nvPr/>
        </p:nvSpPr>
        <p:spPr>
          <a:xfrm>
            <a:off x="8714232" y="1682496"/>
            <a:ext cx="438912" cy="438912"/>
          </a:xfrm>
          <a:prstGeom prst="ellipse">
            <a:avLst/>
          </a:prstGeom>
          <a:solidFill>
            <a:srgbClr val="2563EB"/>
          </a:solidFill>
        </p:spPr>
      </p:sp>
      <p:pic>
        <p:nvPicPr>
          <p:cNvPr id="8" name="Image 1" descr="assets/icon_doorOpen_white.png"/>
          <p:cNvPicPr>
            <a:picLocks noChangeAspect="1"/>
          </p:cNvPicPr>
          <p:nvPr/>
        </p:nvPicPr>
        <p:blipFill>
          <a:blip r:embed="rId2"/>
          <a:stretch>
            <a:fillRect/>
          </a:stretch>
        </p:blipFill>
        <p:spPr>
          <a:xfrm>
            <a:off x="8837127" y="1805391"/>
            <a:ext cx="193121" cy="193121"/>
          </a:xfrm>
          <a:prstGeom prst="rect">
            <a:avLst/>
          </a:prstGeom>
        </p:spPr>
      </p:pic>
      <p:sp>
        <p:nvSpPr>
          <p:cNvPr id="9" name="Text 5"/>
          <p:cNvSpPr/>
          <p:nvPr/>
        </p:nvSpPr>
        <p:spPr>
          <a:xfrm>
            <a:off x="9281160" y="1591056"/>
            <a:ext cx="2194560" cy="384048"/>
          </a:xfrm>
          <a:prstGeom prst="rect">
            <a:avLst/>
          </a:prstGeom>
          <a:noFill/>
        </p:spPr>
        <p:txBody>
          <a:bodyPr wrap="square" lIns="0" tIns="0" rIns="0" bIns="0" rtlCol="0" anchor="ctr"/>
          <a:lstStyle/>
          <a:p>
            <a:pPr marL="0" indent="0">
              <a:buNone/>
            </a:pPr>
            <a:r>
              <a:rPr lang="en-US" sz="1900" b="1" dirty="0">
                <a:solidFill>
                  <a:srgbClr val="0D1B3E"/>
                </a:solidFill>
                <a:latin typeface="Calibri" panose="020F0502020204030204" pitchFamily="34" charset="0"/>
                <a:ea typeface="Calibri" panose="020F0502020204030204" pitchFamily="34" charset="-122"/>
                <a:cs typeface="Calibri" panose="020F0502020204030204" pitchFamily="34" charset="-120"/>
              </a:rPr>
              <a:t>12</a:t>
            </a:r>
            <a:endParaRPr lang="en-US" sz="1900" dirty="0"/>
          </a:p>
        </p:txBody>
      </p:sp>
      <p:sp>
        <p:nvSpPr>
          <p:cNvPr id="10" name="Text 6"/>
          <p:cNvSpPr/>
          <p:nvPr/>
        </p:nvSpPr>
        <p:spPr>
          <a:xfrm>
            <a:off x="9281160" y="1975104"/>
            <a:ext cx="2194560" cy="256032"/>
          </a:xfrm>
          <a:prstGeom prst="rect">
            <a:avLst/>
          </a:prstGeom>
          <a:noFill/>
        </p:spPr>
        <p:txBody>
          <a:bodyPr wrap="square" lIns="0" tIns="0" rIns="0" bIns="0" rtlCol="0" anchor="ctr"/>
          <a:lstStyle/>
          <a:p>
            <a:pPr marL="0" indent="0">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Meeting Rooms</a:t>
            </a:r>
            <a:endParaRPr lang="en-US" sz="1050" dirty="0"/>
          </a:p>
        </p:txBody>
      </p:sp>
      <p:sp>
        <p:nvSpPr>
          <p:cNvPr id="11" name="Shape 7"/>
          <p:cNvSpPr/>
          <p:nvPr/>
        </p:nvSpPr>
        <p:spPr>
          <a:xfrm>
            <a:off x="8549640" y="2432304"/>
            <a:ext cx="3017520" cy="768096"/>
          </a:xfrm>
          <a:prstGeom prst="roundRect">
            <a:avLst>
              <a:gd name="adj" fmla="val 11905"/>
            </a:avLst>
          </a:prstGeom>
          <a:solidFill>
            <a:srgbClr val="FFFFFF"/>
          </a:solidFill>
          <a:effectLst>
            <a:outerShdw blurRad="101600" dist="25400" dir="5400000" algn="bl" rotWithShape="0">
              <a:srgbClr val="94A3B8">
                <a:alpha val="28000"/>
              </a:srgbClr>
            </a:outerShdw>
          </a:effectLst>
        </p:spPr>
      </p:sp>
      <p:sp>
        <p:nvSpPr>
          <p:cNvPr id="12" name="Shape 8"/>
          <p:cNvSpPr/>
          <p:nvPr/>
        </p:nvSpPr>
        <p:spPr>
          <a:xfrm>
            <a:off x="8714232" y="2596896"/>
            <a:ext cx="438912" cy="438912"/>
          </a:xfrm>
          <a:prstGeom prst="ellipse">
            <a:avLst/>
          </a:prstGeom>
          <a:solidFill>
            <a:srgbClr val="16A34A"/>
          </a:solidFill>
        </p:spPr>
      </p:sp>
      <p:pic>
        <p:nvPicPr>
          <p:cNvPr id="13" name="Image 2" descr="assets/icon_percent_white.png"/>
          <p:cNvPicPr>
            <a:picLocks noChangeAspect="1"/>
          </p:cNvPicPr>
          <p:nvPr/>
        </p:nvPicPr>
        <p:blipFill>
          <a:blip r:embed="rId3"/>
          <a:stretch>
            <a:fillRect/>
          </a:stretch>
        </p:blipFill>
        <p:spPr>
          <a:xfrm>
            <a:off x="8837127" y="2719791"/>
            <a:ext cx="193121" cy="193121"/>
          </a:xfrm>
          <a:prstGeom prst="rect">
            <a:avLst/>
          </a:prstGeom>
        </p:spPr>
      </p:pic>
      <p:sp>
        <p:nvSpPr>
          <p:cNvPr id="14" name="Text 9"/>
          <p:cNvSpPr/>
          <p:nvPr/>
        </p:nvSpPr>
        <p:spPr>
          <a:xfrm>
            <a:off x="9281160" y="2505456"/>
            <a:ext cx="2194560" cy="384048"/>
          </a:xfrm>
          <a:prstGeom prst="rect">
            <a:avLst/>
          </a:prstGeom>
          <a:noFill/>
        </p:spPr>
        <p:txBody>
          <a:bodyPr wrap="square" lIns="0" tIns="0" rIns="0" bIns="0" rtlCol="0" anchor="ctr"/>
          <a:lstStyle/>
          <a:p>
            <a:pPr marL="0" indent="0">
              <a:buNone/>
            </a:pPr>
            <a:r>
              <a:rPr lang="en-US" sz="1900" b="1" dirty="0">
                <a:solidFill>
                  <a:srgbClr val="0D1B3E"/>
                </a:solidFill>
                <a:latin typeface="Calibri" panose="020F0502020204030204" pitchFamily="34" charset="0"/>
                <a:ea typeface="Calibri" panose="020F0502020204030204" pitchFamily="34" charset="-122"/>
                <a:cs typeface="Calibri" panose="020F0502020204030204" pitchFamily="34" charset="-120"/>
              </a:rPr>
              <a:t>74%</a:t>
            </a:r>
            <a:endParaRPr lang="en-US" sz="1900" dirty="0"/>
          </a:p>
        </p:txBody>
      </p:sp>
      <p:sp>
        <p:nvSpPr>
          <p:cNvPr id="15" name="Text 10"/>
          <p:cNvSpPr/>
          <p:nvPr/>
        </p:nvSpPr>
        <p:spPr>
          <a:xfrm>
            <a:off x="9281160" y="2889504"/>
            <a:ext cx="2194560" cy="256032"/>
          </a:xfrm>
          <a:prstGeom prst="rect">
            <a:avLst/>
          </a:prstGeom>
          <a:noFill/>
        </p:spPr>
        <p:txBody>
          <a:bodyPr wrap="square" lIns="0" tIns="0" rIns="0" bIns="0" rtlCol="0" anchor="ctr"/>
          <a:lstStyle/>
          <a:p>
            <a:pPr marL="0" indent="0">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Overall Utilization</a:t>
            </a:r>
            <a:endParaRPr lang="en-US" sz="1050" dirty="0"/>
          </a:p>
        </p:txBody>
      </p:sp>
      <p:sp>
        <p:nvSpPr>
          <p:cNvPr id="16" name="Shape 11"/>
          <p:cNvSpPr/>
          <p:nvPr/>
        </p:nvSpPr>
        <p:spPr>
          <a:xfrm>
            <a:off x="8549640" y="3346704"/>
            <a:ext cx="3017520" cy="768096"/>
          </a:xfrm>
          <a:prstGeom prst="roundRect">
            <a:avLst>
              <a:gd name="adj" fmla="val 11905"/>
            </a:avLst>
          </a:prstGeom>
          <a:solidFill>
            <a:srgbClr val="FFFFFF"/>
          </a:solidFill>
          <a:effectLst>
            <a:outerShdw blurRad="101600" dist="25400" dir="5400000" algn="bl" rotWithShape="0">
              <a:srgbClr val="94A3B8">
                <a:alpha val="28000"/>
              </a:srgbClr>
            </a:outerShdw>
          </a:effectLst>
        </p:spPr>
      </p:sp>
      <p:sp>
        <p:nvSpPr>
          <p:cNvPr id="17" name="Shape 12"/>
          <p:cNvSpPr/>
          <p:nvPr/>
        </p:nvSpPr>
        <p:spPr>
          <a:xfrm>
            <a:off x="8714232" y="3511296"/>
            <a:ext cx="438912" cy="438912"/>
          </a:xfrm>
          <a:prstGeom prst="ellipse">
            <a:avLst/>
          </a:prstGeom>
          <a:solidFill>
            <a:srgbClr val="0D9488"/>
          </a:solidFill>
        </p:spPr>
      </p:sp>
      <p:pic>
        <p:nvPicPr>
          <p:cNvPr id="18" name="Image 3" descr="assets/icon_peopleGroup_white.png"/>
          <p:cNvPicPr>
            <a:picLocks noChangeAspect="1"/>
          </p:cNvPicPr>
          <p:nvPr/>
        </p:nvPicPr>
        <p:blipFill>
          <a:blip r:embed="rId4"/>
          <a:stretch>
            <a:fillRect/>
          </a:stretch>
        </p:blipFill>
        <p:spPr>
          <a:xfrm>
            <a:off x="8837127" y="3634191"/>
            <a:ext cx="193121" cy="193121"/>
          </a:xfrm>
          <a:prstGeom prst="rect">
            <a:avLst/>
          </a:prstGeom>
        </p:spPr>
      </p:pic>
      <p:sp>
        <p:nvSpPr>
          <p:cNvPr id="19" name="Text 13"/>
          <p:cNvSpPr/>
          <p:nvPr/>
        </p:nvSpPr>
        <p:spPr>
          <a:xfrm>
            <a:off x="9281160" y="3419856"/>
            <a:ext cx="2194560" cy="384048"/>
          </a:xfrm>
          <a:prstGeom prst="rect">
            <a:avLst/>
          </a:prstGeom>
          <a:noFill/>
        </p:spPr>
        <p:txBody>
          <a:bodyPr wrap="square" lIns="0" tIns="0" rIns="0" bIns="0" rtlCol="0" anchor="ctr"/>
          <a:lstStyle/>
          <a:p>
            <a:pPr marL="0" indent="0">
              <a:buNone/>
            </a:pPr>
            <a:r>
              <a:rPr lang="en-US" sz="1900" b="1" dirty="0">
                <a:solidFill>
                  <a:srgbClr val="0D1B3E"/>
                </a:solidFill>
                <a:latin typeface="Calibri" panose="020F0502020204030204" pitchFamily="34" charset="0"/>
                <a:ea typeface="Calibri" panose="020F0502020204030204" pitchFamily="34" charset="-122"/>
                <a:cs typeface="Calibri" panose="020F0502020204030204" pitchFamily="34" charset="-120"/>
              </a:rPr>
              <a:t>5.6</a:t>
            </a:r>
            <a:endParaRPr lang="en-US" sz="1900" dirty="0"/>
          </a:p>
        </p:txBody>
      </p:sp>
      <p:sp>
        <p:nvSpPr>
          <p:cNvPr id="20" name="Text 14"/>
          <p:cNvSpPr/>
          <p:nvPr/>
        </p:nvSpPr>
        <p:spPr>
          <a:xfrm>
            <a:off x="9281160" y="3803904"/>
            <a:ext cx="2194560" cy="256032"/>
          </a:xfrm>
          <a:prstGeom prst="rect">
            <a:avLst/>
          </a:prstGeom>
          <a:noFill/>
        </p:spPr>
        <p:txBody>
          <a:bodyPr wrap="square" lIns="0" tIns="0" rIns="0" bIns="0" rtlCol="0" anchor="ctr"/>
          <a:lstStyle/>
          <a:p>
            <a:pPr marL="0" indent="0">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Avg Attendance</a:t>
            </a:r>
            <a:endParaRPr lang="en-US" sz="1050" dirty="0"/>
          </a:p>
        </p:txBody>
      </p:sp>
      <p:sp>
        <p:nvSpPr>
          <p:cNvPr id="21" name="Shape 15"/>
          <p:cNvSpPr/>
          <p:nvPr/>
        </p:nvSpPr>
        <p:spPr>
          <a:xfrm>
            <a:off x="8549640" y="4261104"/>
            <a:ext cx="3017520" cy="768096"/>
          </a:xfrm>
          <a:prstGeom prst="roundRect">
            <a:avLst>
              <a:gd name="adj" fmla="val 11905"/>
            </a:avLst>
          </a:prstGeom>
          <a:solidFill>
            <a:srgbClr val="FFFFFF"/>
          </a:solidFill>
          <a:effectLst>
            <a:outerShdw blurRad="101600" dist="25400" dir="5400000" algn="bl" rotWithShape="0">
              <a:srgbClr val="94A3B8">
                <a:alpha val="28000"/>
              </a:srgbClr>
            </a:outerShdw>
          </a:effectLst>
        </p:spPr>
      </p:sp>
      <p:sp>
        <p:nvSpPr>
          <p:cNvPr id="22" name="Shape 16"/>
          <p:cNvSpPr/>
          <p:nvPr/>
        </p:nvSpPr>
        <p:spPr>
          <a:xfrm>
            <a:off x="8714232" y="4425696"/>
            <a:ext cx="438912" cy="438912"/>
          </a:xfrm>
          <a:prstGeom prst="ellipse">
            <a:avLst/>
          </a:prstGeom>
          <a:solidFill>
            <a:srgbClr val="D97706"/>
          </a:solidFill>
        </p:spPr>
      </p:sp>
      <p:pic>
        <p:nvPicPr>
          <p:cNvPr id="23" name="Image 4" descr="assets/icon_fire_white.png"/>
          <p:cNvPicPr>
            <a:picLocks noChangeAspect="1"/>
          </p:cNvPicPr>
          <p:nvPr/>
        </p:nvPicPr>
        <p:blipFill>
          <a:blip r:embed="rId5"/>
          <a:stretch>
            <a:fillRect/>
          </a:stretch>
        </p:blipFill>
        <p:spPr>
          <a:xfrm>
            <a:off x="8837127" y="4548591"/>
            <a:ext cx="193121" cy="193121"/>
          </a:xfrm>
          <a:prstGeom prst="rect">
            <a:avLst/>
          </a:prstGeom>
        </p:spPr>
      </p:pic>
      <p:sp>
        <p:nvSpPr>
          <p:cNvPr id="24" name="Text 17"/>
          <p:cNvSpPr/>
          <p:nvPr/>
        </p:nvSpPr>
        <p:spPr>
          <a:xfrm>
            <a:off x="9281160" y="4334256"/>
            <a:ext cx="2194560" cy="384048"/>
          </a:xfrm>
          <a:prstGeom prst="rect">
            <a:avLst/>
          </a:prstGeom>
          <a:noFill/>
        </p:spPr>
        <p:txBody>
          <a:bodyPr wrap="square" lIns="0" tIns="0" rIns="0" bIns="0" rtlCol="0" anchor="ctr"/>
          <a:lstStyle/>
          <a:p>
            <a:pPr marL="0" indent="0">
              <a:buNone/>
            </a:pPr>
            <a:r>
              <a:rPr lang="en-US" sz="1900" b="1" dirty="0">
                <a:solidFill>
                  <a:srgbClr val="0D1B3E"/>
                </a:solidFill>
                <a:latin typeface="Calibri" panose="020F0502020204030204" pitchFamily="34" charset="0"/>
                <a:ea typeface="Calibri" panose="020F0502020204030204" pitchFamily="34" charset="-122"/>
                <a:cs typeface="Calibri" panose="020F0502020204030204" pitchFamily="34" charset="-120"/>
              </a:rPr>
              <a:t>12–1 PM</a:t>
            </a:r>
            <a:endParaRPr lang="en-US" sz="1900" dirty="0"/>
          </a:p>
        </p:txBody>
      </p:sp>
      <p:sp>
        <p:nvSpPr>
          <p:cNvPr id="25" name="Text 18"/>
          <p:cNvSpPr/>
          <p:nvPr/>
        </p:nvSpPr>
        <p:spPr>
          <a:xfrm>
            <a:off x="9281160" y="4718304"/>
            <a:ext cx="2194560" cy="256032"/>
          </a:xfrm>
          <a:prstGeom prst="rect">
            <a:avLst/>
          </a:prstGeom>
          <a:noFill/>
        </p:spPr>
        <p:txBody>
          <a:bodyPr wrap="square" lIns="0" tIns="0" rIns="0" bIns="0" rtlCol="0" anchor="ctr"/>
          <a:lstStyle/>
          <a:p>
            <a:pPr marL="0" indent="0">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Peak Hours</a:t>
            </a:r>
            <a:endParaRPr lang="en-US" sz="1050" dirty="0"/>
          </a:p>
        </p:txBody>
      </p:sp>
      <p:sp>
        <p:nvSpPr>
          <p:cNvPr id="26" name="Shape 19"/>
          <p:cNvSpPr/>
          <p:nvPr/>
        </p:nvSpPr>
        <p:spPr>
          <a:xfrm>
            <a:off x="8549640" y="5175504"/>
            <a:ext cx="3017520" cy="768096"/>
          </a:xfrm>
          <a:prstGeom prst="roundRect">
            <a:avLst>
              <a:gd name="adj" fmla="val 11905"/>
            </a:avLst>
          </a:prstGeom>
          <a:solidFill>
            <a:srgbClr val="FFFFFF"/>
          </a:solidFill>
          <a:effectLst>
            <a:outerShdw blurRad="101600" dist="25400" dir="5400000" algn="bl" rotWithShape="0">
              <a:srgbClr val="94A3B8">
                <a:alpha val="28000"/>
              </a:srgbClr>
            </a:outerShdw>
          </a:effectLst>
        </p:spPr>
      </p:sp>
      <p:sp>
        <p:nvSpPr>
          <p:cNvPr id="27" name="Shape 20"/>
          <p:cNvSpPr/>
          <p:nvPr/>
        </p:nvSpPr>
        <p:spPr>
          <a:xfrm>
            <a:off x="8714232" y="5340096"/>
            <a:ext cx="438912" cy="438912"/>
          </a:xfrm>
          <a:prstGeom prst="ellipse">
            <a:avLst/>
          </a:prstGeom>
          <a:solidFill>
            <a:srgbClr val="D62B2B"/>
          </a:solidFill>
        </p:spPr>
      </p:sp>
      <p:pic>
        <p:nvPicPr>
          <p:cNvPr id="28" name="Image 5" descr="assets/icon_trophy_white.png"/>
          <p:cNvPicPr>
            <a:picLocks noChangeAspect="1"/>
          </p:cNvPicPr>
          <p:nvPr/>
        </p:nvPicPr>
        <p:blipFill>
          <a:blip r:embed="rId6"/>
          <a:stretch>
            <a:fillRect/>
          </a:stretch>
        </p:blipFill>
        <p:spPr>
          <a:xfrm>
            <a:off x="8837127" y="5462991"/>
            <a:ext cx="193121" cy="193121"/>
          </a:xfrm>
          <a:prstGeom prst="rect">
            <a:avLst/>
          </a:prstGeom>
        </p:spPr>
      </p:pic>
      <p:sp>
        <p:nvSpPr>
          <p:cNvPr id="29" name="Text 21"/>
          <p:cNvSpPr/>
          <p:nvPr/>
        </p:nvSpPr>
        <p:spPr>
          <a:xfrm>
            <a:off x="9281160" y="5248656"/>
            <a:ext cx="2194560" cy="384048"/>
          </a:xfrm>
          <a:prstGeom prst="rect">
            <a:avLst/>
          </a:prstGeom>
          <a:noFill/>
        </p:spPr>
        <p:txBody>
          <a:bodyPr wrap="square" lIns="0" tIns="0" rIns="0" bIns="0" rtlCol="0" anchor="ctr"/>
          <a:lstStyle/>
          <a:p>
            <a:pPr marL="0" indent="0">
              <a:buNone/>
            </a:pPr>
            <a:r>
              <a:rPr lang="en-US" sz="1900" b="1" dirty="0">
                <a:solidFill>
                  <a:srgbClr val="0D1B3E"/>
                </a:solidFill>
                <a:latin typeface="Calibri" panose="020F0502020204030204" pitchFamily="34" charset="0"/>
                <a:ea typeface="Calibri" panose="020F0502020204030204" pitchFamily="34" charset="-122"/>
                <a:cs typeface="Calibri" panose="020F0502020204030204" pitchFamily="34" charset="-120"/>
              </a:rPr>
              <a:t>MR-05</a:t>
            </a:r>
            <a:endParaRPr lang="en-US" sz="1900" dirty="0"/>
          </a:p>
        </p:txBody>
      </p:sp>
      <p:sp>
        <p:nvSpPr>
          <p:cNvPr id="30" name="Text 22"/>
          <p:cNvSpPr/>
          <p:nvPr/>
        </p:nvSpPr>
        <p:spPr>
          <a:xfrm>
            <a:off x="9281160" y="5632704"/>
            <a:ext cx="2194560" cy="256032"/>
          </a:xfrm>
          <a:prstGeom prst="rect">
            <a:avLst/>
          </a:prstGeom>
          <a:noFill/>
        </p:spPr>
        <p:txBody>
          <a:bodyPr wrap="square" lIns="0" tIns="0" rIns="0" bIns="0" rtlCol="0" anchor="ctr"/>
          <a:lstStyle/>
          <a:p>
            <a:pPr marL="0" indent="0">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Top Room</a:t>
            </a:r>
            <a:endParaRPr lang="en-US" sz="1050" dirty="0"/>
          </a:p>
        </p:txBody>
      </p:sp>
      <p:pic>
        <p:nvPicPr>
          <p:cNvPr id="31" name="Image 6" descr="assets/logo_dark.png"/>
          <p:cNvPicPr>
            <a:picLocks noChangeAspect="1"/>
          </p:cNvPicPr>
          <p:nvPr/>
        </p:nvPicPr>
        <p:blipFill>
          <a:blip r:embed="rId7"/>
          <a:srcRect/>
          <a:stretch>
            <a:fillRect/>
          </a:stretch>
        </p:blipFill>
        <p:spPr>
          <a:xfrm>
            <a:off x="10317175" y="6400800"/>
            <a:ext cx="1280160" cy="214884"/>
          </a:xfrm>
          <a:prstGeom prst="rect">
            <a:avLst/>
          </a:prstGeom>
        </p:spPr>
      </p:pic>
      <p:sp>
        <p:nvSpPr>
          <p:cNvPr id="32" name="Text 23"/>
          <p:cNvSpPr/>
          <p:nvPr/>
        </p:nvSpPr>
        <p:spPr>
          <a:xfrm>
            <a:off x="640080" y="6382512"/>
            <a:ext cx="731520" cy="274320"/>
          </a:xfrm>
          <a:prstGeom prst="rect">
            <a:avLst/>
          </a:prstGeom>
          <a:noFill/>
        </p:spPr>
        <p:txBody>
          <a:bodyPr wrap="square" lIns="0" tIns="0" rIns="0" bIns="0" rtlCol="0" anchor="ctr"/>
          <a:lstStyle/>
          <a:p>
            <a:pPr marL="0" indent="0">
              <a:buNone/>
            </a:pPr>
            <a:r>
              <a:rPr lang="en-US" sz="1100" b="1" dirty="0">
                <a:solidFill>
                  <a:srgbClr val="64748B"/>
                </a:solidFill>
                <a:latin typeface="Calibri" panose="020F0502020204030204" pitchFamily="34" charset="0"/>
                <a:ea typeface="Calibri" panose="020F0502020204030204" pitchFamily="34" charset="-122"/>
                <a:cs typeface="Calibri" panose="020F0502020204030204"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2743200" y="-2743200"/>
            <a:ext cx="7315200" cy="7315200"/>
          </a:xfrm>
          <a:prstGeom prst="ellipse">
            <a:avLst/>
          </a:prstGeom>
          <a:solidFill>
            <a:srgbClr val="16285A"/>
          </a:solidFill>
        </p:spPr>
      </p:sp>
      <p:sp>
        <p:nvSpPr>
          <p:cNvPr id="3" name="Text 1"/>
          <p:cNvSpPr/>
          <p:nvPr/>
        </p:nvSpPr>
        <p:spPr>
          <a:xfrm>
            <a:off x="640080" y="457200"/>
            <a:ext cx="5486400" cy="274320"/>
          </a:xfrm>
          <a:prstGeom prst="rect">
            <a:avLst/>
          </a:prstGeom>
          <a:noFill/>
        </p:spPr>
        <p:txBody>
          <a:bodyPr wrap="square" lIns="0" tIns="0" rIns="0" bIns="0" rtlCol="0" anchor="ctr"/>
          <a:lstStyle/>
          <a:p>
            <a:pPr marL="0" indent="0">
              <a:buNone/>
            </a:pPr>
            <a:r>
              <a:rPr lang="en-US" sz="1200" b="1" kern="0" spc="300" dirty="0">
                <a:solidFill>
                  <a:srgbClr val="7DA3FF"/>
                </a:solidFill>
                <a:latin typeface="Calibri" panose="020F0502020204030204" pitchFamily="34" charset="0"/>
                <a:ea typeface="Calibri" panose="020F0502020204030204" pitchFamily="34" charset="-122"/>
                <a:cs typeface="Calibri" panose="020F0502020204030204" pitchFamily="34" charset="-120"/>
              </a:rPr>
              <a:t>LIVE DETECTION</a:t>
            </a:r>
            <a:endParaRPr lang="en-US" sz="1200" dirty="0"/>
          </a:p>
        </p:txBody>
      </p:sp>
      <p:sp>
        <p:nvSpPr>
          <p:cNvPr id="4" name="Text 2"/>
          <p:cNvSpPr/>
          <p:nvPr/>
        </p:nvSpPr>
        <p:spPr>
          <a:xfrm>
            <a:off x="640080" y="740664"/>
            <a:ext cx="8229600" cy="603504"/>
          </a:xfrm>
          <a:prstGeom prst="rect">
            <a:avLst/>
          </a:prstGeom>
          <a:noFill/>
        </p:spPr>
        <p:txBody>
          <a:bodyPr wrap="square" lIns="0" tIns="0" rIns="0" bIns="0" rtlCol="0" anchor="ctr"/>
          <a:lstStyle/>
          <a:p>
            <a:pPr marL="0" indent="0">
              <a:buNone/>
            </a:pPr>
            <a:r>
              <a:rPr lang="en-US" sz="2900" b="1" dirty="0">
                <a:solidFill>
                  <a:srgbClr val="FFFFFF"/>
                </a:solidFill>
                <a:latin typeface="Calibri" panose="020F0502020204030204" pitchFamily="34" charset="0"/>
                <a:ea typeface="Calibri" panose="020F0502020204030204" pitchFamily="34" charset="-122"/>
                <a:cs typeface="Calibri" panose="020F0502020204030204" pitchFamily="34" charset="-120"/>
              </a:rPr>
              <a:t>Meeting room AI detection</a:t>
            </a:r>
            <a:endParaRPr lang="en-US" sz="2900" dirty="0"/>
          </a:p>
        </p:txBody>
      </p:sp>
      <p:sp>
        <p:nvSpPr>
          <p:cNvPr id="5" name="Shape 3"/>
          <p:cNvSpPr/>
          <p:nvPr/>
        </p:nvSpPr>
        <p:spPr>
          <a:xfrm>
            <a:off x="585216" y="1499616"/>
            <a:ext cx="7836408" cy="4681728"/>
          </a:xfrm>
          <a:prstGeom prst="roundRect">
            <a:avLst>
              <a:gd name="adj" fmla="val 1953"/>
            </a:avLst>
          </a:prstGeom>
          <a:solidFill>
            <a:srgbClr val="FFFFFF"/>
          </a:solidFill>
          <a:effectLst>
            <a:outerShdw blurRad="165100" dist="50800" dir="5400000" algn="bl" rotWithShape="0">
              <a:srgbClr val="0D1B3E">
                <a:alpha val="32000"/>
              </a:srgbClr>
            </a:outerShdw>
          </a:effectLst>
        </p:spPr>
      </p:sp>
      <p:pic>
        <p:nvPicPr>
          <p:cNvPr id="6" name="Image 0" descr="assets/mtg_m02.png"/>
          <p:cNvPicPr>
            <a:picLocks noChangeAspect="1"/>
          </p:cNvPicPr>
          <p:nvPr/>
        </p:nvPicPr>
        <p:blipFill>
          <a:blip r:embed="rId1"/>
          <a:srcRect/>
          <a:stretch>
            <a:fillRect/>
          </a:stretch>
        </p:blipFill>
        <p:spPr>
          <a:xfrm>
            <a:off x="640080" y="1554480"/>
            <a:ext cx="7726680" cy="4572000"/>
          </a:xfrm>
          <a:prstGeom prst="rect">
            <a:avLst/>
          </a:prstGeom>
        </p:spPr>
      </p:pic>
      <p:sp>
        <p:nvSpPr>
          <p:cNvPr id="7" name="Shape 4"/>
          <p:cNvSpPr/>
          <p:nvPr/>
        </p:nvSpPr>
        <p:spPr>
          <a:xfrm>
            <a:off x="8686800" y="1783080"/>
            <a:ext cx="2926080" cy="914400"/>
          </a:xfrm>
          <a:prstGeom prst="roundRect">
            <a:avLst>
              <a:gd name="adj" fmla="val 10000"/>
            </a:avLst>
          </a:prstGeom>
          <a:solidFill>
            <a:srgbClr val="1B3168"/>
          </a:solidFill>
        </p:spPr>
      </p:sp>
      <p:sp>
        <p:nvSpPr>
          <p:cNvPr id="8" name="Shape 5"/>
          <p:cNvSpPr/>
          <p:nvPr/>
        </p:nvSpPr>
        <p:spPr>
          <a:xfrm>
            <a:off x="8869680" y="2002536"/>
            <a:ext cx="475488" cy="475488"/>
          </a:xfrm>
          <a:prstGeom prst="ellipse">
            <a:avLst/>
          </a:prstGeom>
          <a:solidFill>
            <a:srgbClr val="0D9488"/>
          </a:solidFill>
        </p:spPr>
      </p:sp>
      <p:pic>
        <p:nvPicPr>
          <p:cNvPr id="9" name="Image 1" descr="assets/icon_peopleGroup_white.png"/>
          <p:cNvPicPr>
            <a:picLocks noChangeAspect="1"/>
          </p:cNvPicPr>
          <p:nvPr/>
        </p:nvPicPr>
        <p:blipFill>
          <a:blip r:embed="rId2"/>
          <a:stretch>
            <a:fillRect/>
          </a:stretch>
        </p:blipFill>
        <p:spPr>
          <a:xfrm>
            <a:off x="9002817" y="2135673"/>
            <a:ext cx="209215" cy="209215"/>
          </a:xfrm>
          <a:prstGeom prst="rect">
            <a:avLst/>
          </a:prstGeom>
        </p:spPr>
      </p:pic>
      <p:sp>
        <p:nvSpPr>
          <p:cNvPr id="10" name="Text 6"/>
          <p:cNvSpPr/>
          <p:nvPr/>
        </p:nvSpPr>
        <p:spPr>
          <a:xfrm>
            <a:off x="9464040" y="1929384"/>
            <a:ext cx="2011680" cy="310896"/>
          </a:xfrm>
          <a:prstGeom prst="rect">
            <a:avLst/>
          </a:prstGeom>
          <a:noFill/>
        </p:spPr>
        <p:txBody>
          <a:bodyPr wrap="square" lIns="0" tIns="0" rIns="0" bIns="0"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Attendee detection</a:t>
            </a:r>
            <a:endParaRPr lang="en-US" sz="1300" dirty="0"/>
          </a:p>
        </p:txBody>
      </p:sp>
      <p:sp>
        <p:nvSpPr>
          <p:cNvPr id="11" name="Text 7"/>
          <p:cNvSpPr/>
          <p:nvPr/>
        </p:nvSpPr>
        <p:spPr>
          <a:xfrm>
            <a:off x="9464040" y="2231136"/>
            <a:ext cx="2011680" cy="365760"/>
          </a:xfrm>
          <a:prstGeom prst="rect">
            <a:avLst/>
          </a:prstGeom>
          <a:noFill/>
        </p:spPr>
        <p:txBody>
          <a:bodyPr wrap="square" lIns="0" tIns="0" rIns="0" bIns="0" rtlCol="0" anchor="ctr"/>
          <a:lstStyle/>
          <a:p>
            <a:pPr marL="0" indent="0">
              <a:lnSpc>
                <a:spcPts val="1300"/>
              </a:lnSpc>
              <a:buNone/>
            </a:pPr>
            <a:r>
              <a:rPr lang="en-US" sz="1050" dirty="0">
                <a:solidFill>
                  <a:srgbClr val="BBC8E6"/>
                </a:solidFill>
                <a:latin typeface="Calibri" panose="020F0502020204030204" pitchFamily="34" charset="0"/>
                <a:ea typeface="Calibri" panose="020F0502020204030204" pitchFamily="34" charset="-122"/>
                <a:cs typeface="Calibri" panose="020F0502020204030204" pitchFamily="34" charset="-120"/>
              </a:rPr>
              <a:t>Counts occupied seats per room.</a:t>
            </a:r>
            <a:endParaRPr lang="en-US" sz="1050" dirty="0"/>
          </a:p>
        </p:txBody>
      </p:sp>
      <p:sp>
        <p:nvSpPr>
          <p:cNvPr id="12" name="Shape 8"/>
          <p:cNvSpPr/>
          <p:nvPr/>
        </p:nvSpPr>
        <p:spPr>
          <a:xfrm>
            <a:off x="8686800" y="2862072"/>
            <a:ext cx="2926080" cy="914400"/>
          </a:xfrm>
          <a:prstGeom prst="roundRect">
            <a:avLst>
              <a:gd name="adj" fmla="val 10000"/>
            </a:avLst>
          </a:prstGeom>
          <a:solidFill>
            <a:srgbClr val="1B3168"/>
          </a:solidFill>
        </p:spPr>
      </p:sp>
      <p:sp>
        <p:nvSpPr>
          <p:cNvPr id="13" name="Shape 9"/>
          <p:cNvSpPr/>
          <p:nvPr/>
        </p:nvSpPr>
        <p:spPr>
          <a:xfrm>
            <a:off x="8869680" y="3081528"/>
            <a:ext cx="475488" cy="475488"/>
          </a:xfrm>
          <a:prstGeom prst="ellipse">
            <a:avLst/>
          </a:prstGeom>
          <a:solidFill>
            <a:srgbClr val="2563EB"/>
          </a:solidFill>
        </p:spPr>
      </p:sp>
      <p:pic>
        <p:nvPicPr>
          <p:cNvPr id="14" name="Image 2" descr="assets/icon_doorOpen_white.png"/>
          <p:cNvPicPr>
            <a:picLocks noChangeAspect="1"/>
          </p:cNvPicPr>
          <p:nvPr/>
        </p:nvPicPr>
        <p:blipFill>
          <a:blip r:embed="rId3"/>
          <a:stretch>
            <a:fillRect/>
          </a:stretch>
        </p:blipFill>
        <p:spPr>
          <a:xfrm>
            <a:off x="9002817" y="3214665"/>
            <a:ext cx="209215" cy="209215"/>
          </a:xfrm>
          <a:prstGeom prst="rect">
            <a:avLst/>
          </a:prstGeom>
        </p:spPr>
      </p:pic>
      <p:sp>
        <p:nvSpPr>
          <p:cNvPr id="15" name="Text 10"/>
          <p:cNvSpPr/>
          <p:nvPr/>
        </p:nvSpPr>
        <p:spPr>
          <a:xfrm>
            <a:off x="9464040" y="3008376"/>
            <a:ext cx="2011680" cy="310896"/>
          </a:xfrm>
          <a:prstGeom prst="rect">
            <a:avLst/>
          </a:prstGeom>
          <a:noFill/>
        </p:spPr>
        <p:txBody>
          <a:bodyPr wrap="square" lIns="0" tIns="0" rIns="0" bIns="0"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Occupancy monitoring</a:t>
            </a:r>
            <a:endParaRPr lang="en-US" sz="1300" dirty="0"/>
          </a:p>
        </p:txBody>
      </p:sp>
      <p:sp>
        <p:nvSpPr>
          <p:cNvPr id="16" name="Text 11"/>
          <p:cNvSpPr/>
          <p:nvPr/>
        </p:nvSpPr>
        <p:spPr>
          <a:xfrm>
            <a:off x="9464040" y="3310128"/>
            <a:ext cx="2011680" cy="365760"/>
          </a:xfrm>
          <a:prstGeom prst="rect">
            <a:avLst/>
          </a:prstGeom>
          <a:noFill/>
        </p:spPr>
        <p:txBody>
          <a:bodyPr wrap="square" lIns="0" tIns="0" rIns="0" bIns="0" rtlCol="0" anchor="ctr"/>
          <a:lstStyle/>
          <a:p>
            <a:pPr marL="0" indent="0">
              <a:lnSpc>
                <a:spcPts val="1300"/>
              </a:lnSpc>
              <a:buNone/>
            </a:pPr>
            <a:r>
              <a:rPr lang="en-US" sz="1050" dirty="0">
                <a:solidFill>
                  <a:srgbClr val="BBC8E6"/>
                </a:solidFill>
                <a:latin typeface="Calibri" panose="020F0502020204030204" pitchFamily="34" charset="0"/>
                <a:ea typeface="Calibri" panose="020F0502020204030204" pitchFamily="34" charset="-122"/>
                <a:cs typeface="Calibri" panose="020F0502020204030204" pitchFamily="34" charset="-120"/>
              </a:rPr>
              <a:t>Occupied / free status, live.</a:t>
            </a:r>
            <a:endParaRPr lang="en-US" sz="1050" dirty="0"/>
          </a:p>
        </p:txBody>
      </p:sp>
      <p:sp>
        <p:nvSpPr>
          <p:cNvPr id="17" name="Shape 12"/>
          <p:cNvSpPr/>
          <p:nvPr/>
        </p:nvSpPr>
        <p:spPr>
          <a:xfrm>
            <a:off x="8686800" y="3941064"/>
            <a:ext cx="2926080" cy="914400"/>
          </a:xfrm>
          <a:prstGeom prst="roundRect">
            <a:avLst>
              <a:gd name="adj" fmla="val 10000"/>
            </a:avLst>
          </a:prstGeom>
          <a:solidFill>
            <a:srgbClr val="1B3168"/>
          </a:solidFill>
        </p:spPr>
      </p:sp>
      <p:sp>
        <p:nvSpPr>
          <p:cNvPr id="18" name="Shape 13"/>
          <p:cNvSpPr/>
          <p:nvPr/>
        </p:nvSpPr>
        <p:spPr>
          <a:xfrm>
            <a:off x="8869680" y="4160520"/>
            <a:ext cx="475488" cy="475488"/>
          </a:xfrm>
          <a:prstGeom prst="ellipse">
            <a:avLst/>
          </a:prstGeom>
          <a:solidFill>
            <a:srgbClr val="16A34A"/>
          </a:solidFill>
        </p:spPr>
      </p:sp>
      <p:pic>
        <p:nvPicPr>
          <p:cNvPr id="19" name="Image 3" descr="assets/icon_percent_white.png"/>
          <p:cNvPicPr>
            <a:picLocks noChangeAspect="1"/>
          </p:cNvPicPr>
          <p:nvPr/>
        </p:nvPicPr>
        <p:blipFill>
          <a:blip r:embed="rId4"/>
          <a:stretch>
            <a:fillRect/>
          </a:stretch>
        </p:blipFill>
        <p:spPr>
          <a:xfrm>
            <a:off x="9002817" y="4293657"/>
            <a:ext cx="209215" cy="209215"/>
          </a:xfrm>
          <a:prstGeom prst="rect">
            <a:avLst/>
          </a:prstGeom>
        </p:spPr>
      </p:pic>
      <p:sp>
        <p:nvSpPr>
          <p:cNvPr id="20" name="Text 14"/>
          <p:cNvSpPr/>
          <p:nvPr/>
        </p:nvSpPr>
        <p:spPr>
          <a:xfrm>
            <a:off x="9464040" y="4087368"/>
            <a:ext cx="2011680" cy="310896"/>
          </a:xfrm>
          <a:prstGeom prst="rect">
            <a:avLst/>
          </a:prstGeom>
          <a:noFill/>
        </p:spPr>
        <p:txBody>
          <a:bodyPr wrap="square" lIns="0" tIns="0" rIns="0" bIns="0"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Utilization tracking</a:t>
            </a:r>
            <a:endParaRPr lang="en-US" sz="1300" dirty="0"/>
          </a:p>
        </p:txBody>
      </p:sp>
      <p:sp>
        <p:nvSpPr>
          <p:cNvPr id="21" name="Text 15"/>
          <p:cNvSpPr/>
          <p:nvPr/>
        </p:nvSpPr>
        <p:spPr>
          <a:xfrm>
            <a:off x="9464040" y="4389120"/>
            <a:ext cx="2011680" cy="365760"/>
          </a:xfrm>
          <a:prstGeom prst="rect">
            <a:avLst/>
          </a:prstGeom>
          <a:noFill/>
        </p:spPr>
        <p:txBody>
          <a:bodyPr wrap="square" lIns="0" tIns="0" rIns="0" bIns="0" rtlCol="0" anchor="ctr"/>
          <a:lstStyle/>
          <a:p>
            <a:pPr marL="0" indent="0">
              <a:lnSpc>
                <a:spcPts val="1300"/>
              </a:lnSpc>
              <a:buNone/>
            </a:pPr>
            <a:r>
              <a:rPr lang="en-US" sz="1050" dirty="0">
                <a:solidFill>
                  <a:srgbClr val="BBC8E6"/>
                </a:solidFill>
                <a:latin typeface="Calibri" panose="020F0502020204030204" pitchFamily="34" charset="0"/>
                <a:ea typeface="Calibri" panose="020F0502020204030204" pitchFamily="34" charset="-122"/>
                <a:cs typeface="Calibri" panose="020F0502020204030204" pitchFamily="34" charset="-120"/>
              </a:rPr>
              <a:t>Actual use vs booked time.</a:t>
            </a:r>
            <a:endParaRPr lang="en-US" sz="1050" dirty="0"/>
          </a:p>
        </p:txBody>
      </p:sp>
      <p:sp>
        <p:nvSpPr>
          <p:cNvPr id="22" name="Shape 16"/>
          <p:cNvSpPr/>
          <p:nvPr/>
        </p:nvSpPr>
        <p:spPr>
          <a:xfrm>
            <a:off x="8686800" y="5020056"/>
            <a:ext cx="2926080" cy="914400"/>
          </a:xfrm>
          <a:prstGeom prst="roundRect">
            <a:avLst>
              <a:gd name="adj" fmla="val 10000"/>
            </a:avLst>
          </a:prstGeom>
          <a:solidFill>
            <a:srgbClr val="1B3168"/>
          </a:solidFill>
        </p:spPr>
      </p:sp>
      <p:sp>
        <p:nvSpPr>
          <p:cNvPr id="23" name="Shape 17"/>
          <p:cNvSpPr/>
          <p:nvPr/>
        </p:nvSpPr>
        <p:spPr>
          <a:xfrm>
            <a:off x="8869680" y="5239512"/>
            <a:ext cx="475488" cy="475488"/>
          </a:xfrm>
          <a:prstGeom prst="ellipse">
            <a:avLst/>
          </a:prstGeom>
          <a:solidFill>
            <a:srgbClr val="D97706"/>
          </a:solidFill>
        </p:spPr>
      </p:sp>
      <p:pic>
        <p:nvPicPr>
          <p:cNvPr id="24" name="Image 4" descr="assets/icon_gauge_white.png"/>
          <p:cNvPicPr>
            <a:picLocks noChangeAspect="1"/>
          </p:cNvPicPr>
          <p:nvPr/>
        </p:nvPicPr>
        <p:blipFill>
          <a:blip r:embed="rId5"/>
          <a:stretch>
            <a:fillRect/>
          </a:stretch>
        </p:blipFill>
        <p:spPr>
          <a:xfrm>
            <a:off x="9002817" y="5372649"/>
            <a:ext cx="209215" cy="209215"/>
          </a:xfrm>
          <a:prstGeom prst="rect">
            <a:avLst/>
          </a:prstGeom>
        </p:spPr>
      </p:pic>
      <p:sp>
        <p:nvSpPr>
          <p:cNvPr id="25" name="Text 18"/>
          <p:cNvSpPr/>
          <p:nvPr/>
        </p:nvSpPr>
        <p:spPr>
          <a:xfrm>
            <a:off x="9464040" y="5166360"/>
            <a:ext cx="2011680" cy="310896"/>
          </a:xfrm>
          <a:prstGeom prst="rect">
            <a:avLst/>
          </a:prstGeom>
          <a:noFill/>
        </p:spPr>
        <p:txBody>
          <a:bodyPr wrap="square" lIns="0" tIns="0" rIns="0" bIns="0"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Real-time analytics</a:t>
            </a:r>
            <a:endParaRPr lang="en-US" sz="1300" dirty="0"/>
          </a:p>
        </p:txBody>
      </p:sp>
      <p:sp>
        <p:nvSpPr>
          <p:cNvPr id="26" name="Text 19"/>
          <p:cNvSpPr/>
          <p:nvPr/>
        </p:nvSpPr>
        <p:spPr>
          <a:xfrm>
            <a:off x="9464040" y="5468112"/>
            <a:ext cx="2011680" cy="365760"/>
          </a:xfrm>
          <a:prstGeom prst="rect">
            <a:avLst/>
          </a:prstGeom>
          <a:noFill/>
        </p:spPr>
        <p:txBody>
          <a:bodyPr wrap="square" lIns="0" tIns="0" rIns="0" bIns="0" rtlCol="0" anchor="ctr"/>
          <a:lstStyle/>
          <a:p>
            <a:pPr marL="0" indent="0">
              <a:lnSpc>
                <a:spcPts val="1300"/>
              </a:lnSpc>
              <a:buNone/>
            </a:pPr>
            <a:r>
              <a:rPr lang="en-US" sz="1050" dirty="0">
                <a:solidFill>
                  <a:srgbClr val="BBC8E6"/>
                </a:solidFill>
                <a:latin typeface="Calibri" panose="020F0502020204030204" pitchFamily="34" charset="0"/>
                <a:ea typeface="Calibri" panose="020F0502020204030204" pitchFamily="34" charset="-122"/>
                <a:cs typeface="Calibri" panose="020F0502020204030204" pitchFamily="34" charset="-120"/>
              </a:rPr>
              <a:t>Dashboards update continuously.</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274320"/>
          </a:xfrm>
          <a:prstGeom prst="rect">
            <a:avLst/>
          </a:prstGeom>
          <a:noFill/>
        </p:spPr>
        <p:txBody>
          <a:bodyPr wrap="square" lIns="0" tIns="0" rIns="0" bIns="0" rtlCol="0" anchor="ctr"/>
          <a:lstStyle/>
          <a:p>
            <a:pPr marL="0" indent="0">
              <a:buNone/>
            </a:pPr>
            <a:r>
              <a:rPr lang="en-US" sz="1200" b="1" kern="0" spc="300" dirty="0">
                <a:solidFill>
                  <a:srgbClr val="D62B2B"/>
                </a:solidFill>
                <a:latin typeface="Calibri" panose="020F0502020204030204" pitchFamily="34" charset="0"/>
                <a:ea typeface="Calibri" panose="020F0502020204030204" pitchFamily="34" charset="-122"/>
                <a:cs typeface="Calibri" panose="020F0502020204030204" pitchFamily="34" charset="-120"/>
              </a:rPr>
              <a:t>USE CASE</a:t>
            </a:r>
            <a:endParaRPr lang="en-US" sz="1200" dirty="0"/>
          </a:p>
        </p:txBody>
      </p:sp>
      <p:sp>
        <p:nvSpPr>
          <p:cNvPr id="3" name="Text 1"/>
          <p:cNvSpPr/>
          <p:nvPr/>
        </p:nvSpPr>
        <p:spPr>
          <a:xfrm>
            <a:off x="640080" y="740664"/>
            <a:ext cx="7772400" cy="603504"/>
          </a:xfrm>
          <a:prstGeom prst="rect">
            <a:avLst/>
          </a:prstGeom>
          <a:noFill/>
        </p:spPr>
        <p:txBody>
          <a:bodyPr wrap="square" lIns="0" tIns="0" rIns="0" bIns="0" rtlCol="0" anchor="ctr"/>
          <a:lstStyle/>
          <a:p>
            <a:pPr marL="0" indent="0">
              <a:buNone/>
            </a:pPr>
            <a:r>
              <a:rPr lang="en-US" sz="2900" b="1" dirty="0">
                <a:solidFill>
                  <a:srgbClr val="0D1B3E"/>
                </a:solidFill>
                <a:latin typeface="Calibri" panose="020F0502020204030204" pitchFamily="34" charset="0"/>
                <a:ea typeface="Calibri" panose="020F0502020204030204" pitchFamily="34" charset="-122"/>
                <a:cs typeface="Calibri" panose="020F0502020204030204" pitchFamily="34" charset="-120"/>
              </a:rPr>
              <a:t>Cafeteria Utilization</a:t>
            </a:r>
            <a:endParaRPr lang="en-US" sz="2900" dirty="0"/>
          </a:p>
        </p:txBody>
      </p:sp>
      <p:sp>
        <p:nvSpPr>
          <p:cNvPr id="4" name="Shape 2"/>
          <p:cNvSpPr/>
          <p:nvPr/>
        </p:nvSpPr>
        <p:spPr>
          <a:xfrm>
            <a:off x="585216" y="1517904"/>
            <a:ext cx="6830568" cy="4590288"/>
          </a:xfrm>
          <a:prstGeom prst="roundRect">
            <a:avLst>
              <a:gd name="adj" fmla="val 1992"/>
            </a:avLst>
          </a:prstGeom>
          <a:solidFill>
            <a:srgbClr val="FFFFFF"/>
          </a:solidFill>
          <a:effectLst>
            <a:outerShdw blurRad="165100" dist="50800" dir="5400000" algn="bl" rotWithShape="0">
              <a:srgbClr val="0D1B3E">
                <a:alpha val="32000"/>
              </a:srgbClr>
            </a:outerShdw>
          </a:effectLst>
        </p:spPr>
      </p:sp>
      <p:pic>
        <p:nvPicPr>
          <p:cNvPr id="5" name="Image 0" descr="assets/cafeteria_live.png"/>
          <p:cNvPicPr>
            <a:picLocks noChangeAspect="1"/>
          </p:cNvPicPr>
          <p:nvPr/>
        </p:nvPicPr>
        <p:blipFill>
          <a:blip r:embed="rId1"/>
          <a:srcRect/>
          <a:stretch>
            <a:fillRect/>
          </a:stretch>
        </p:blipFill>
        <p:spPr>
          <a:xfrm>
            <a:off x="640080" y="1572768"/>
            <a:ext cx="6720840" cy="4480560"/>
          </a:xfrm>
          <a:prstGeom prst="rect">
            <a:avLst/>
          </a:prstGeom>
        </p:spPr>
      </p:pic>
      <p:sp>
        <p:nvSpPr>
          <p:cNvPr id="6" name="Shape 3"/>
          <p:cNvSpPr/>
          <p:nvPr/>
        </p:nvSpPr>
        <p:spPr>
          <a:xfrm>
            <a:off x="868680" y="5532120"/>
            <a:ext cx="2743200" cy="384048"/>
          </a:xfrm>
          <a:prstGeom prst="roundRect">
            <a:avLst>
              <a:gd name="adj" fmla="val 19048"/>
            </a:avLst>
          </a:prstGeom>
          <a:solidFill>
            <a:srgbClr val="0D1B3E"/>
          </a:solidFill>
        </p:spPr>
      </p:sp>
      <p:sp>
        <p:nvSpPr>
          <p:cNvPr id="7" name="Text 4"/>
          <p:cNvSpPr/>
          <p:nvPr/>
        </p:nvSpPr>
        <p:spPr>
          <a:xfrm>
            <a:off x="868680" y="5541264"/>
            <a:ext cx="2743200" cy="365760"/>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Live table occupancy detection</a:t>
            </a:r>
            <a:endParaRPr lang="en-US" sz="1100" dirty="0"/>
          </a:p>
        </p:txBody>
      </p:sp>
      <p:sp>
        <p:nvSpPr>
          <p:cNvPr id="8" name="Shape 5"/>
          <p:cNvSpPr/>
          <p:nvPr/>
        </p:nvSpPr>
        <p:spPr>
          <a:xfrm>
            <a:off x="7635240" y="2478024"/>
            <a:ext cx="3931920" cy="0"/>
          </a:xfrm>
          <a:prstGeom prst="line">
            <a:avLst/>
          </a:prstGeom>
          <a:noFill/>
          <a:ln w="12700">
            <a:solidFill>
              <a:srgbClr val="E2E8F0"/>
            </a:solidFill>
            <a:prstDash val="solid"/>
          </a:ln>
        </p:spPr>
      </p:sp>
      <p:sp>
        <p:nvSpPr>
          <p:cNvPr id="9" name="Shape 6"/>
          <p:cNvSpPr/>
          <p:nvPr/>
        </p:nvSpPr>
        <p:spPr>
          <a:xfrm>
            <a:off x="7635240" y="1783080"/>
            <a:ext cx="548640" cy="548640"/>
          </a:xfrm>
          <a:prstGeom prst="ellipse">
            <a:avLst/>
          </a:prstGeom>
          <a:solidFill>
            <a:srgbClr val="2563EB"/>
          </a:solidFill>
        </p:spPr>
      </p:sp>
      <p:pic>
        <p:nvPicPr>
          <p:cNvPr id="10" name="Image 1" descr="assets/icon_peopleGroup_white.png"/>
          <p:cNvPicPr>
            <a:picLocks noChangeAspect="1"/>
          </p:cNvPicPr>
          <p:nvPr/>
        </p:nvPicPr>
        <p:blipFill>
          <a:blip r:embed="rId2"/>
          <a:stretch>
            <a:fillRect/>
          </a:stretch>
        </p:blipFill>
        <p:spPr>
          <a:xfrm>
            <a:off x="7788859" y="1936699"/>
            <a:ext cx="241402" cy="241402"/>
          </a:xfrm>
          <a:prstGeom prst="rect">
            <a:avLst/>
          </a:prstGeom>
        </p:spPr>
      </p:pic>
      <p:sp>
        <p:nvSpPr>
          <p:cNvPr id="11" name="Text 7"/>
          <p:cNvSpPr/>
          <p:nvPr/>
        </p:nvSpPr>
        <p:spPr>
          <a:xfrm>
            <a:off x="8348472" y="1746504"/>
            <a:ext cx="3218688" cy="310896"/>
          </a:xfrm>
          <a:prstGeom prst="rect">
            <a:avLst/>
          </a:prstGeom>
          <a:noFill/>
        </p:spPr>
        <p:txBody>
          <a:bodyPr wrap="square" lIns="0" tIns="0" rIns="0" bIns="0" rtlCol="0" anchor="ctr"/>
          <a:lstStyle/>
          <a:p>
            <a:pPr marL="0" indent="0">
              <a:buNone/>
            </a:pPr>
            <a:r>
              <a:rPr lang="en-US" sz="1400" b="1" dirty="0">
                <a:solidFill>
                  <a:srgbClr val="0D1B3E"/>
                </a:solidFill>
                <a:latin typeface="Calibri" panose="020F0502020204030204" pitchFamily="34" charset="0"/>
                <a:ea typeface="Calibri" panose="020F0502020204030204" pitchFamily="34" charset="-122"/>
                <a:cs typeface="Calibri" panose="020F0502020204030204" pitchFamily="34" charset="-120"/>
              </a:rPr>
              <a:t>Current occupancy</a:t>
            </a:r>
            <a:endParaRPr lang="en-US" sz="1400" dirty="0"/>
          </a:p>
        </p:txBody>
      </p:sp>
      <p:sp>
        <p:nvSpPr>
          <p:cNvPr id="12" name="Text 8"/>
          <p:cNvSpPr/>
          <p:nvPr/>
        </p:nvSpPr>
        <p:spPr>
          <a:xfrm>
            <a:off x="8348472" y="2057400"/>
            <a:ext cx="3218688" cy="365760"/>
          </a:xfrm>
          <a:prstGeom prst="rect">
            <a:avLst/>
          </a:prstGeom>
          <a:noFill/>
        </p:spPr>
        <p:txBody>
          <a:bodyPr wrap="square" lIns="0" tIns="0" rIns="0" bIns="0" rtlCol="0" anchor="ctr"/>
          <a:lstStyle/>
          <a:p>
            <a:pPr marL="0" indent="0">
              <a:lnSpc>
                <a:spcPts val="1300"/>
              </a:lnSpc>
              <a:buNone/>
            </a:pPr>
            <a:r>
              <a:rPr lang="en-US" sz="1100" dirty="0">
                <a:solidFill>
                  <a:srgbClr val="475569"/>
                </a:solidFill>
                <a:latin typeface="Calibri" panose="020F0502020204030204" pitchFamily="34" charset="0"/>
                <a:ea typeface="Calibri" panose="020F0502020204030204" pitchFamily="34" charset="-122"/>
                <a:cs typeface="Calibri" panose="020F0502020204030204" pitchFamily="34" charset="-120"/>
              </a:rPr>
              <a:t>Live count of people and tables in use.</a:t>
            </a:r>
            <a:endParaRPr lang="en-US" sz="1100" dirty="0"/>
          </a:p>
        </p:txBody>
      </p:sp>
      <p:sp>
        <p:nvSpPr>
          <p:cNvPr id="13" name="Shape 9"/>
          <p:cNvSpPr/>
          <p:nvPr/>
        </p:nvSpPr>
        <p:spPr>
          <a:xfrm>
            <a:off x="7635240" y="3364992"/>
            <a:ext cx="3931920" cy="0"/>
          </a:xfrm>
          <a:prstGeom prst="line">
            <a:avLst/>
          </a:prstGeom>
          <a:noFill/>
          <a:ln w="12700">
            <a:solidFill>
              <a:srgbClr val="E2E8F0"/>
            </a:solidFill>
            <a:prstDash val="solid"/>
          </a:ln>
        </p:spPr>
      </p:sp>
      <p:sp>
        <p:nvSpPr>
          <p:cNvPr id="14" name="Shape 10"/>
          <p:cNvSpPr/>
          <p:nvPr/>
        </p:nvSpPr>
        <p:spPr>
          <a:xfrm>
            <a:off x="7635240" y="2670048"/>
            <a:ext cx="548640" cy="548640"/>
          </a:xfrm>
          <a:prstGeom prst="ellipse">
            <a:avLst/>
          </a:prstGeom>
          <a:solidFill>
            <a:srgbClr val="D62B2B"/>
          </a:solidFill>
        </p:spPr>
      </p:sp>
      <p:pic>
        <p:nvPicPr>
          <p:cNvPr id="15" name="Image 2" descr="assets/icon_fire_white.png"/>
          <p:cNvPicPr>
            <a:picLocks noChangeAspect="1"/>
          </p:cNvPicPr>
          <p:nvPr/>
        </p:nvPicPr>
        <p:blipFill>
          <a:blip r:embed="rId3"/>
          <a:stretch>
            <a:fillRect/>
          </a:stretch>
        </p:blipFill>
        <p:spPr>
          <a:xfrm>
            <a:off x="7788859" y="2823667"/>
            <a:ext cx="241402" cy="241402"/>
          </a:xfrm>
          <a:prstGeom prst="rect">
            <a:avLst/>
          </a:prstGeom>
        </p:spPr>
      </p:pic>
      <p:sp>
        <p:nvSpPr>
          <p:cNvPr id="16" name="Text 11"/>
          <p:cNvSpPr/>
          <p:nvPr/>
        </p:nvSpPr>
        <p:spPr>
          <a:xfrm>
            <a:off x="8348472" y="2633472"/>
            <a:ext cx="3218688" cy="310896"/>
          </a:xfrm>
          <a:prstGeom prst="rect">
            <a:avLst/>
          </a:prstGeom>
          <a:noFill/>
        </p:spPr>
        <p:txBody>
          <a:bodyPr wrap="square" lIns="0" tIns="0" rIns="0" bIns="0" rtlCol="0" anchor="ctr"/>
          <a:lstStyle/>
          <a:p>
            <a:pPr marL="0" indent="0">
              <a:buNone/>
            </a:pPr>
            <a:r>
              <a:rPr lang="en-US" sz="1400" b="1" dirty="0">
                <a:solidFill>
                  <a:srgbClr val="0D1B3E"/>
                </a:solidFill>
                <a:latin typeface="Calibri" panose="020F0502020204030204" pitchFamily="34" charset="0"/>
                <a:ea typeface="Calibri" panose="020F0502020204030204" pitchFamily="34" charset="-122"/>
                <a:cs typeface="Calibri" panose="020F0502020204030204" pitchFamily="34" charset="-120"/>
              </a:rPr>
              <a:t>Peak occupancy</a:t>
            </a:r>
            <a:endParaRPr lang="en-US" sz="1400" dirty="0"/>
          </a:p>
        </p:txBody>
      </p:sp>
      <p:sp>
        <p:nvSpPr>
          <p:cNvPr id="17" name="Text 12"/>
          <p:cNvSpPr/>
          <p:nvPr/>
        </p:nvSpPr>
        <p:spPr>
          <a:xfrm>
            <a:off x="8348472" y="2944368"/>
            <a:ext cx="3218688" cy="365760"/>
          </a:xfrm>
          <a:prstGeom prst="rect">
            <a:avLst/>
          </a:prstGeom>
          <a:noFill/>
        </p:spPr>
        <p:txBody>
          <a:bodyPr wrap="square" lIns="0" tIns="0" rIns="0" bIns="0" rtlCol="0" anchor="ctr"/>
          <a:lstStyle/>
          <a:p>
            <a:pPr marL="0" indent="0">
              <a:lnSpc>
                <a:spcPts val="1300"/>
              </a:lnSpc>
              <a:buNone/>
            </a:pPr>
            <a:r>
              <a:rPr lang="en-US" sz="1100" dirty="0">
                <a:solidFill>
                  <a:srgbClr val="475569"/>
                </a:solidFill>
                <a:latin typeface="Calibri" panose="020F0502020204030204" pitchFamily="34" charset="0"/>
                <a:ea typeface="Calibri" panose="020F0502020204030204" pitchFamily="34" charset="-122"/>
                <a:cs typeface="Calibri" panose="020F0502020204030204" pitchFamily="34" charset="-120"/>
              </a:rPr>
              <a:t>Busiest moments of the day.</a:t>
            </a:r>
            <a:endParaRPr lang="en-US" sz="1100" dirty="0"/>
          </a:p>
        </p:txBody>
      </p:sp>
      <p:sp>
        <p:nvSpPr>
          <p:cNvPr id="18" name="Shape 13"/>
          <p:cNvSpPr/>
          <p:nvPr/>
        </p:nvSpPr>
        <p:spPr>
          <a:xfrm>
            <a:off x="7635240" y="4251960"/>
            <a:ext cx="3931920" cy="0"/>
          </a:xfrm>
          <a:prstGeom prst="line">
            <a:avLst/>
          </a:prstGeom>
          <a:noFill/>
          <a:ln w="12700">
            <a:solidFill>
              <a:srgbClr val="E2E8F0"/>
            </a:solidFill>
            <a:prstDash val="solid"/>
          </a:ln>
        </p:spPr>
      </p:sp>
      <p:sp>
        <p:nvSpPr>
          <p:cNvPr id="19" name="Shape 14"/>
          <p:cNvSpPr/>
          <p:nvPr/>
        </p:nvSpPr>
        <p:spPr>
          <a:xfrm>
            <a:off x="7635240" y="3557016"/>
            <a:ext cx="548640" cy="548640"/>
          </a:xfrm>
          <a:prstGeom prst="ellipse">
            <a:avLst/>
          </a:prstGeom>
          <a:solidFill>
            <a:srgbClr val="0D9488"/>
          </a:solidFill>
        </p:spPr>
      </p:sp>
      <p:pic>
        <p:nvPicPr>
          <p:cNvPr id="20" name="Image 3" descr="assets/icon_clock_white.png"/>
          <p:cNvPicPr>
            <a:picLocks noChangeAspect="1"/>
          </p:cNvPicPr>
          <p:nvPr/>
        </p:nvPicPr>
        <p:blipFill>
          <a:blip r:embed="rId4"/>
          <a:stretch>
            <a:fillRect/>
          </a:stretch>
        </p:blipFill>
        <p:spPr>
          <a:xfrm>
            <a:off x="7788859" y="3710635"/>
            <a:ext cx="241402" cy="241402"/>
          </a:xfrm>
          <a:prstGeom prst="rect">
            <a:avLst/>
          </a:prstGeom>
        </p:spPr>
      </p:pic>
      <p:sp>
        <p:nvSpPr>
          <p:cNvPr id="21" name="Text 15"/>
          <p:cNvSpPr/>
          <p:nvPr/>
        </p:nvSpPr>
        <p:spPr>
          <a:xfrm>
            <a:off x="8348472" y="3520440"/>
            <a:ext cx="3218688" cy="310896"/>
          </a:xfrm>
          <a:prstGeom prst="rect">
            <a:avLst/>
          </a:prstGeom>
          <a:noFill/>
        </p:spPr>
        <p:txBody>
          <a:bodyPr wrap="square" lIns="0" tIns="0" rIns="0" bIns="0" rtlCol="0" anchor="ctr"/>
          <a:lstStyle/>
          <a:p>
            <a:pPr marL="0" indent="0">
              <a:buNone/>
            </a:pPr>
            <a:r>
              <a:rPr lang="en-US" sz="1400" b="1" dirty="0">
                <a:solidFill>
                  <a:srgbClr val="0D1B3E"/>
                </a:solidFill>
                <a:latin typeface="Calibri" panose="020F0502020204030204" pitchFamily="34" charset="0"/>
                <a:ea typeface="Calibri" panose="020F0502020204030204" pitchFamily="34" charset="-122"/>
                <a:cs typeface="Calibri" panose="020F0502020204030204" pitchFamily="34" charset="-120"/>
              </a:rPr>
              <a:t>Avg visit duration</a:t>
            </a:r>
            <a:endParaRPr lang="en-US" sz="1400" dirty="0"/>
          </a:p>
        </p:txBody>
      </p:sp>
      <p:sp>
        <p:nvSpPr>
          <p:cNvPr id="22" name="Text 16"/>
          <p:cNvSpPr/>
          <p:nvPr/>
        </p:nvSpPr>
        <p:spPr>
          <a:xfrm>
            <a:off x="8348472" y="3831336"/>
            <a:ext cx="3218688" cy="365760"/>
          </a:xfrm>
          <a:prstGeom prst="rect">
            <a:avLst/>
          </a:prstGeom>
          <a:noFill/>
        </p:spPr>
        <p:txBody>
          <a:bodyPr wrap="square" lIns="0" tIns="0" rIns="0" bIns="0" rtlCol="0" anchor="ctr"/>
          <a:lstStyle/>
          <a:p>
            <a:pPr marL="0" indent="0">
              <a:lnSpc>
                <a:spcPts val="1300"/>
              </a:lnSpc>
              <a:buNone/>
            </a:pPr>
            <a:r>
              <a:rPr lang="en-US" sz="1100" dirty="0">
                <a:solidFill>
                  <a:srgbClr val="475569"/>
                </a:solidFill>
                <a:latin typeface="Calibri" panose="020F0502020204030204" pitchFamily="34" charset="0"/>
                <a:ea typeface="Calibri" panose="020F0502020204030204" pitchFamily="34" charset="-122"/>
                <a:cs typeface="Calibri" panose="020F0502020204030204" pitchFamily="34" charset="-120"/>
              </a:rPr>
              <a:t>How long people typically stay.</a:t>
            </a:r>
            <a:endParaRPr lang="en-US" sz="1100" dirty="0"/>
          </a:p>
        </p:txBody>
      </p:sp>
      <p:sp>
        <p:nvSpPr>
          <p:cNvPr id="23" name="Shape 17"/>
          <p:cNvSpPr/>
          <p:nvPr/>
        </p:nvSpPr>
        <p:spPr>
          <a:xfrm>
            <a:off x="7635240" y="5138928"/>
            <a:ext cx="3931920" cy="0"/>
          </a:xfrm>
          <a:prstGeom prst="line">
            <a:avLst/>
          </a:prstGeom>
          <a:noFill/>
          <a:ln w="12700">
            <a:solidFill>
              <a:srgbClr val="E2E8F0"/>
            </a:solidFill>
            <a:prstDash val="solid"/>
          </a:ln>
        </p:spPr>
      </p:sp>
      <p:sp>
        <p:nvSpPr>
          <p:cNvPr id="24" name="Shape 18"/>
          <p:cNvSpPr/>
          <p:nvPr/>
        </p:nvSpPr>
        <p:spPr>
          <a:xfrm>
            <a:off x="7635240" y="4443984"/>
            <a:ext cx="548640" cy="548640"/>
          </a:xfrm>
          <a:prstGeom prst="ellipse">
            <a:avLst/>
          </a:prstGeom>
          <a:solidFill>
            <a:srgbClr val="8B5CF6"/>
          </a:solidFill>
        </p:spPr>
      </p:sp>
      <p:pic>
        <p:nvPicPr>
          <p:cNvPr id="25" name="Image 4" descr="assets/icon_users_white.png"/>
          <p:cNvPicPr>
            <a:picLocks noChangeAspect="1"/>
          </p:cNvPicPr>
          <p:nvPr/>
        </p:nvPicPr>
        <p:blipFill>
          <a:blip r:embed="rId5"/>
          <a:stretch>
            <a:fillRect/>
          </a:stretch>
        </p:blipFill>
        <p:spPr>
          <a:xfrm>
            <a:off x="7788859" y="4597603"/>
            <a:ext cx="241402" cy="241402"/>
          </a:xfrm>
          <a:prstGeom prst="rect">
            <a:avLst/>
          </a:prstGeom>
        </p:spPr>
      </p:pic>
      <p:sp>
        <p:nvSpPr>
          <p:cNvPr id="26" name="Text 19"/>
          <p:cNvSpPr/>
          <p:nvPr/>
        </p:nvSpPr>
        <p:spPr>
          <a:xfrm>
            <a:off x="8348472" y="4407408"/>
            <a:ext cx="3218688" cy="310896"/>
          </a:xfrm>
          <a:prstGeom prst="rect">
            <a:avLst/>
          </a:prstGeom>
          <a:noFill/>
        </p:spPr>
        <p:txBody>
          <a:bodyPr wrap="square" lIns="0" tIns="0" rIns="0" bIns="0" rtlCol="0" anchor="ctr"/>
          <a:lstStyle/>
          <a:p>
            <a:pPr marL="0" indent="0">
              <a:buNone/>
            </a:pPr>
            <a:r>
              <a:rPr lang="en-US" sz="1400" b="1" dirty="0">
                <a:solidFill>
                  <a:srgbClr val="0D1B3E"/>
                </a:solidFill>
                <a:latin typeface="Calibri" panose="020F0502020204030204" pitchFamily="34" charset="0"/>
                <a:ea typeface="Calibri" panose="020F0502020204030204" pitchFamily="34" charset="-122"/>
                <a:cs typeface="Calibri" panose="020F0502020204030204" pitchFamily="34" charset="-120"/>
              </a:rPr>
              <a:t>Total visitors</a:t>
            </a:r>
            <a:endParaRPr lang="en-US" sz="1400" dirty="0"/>
          </a:p>
        </p:txBody>
      </p:sp>
      <p:sp>
        <p:nvSpPr>
          <p:cNvPr id="27" name="Text 20"/>
          <p:cNvSpPr/>
          <p:nvPr/>
        </p:nvSpPr>
        <p:spPr>
          <a:xfrm>
            <a:off x="8348472" y="4718304"/>
            <a:ext cx="3218688" cy="365760"/>
          </a:xfrm>
          <a:prstGeom prst="rect">
            <a:avLst/>
          </a:prstGeom>
          <a:noFill/>
        </p:spPr>
        <p:txBody>
          <a:bodyPr wrap="square" lIns="0" tIns="0" rIns="0" bIns="0" rtlCol="0" anchor="ctr"/>
          <a:lstStyle/>
          <a:p>
            <a:pPr marL="0" indent="0">
              <a:lnSpc>
                <a:spcPts val="1300"/>
              </a:lnSpc>
              <a:buNone/>
            </a:pPr>
            <a:r>
              <a:rPr lang="en-US" sz="1100" dirty="0">
                <a:solidFill>
                  <a:srgbClr val="475569"/>
                </a:solidFill>
                <a:latin typeface="Calibri" panose="020F0502020204030204" pitchFamily="34" charset="0"/>
                <a:ea typeface="Calibri" panose="020F0502020204030204" pitchFamily="34" charset="-122"/>
                <a:cs typeface="Calibri" panose="020F0502020204030204" pitchFamily="34" charset="-120"/>
              </a:rPr>
              <a:t>Daily footfall through the space.</a:t>
            </a:r>
            <a:endParaRPr lang="en-US" sz="1100" dirty="0"/>
          </a:p>
        </p:txBody>
      </p:sp>
      <p:sp>
        <p:nvSpPr>
          <p:cNvPr id="28" name="Shape 21"/>
          <p:cNvSpPr/>
          <p:nvPr/>
        </p:nvSpPr>
        <p:spPr>
          <a:xfrm>
            <a:off x="7635240" y="6025896"/>
            <a:ext cx="3931920" cy="0"/>
          </a:xfrm>
          <a:prstGeom prst="line">
            <a:avLst/>
          </a:prstGeom>
          <a:noFill/>
          <a:ln w="12700">
            <a:solidFill>
              <a:srgbClr val="E2E8F0"/>
            </a:solidFill>
            <a:prstDash val="solid"/>
          </a:ln>
        </p:spPr>
      </p:sp>
      <p:sp>
        <p:nvSpPr>
          <p:cNvPr id="29" name="Shape 22"/>
          <p:cNvSpPr/>
          <p:nvPr/>
        </p:nvSpPr>
        <p:spPr>
          <a:xfrm>
            <a:off x="7635240" y="5330952"/>
            <a:ext cx="548640" cy="548640"/>
          </a:xfrm>
          <a:prstGeom prst="ellipse">
            <a:avLst/>
          </a:prstGeom>
          <a:solidFill>
            <a:srgbClr val="D97706"/>
          </a:solidFill>
        </p:spPr>
      </p:sp>
      <p:pic>
        <p:nvPicPr>
          <p:cNvPr id="30" name="Image 5" descr="assets/icon_mugHot_white.png"/>
          <p:cNvPicPr>
            <a:picLocks noChangeAspect="1"/>
          </p:cNvPicPr>
          <p:nvPr/>
        </p:nvPicPr>
        <p:blipFill>
          <a:blip r:embed="rId6"/>
          <a:stretch>
            <a:fillRect/>
          </a:stretch>
        </p:blipFill>
        <p:spPr>
          <a:xfrm>
            <a:off x="7788859" y="5484571"/>
            <a:ext cx="241402" cy="241402"/>
          </a:xfrm>
          <a:prstGeom prst="rect">
            <a:avLst/>
          </a:prstGeom>
        </p:spPr>
      </p:pic>
      <p:sp>
        <p:nvSpPr>
          <p:cNvPr id="31" name="Text 23"/>
          <p:cNvSpPr/>
          <p:nvPr/>
        </p:nvSpPr>
        <p:spPr>
          <a:xfrm>
            <a:off x="8348472" y="5294376"/>
            <a:ext cx="3218688" cy="310896"/>
          </a:xfrm>
          <a:prstGeom prst="rect">
            <a:avLst/>
          </a:prstGeom>
          <a:noFill/>
        </p:spPr>
        <p:txBody>
          <a:bodyPr wrap="square" lIns="0" tIns="0" rIns="0" bIns="0" rtlCol="0" anchor="ctr"/>
          <a:lstStyle/>
          <a:p>
            <a:pPr marL="0" indent="0">
              <a:buNone/>
            </a:pPr>
            <a:r>
              <a:rPr lang="en-US" sz="1400" b="1" dirty="0">
                <a:solidFill>
                  <a:srgbClr val="0D1B3E"/>
                </a:solidFill>
                <a:latin typeface="Calibri" panose="020F0502020204030204" pitchFamily="34" charset="0"/>
                <a:ea typeface="Calibri" panose="020F0502020204030204" pitchFamily="34" charset="-122"/>
                <a:cs typeface="Calibri" panose="020F0502020204030204" pitchFamily="34" charset="-120"/>
              </a:rPr>
              <a:t>Peak lunch hour</a:t>
            </a:r>
            <a:endParaRPr lang="en-US" sz="1400" dirty="0"/>
          </a:p>
        </p:txBody>
      </p:sp>
      <p:sp>
        <p:nvSpPr>
          <p:cNvPr id="32" name="Text 24"/>
          <p:cNvSpPr/>
          <p:nvPr/>
        </p:nvSpPr>
        <p:spPr>
          <a:xfrm>
            <a:off x="8348472" y="5605272"/>
            <a:ext cx="3218688" cy="365760"/>
          </a:xfrm>
          <a:prstGeom prst="rect">
            <a:avLst/>
          </a:prstGeom>
          <a:noFill/>
        </p:spPr>
        <p:txBody>
          <a:bodyPr wrap="square" lIns="0" tIns="0" rIns="0" bIns="0" rtlCol="0" anchor="ctr"/>
          <a:lstStyle/>
          <a:p>
            <a:pPr marL="0" indent="0">
              <a:lnSpc>
                <a:spcPts val="1300"/>
              </a:lnSpc>
              <a:buNone/>
            </a:pPr>
            <a:r>
              <a:rPr lang="en-US" sz="1100" dirty="0">
                <a:solidFill>
                  <a:srgbClr val="475569"/>
                </a:solidFill>
                <a:latin typeface="Calibri" panose="020F0502020204030204" pitchFamily="34" charset="0"/>
                <a:ea typeface="Calibri" panose="020F0502020204030204" pitchFamily="34" charset="-122"/>
                <a:cs typeface="Calibri" panose="020F0502020204030204" pitchFamily="34" charset="-120"/>
              </a:rPr>
              <a:t>The single busiest service window.</a:t>
            </a:r>
            <a:endParaRPr lang="en-US" sz="1100" dirty="0"/>
          </a:p>
        </p:txBody>
      </p:sp>
      <p:pic>
        <p:nvPicPr>
          <p:cNvPr id="33" name="Image 6" descr="assets/logo_dark.png"/>
          <p:cNvPicPr>
            <a:picLocks noChangeAspect="1"/>
          </p:cNvPicPr>
          <p:nvPr/>
        </p:nvPicPr>
        <p:blipFill>
          <a:blip r:embed="rId7"/>
          <a:srcRect/>
          <a:stretch>
            <a:fillRect/>
          </a:stretch>
        </p:blipFill>
        <p:spPr>
          <a:xfrm>
            <a:off x="10317175" y="6400800"/>
            <a:ext cx="1280160" cy="214884"/>
          </a:xfrm>
          <a:prstGeom prst="rect">
            <a:avLst/>
          </a:prstGeom>
        </p:spPr>
      </p:pic>
      <p:sp>
        <p:nvSpPr>
          <p:cNvPr id="34" name="Text 25"/>
          <p:cNvSpPr/>
          <p:nvPr/>
        </p:nvSpPr>
        <p:spPr>
          <a:xfrm>
            <a:off x="640080" y="6382512"/>
            <a:ext cx="731520" cy="274320"/>
          </a:xfrm>
          <a:prstGeom prst="rect">
            <a:avLst/>
          </a:prstGeom>
          <a:noFill/>
        </p:spPr>
        <p:txBody>
          <a:bodyPr wrap="square" lIns="0" tIns="0" rIns="0" bIns="0" rtlCol="0" anchor="ctr"/>
          <a:lstStyle/>
          <a:p>
            <a:pPr marL="0" indent="0">
              <a:buNone/>
            </a:pPr>
            <a:r>
              <a:rPr lang="en-US" sz="1100" b="1" dirty="0">
                <a:solidFill>
                  <a:srgbClr val="64748B"/>
                </a:solidFill>
                <a:latin typeface="Calibri" panose="020F0502020204030204" pitchFamily="34" charset="0"/>
                <a:ea typeface="Calibri" panose="020F0502020204030204" pitchFamily="34" charset="-122"/>
                <a:cs typeface="Calibri" panose="020F0502020204030204"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640080" y="457200"/>
            <a:ext cx="10515600" cy="274320"/>
          </a:xfrm>
          <a:prstGeom prst="rect">
            <a:avLst/>
          </a:prstGeom>
          <a:noFill/>
        </p:spPr>
        <p:txBody>
          <a:bodyPr wrap="square" lIns="0" tIns="0" rIns="0" bIns="0" rtlCol="0" anchor="ctr"/>
          <a:lstStyle/>
          <a:p>
            <a:pPr marL="0" indent="0">
              <a:buNone/>
            </a:pPr>
            <a:r>
              <a:rPr lang="en-US" sz="1200" b="1" kern="0" spc="300" dirty="0">
                <a:solidFill>
                  <a:srgbClr val="D62B2B"/>
                </a:solidFill>
                <a:latin typeface="Calibri" panose="020F0502020204030204" pitchFamily="34" charset="0"/>
                <a:ea typeface="Calibri" panose="020F0502020204030204" pitchFamily="34" charset="-122"/>
                <a:cs typeface="Calibri" panose="020F0502020204030204" pitchFamily="34" charset="-120"/>
              </a:rPr>
              <a:t>CAFETERIA ANALYTICS</a:t>
            </a:r>
            <a:endParaRPr lang="en-US" sz="1200" dirty="0"/>
          </a:p>
        </p:txBody>
      </p:sp>
      <p:sp>
        <p:nvSpPr>
          <p:cNvPr id="3" name="Text 1"/>
          <p:cNvSpPr/>
          <p:nvPr/>
        </p:nvSpPr>
        <p:spPr>
          <a:xfrm>
            <a:off x="640080" y="740664"/>
            <a:ext cx="10972800" cy="603504"/>
          </a:xfrm>
          <a:prstGeom prst="rect">
            <a:avLst/>
          </a:prstGeom>
          <a:noFill/>
        </p:spPr>
        <p:txBody>
          <a:bodyPr wrap="square" lIns="0" tIns="0" rIns="0" bIns="0" rtlCol="0" anchor="ctr"/>
          <a:lstStyle/>
          <a:p>
            <a:pPr marL="0" indent="0">
              <a:buNone/>
            </a:pPr>
            <a:r>
              <a:rPr lang="en-US" sz="2900" b="1" dirty="0">
                <a:solidFill>
                  <a:srgbClr val="0D1B3E"/>
                </a:solidFill>
                <a:latin typeface="Calibri" panose="020F0502020204030204" pitchFamily="34" charset="0"/>
                <a:ea typeface="Calibri" panose="020F0502020204030204" pitchFamily="34" charset="-122"/>
                <a:cs typeface="Calibri" panose="020F0502020204030204" pitchFamily="34" charset="-120"/>
              </a:rPr>
              <a:t>The cafeteria dashboard</a:t>
            </a:r>
            <a:endParaRPr lang="en-US" sz="2900" dirty="0"/>
          </a:p>
        </p:txBody>
      </p:sp>
      <p:sp>
        <p:nvSpPr>
          <p:cNvPr id="4" name="Shape 2"/>
          <p:cNvSpPr/>
          <p:nvPr/>
        </p:nvSpPr>
        <p:spPr>
          <a:xfrm>
            <a:off x="585216" y="1463040"/>
            <a:ext cx="7744968" cy="4681728"/>
          </a:xfrm>
          <a:prstGeom prst="roundRect">
            <a:avLst>
              <a:gd name="adj" fmla="val 1953"/>
            </a:avLst>
          </a:prstGeom>
          <a:solidFill>
            <a:srgbClr val="FFFFFF"/>
          </a:solidFill>
          <a:effectLst>
            <a:outerShdw blurRad="165100" dist="50800" dir="5400000" algn="bl" rotWithShape="0">
              <a:srgbClr val="0D1B3E">
                <a:alpha val="32000"/>
              </a:srgbClr>
            </a:outerShdw>
          </a:effectLst>
        </p:spPr>
      </p:sp>
      <p:pic>
        <p:nvPicPr>
          <p:cNvPr id="5" name="Image 0" descr="assets/dash_cafeteria.png"/>
          <p:cNvPicPr>
            <a:picLocks noChangeAspect="1"/>
          </p:cNvPicPr>
          <p:nvPr/>
        </p:nvPicPr>
        <p:blipFill>
          <a:blip r:embed="rId1"/>
          <a:srcRect/>
          <a:stretch>
            <a:fillRect/>
          </a:stretch>
        </p:blipFill>
        <p:spPr>
          <a:xfrm>
            <a:off x="640080" y="1517904"/>
            <a:ext cx="7635240" cy="4572000"/>
          </a:xfrm>
          <a:prstGeom prst="rect">
            <a:avLst/>
          </a:prstGeom>
        </p:spPr>
      </p:pic>
      <p:sp>
        <p:nvSpPr>
          <p:cNvPr id="6" name="Shape 3"/>
          <p:cNvSpPr/>
          <p:nvPr/>
        </p:nvSpPr>
        <p:spPr>
          <a:xfrm>
            <a:off x="8549640" y="1517904"/>
            <a:ext cx="3017520" cy="987552"/>
          </a:xfrm>
          <a:prstGeom prst="roundRect">
            <a:avLst>
              <a:gd name="adj" fmla="val 9259"/>
            </a:avLst>
          </a:prstGeom>
          <a:solidFill>
            <a:srgbClr val="FFFFFF"/>
          </a:solidFill>
          <a:effectLst>
            <a:outerShdw blurRad="101600" dist="25400" dir="5400000" algn="bl" rotWithShape="0">
              <a:srgbClr val="94A3B8">
                <a:alpha val="28000"/>
              </a:srgbClr>
            </a:outerShdw>
          </a:effectLst>
        </p:spPr>
      </p:sp>
      <p:sp>
        <p:nvSpPr>
          <p:cNvPr id="7" name="Shape 4"/>
          <p:cNvSpPr/>
          <p:nvPr/>
        </p:nvSpPr>
        <p:spPr>
          <a:xfrm>
            <a:off x="8732520" y="1792224"/>
            <a:ext cx="457200" cy="457200"/>
          </a:xfrm>
          <a:prstGeom prst="ellipse">
            <a:avLst/>
          </a:prstGeom>
          <a:solidFill>
            <a:srgbClr val="D62B2B"/>
          </a:solidFill>
        </p:spPr>
      </p:sp>
      <p:pic>
        <p:nvPicPr>
          <p:cNvPr id="8" name="Image 1" descr="assets/icon_fire_white.png"/>
          <p:cNvPicPr>
            <a:picLocks noChangeAspect="1"/>
          </p:cNvPicPr>
          <p:nvPr/>
        </p:nvPicPr>
        <p:blipFill>
          <a:blip r:embed="rId2"/>
          <a:stretch>
            <a:fillRect/>
          </a:stretch>
        </p:blipFill>
        <p:spPr>
          <a:xfrm>
            <a:off x="8860536" y="1920240"/>
            <a:ext cx="201168" cy="201168"/>
          </a:xfrm>
          <a:prstGeom prst="rect">
            <a:avLst/>
          </a:prstGeom>
        </p:spPr>
      </p:pic>
      <p:sp>
        <p:nvSpPr>
          <p:cNvPr id="9" name="Text 5"/>
          <p:cNvSpPr/>
          <p:nvPr/>
        </p:nvSpPr>
        <p:spPr>
          <a:xfrm>
            <a:off x="9299448" y="1664208"/>
            <a:ext cx="2148840" cy="274320"/>
          </a:xfrm>
          <a:prstGeom prst="rect">
            <a:avLst/>
          </a:prstGeom>
          <a:noFill/>
        </p:spPr>
        <p:txBody>
          <a:bodyPr wrap="square" lIns="0" tIns="0" rIns="0" bIns="0" rtlCol="0" anchor="ctr"/>
          <a:lstStyle/>
          <a:p>
            <a:pPr marL="0" indent="0">
              <a:buNone/>
            </a:pPr>
            <a:r>
              <a:rPr lang="en-US" sz="1350" b="1" dirty="0">
                <a:solidFill>
                  <a:srgbClr val="0D1B3E"/>
                </a:solidFill>
                <a:latin typeface="Calibri" panose="020F0502020204030204" pitchFamily="34" charset="0"/>
                <a:ea typeface="Calibri" panose="020F0502020204030204" pitchFamily="34" charset="-122"/>
                <a:cs typeface="Calibri" panose="020F0502020204030204" pitchFamily="34" charset="-120"/>
              </a:rPr>
              <a:t>Peak Time</a:t>
            </a:r>
            <a:endParaRPr lang="en-US" sz="1350" dirty="0"/>
          </a:p>
        </p:txBody>
      </p:sp>
      <p:sp>
        <p:nvSpPr>
          <p:cNvPr id="10" name="Text 6"/>
          <p:cNvSpPr/>
          <p:nvPr/>
        </p:nvSpPr>
        <p:spPr>
          <a:xfrm>
            <a:off x="9299448" y="1938528"/>
            <a:ext cx="2148840" cy="457200"/>
          </a:xfrm>
          <a:prstGeom prst="rect">
            <a:avLst/>
          </a:prstGeom>
          <a:noFill/>
        </p:spPr>
        <p:txBody>
          <a:bodyPr wrap="square" lIns="0" tIns="0" rIns="0" bIns="0" rtlCol="0" anchor="ctr"/>
          <a:lstStyle/>
          <a:p>
            <a:pPr marL="0" indent="0">
              <a:lnSpc>
                <a:spcPts val="1400"/>
              </a:lnSpc>
              <a:buNone/>
            </a:pPr>
            <a:r>
              <a:rPr lang="en-US" sz="1100" dirty="0">
                <a:solidFill>
                  <a:srgbClr val="475569"/>
                </a:solidFill>
                <a:latin typeface="Calibri" panose="020F0502020204030204" pitchFamily="34" charset="0"/>
                <a:ea typeface="Calibri" panose="020F0502020204030204" pitchFamily="34" charset="-122"/>
                <a:cs typeface="Calibri" panose="020F0502020204030204" pitchFamily="34" charset="-120"/>
              </a:rPr>
              <a:t>12 PM – 1 PM at 82% occupancy</a:t>
            </a:r>
            <a:endParaRPr lang="en-US" sz="1100" dirty="0"/>
          </a:p>
        </p:txBody>
      </p:sp>
      <p:sp>
        <p:nvSpPr>
          <p:cNvPr id="11" name="Shape 7"/>
          <p:cNvSpPr/>
          <p:nvPr/>
        </p:nvSpPr>
        <p:spPr>
          <a:xfrm>
            <a:off x="8549640" y="2624328"/>
            <a:ext cx="3017520" cy="987552"/>
          </a:xfrm>
          <a:prstGeom prst="roundRect">
            <a:avLst>
              <a:gd name="adj" fmla="val 9259"/>
            </a:avLst>
          </a:prstGeom>
          <a:solidFill>
            <a:srgbClr val="FFFFFF"/>
          </a:solidFill>
          <a:effectLst>
            <a:outerShdw blurRad="101600" dist="25400" dir="5400000" algn="bl" rotWithShape="0">
              <a:srgbClr val="94A3B8">
                <a:alpha val="28000"/>
              </a:srgbClr>
            </a:outerShdw>
          </a:effectLst>
        </p:spPr>
      </p:sp>
      <p:sp>
        <p:nvSpPr>
          <p:cNvPr id="12" name="Shape 8"/>
          <p:cNvSpPr/>
          <p:nvPr/>
        </p:nvSpPr>
        <p:spPr>
          <a:xfrm>
            <a:off x="8732520" y="2898648"/>
            <a:ext cx="457200" cy="457200"/>
          </a:xfrm>
          <a:prstGeom prst="ellipse">
            <a:avLst/>
          </a:prstGeom>
          <a:solidFill>
            <a:srgbClr val="2563EB"/>
          </a:solidFill>
        </p:spPr>
      </p:sp>
      <p:pic>
        <p:nvPicPr>
          <p:cNvPr id="13" name="Image 2" descr="assets/icon_users_white.png"/>
          <p:cNvPicPr>
            <a:picLocks noChangeAspect="1"/>
          </p:cNvPicPr>
          <p:nvPr/>
        </p:nvPicPr>
        <p:blipFill>
          <a:blip r:embed="rId3"/>
          <a:stretch>
            <a:fillRect/>
          </a:stretch>
        </p:blipFill>
        <p:spPr>
          <a:xfrm>
            <a:off x="8860536" y="3026664"/>
            <a:ext cx="201168" cy="201168"/>
          </a:xfrm>
          <a:prstGeom prst="rect">
            <a:avLst/>
          </a:prstGeom>
        </p:spPr>
      </p:pic>
      <p:sp>
        <p:nvSpPr>
          <p:cNvPr id="14" name="Text 9"/>
          <p:cNvSpPr/>
          <p:nvPr/>
        </p:nvSpPr>
        <p:spPr>
          <a:xfrm>
            <a:off x="9299448" y="2770632"/>
            <a:ext cx="2148840" cy="274320"/>
          </a:xfrm>
          <a:prstGeom prst="rect">
            <a:avLst/>
          </a:prstGeom>
          <a:noFill/>
        </p:spPr>
        <p:txBody>
          <a:bodyPr wrap="square" lIns="0" tIns="0" rIns="0" bIns="0" rtlCol="0" anchor="ctr"/>
          <a:lstStyle/>
          <a:p>
            <a:pPr marL="0" indent="0">
              <a:buNone/>
            </a:pPr>
            <a:r>
              <a:rPr lang="en-US" sz="1350" b="1" dirty="0">
                <a:solidFill>
                  <a:srgbClr val="0D1B3E"/>
                </a:solidFill>
                <a:latin typeface="Calibri" panose="020F0502020204030204" pitchFamily="34" charset="0"/>
                <a:ea typeface="Calibri" panose="020F0502020204030204" pitchFamily="34" charset="-122"/>
                <a:cs typeface="Calibri" panose="020F0502020204030204" pitchFamily="34" charset="-120"/>
              </a:rPr>
              <a:t>Lunch Rush</a:t>
            </a:r>
            <a:endParaRPr lang="en-US" sz="1350" dirty="0"/>
          </a:p>
        </p:txBody>
      </p:sp>
      <p:sp>
        <p:nvSpPr>
          <p:cNvPr id="15" name="Text 10"/>
          <p:cNvSpPr/>
          <p:nvPr/>
        </p:nvSpPr>
        <p:spPr>
          <a:xfrm>
            <a:off x="9299448" y="3044952"/>
            <a:ext cx="2148840" cy="457200"/>
          </a:xfrm>
          <a:prstGeom prst="rect">
            <a:avLst/>
          </a:prstGeom>
          <a:noFill/>
        </p:spPr>
        <p:txBody>
          <a:bodyPr wrap="square" lIns="0" tIns="0" rIns="0" bIns="0" rtlCol="0" anchor="ctr"/>
          <a:lstStyle/>
          <a:p>
            <a:pPr marL="0" indent="0">
              <a:lnSpc>
                <a:spcPts val="1400"/>
              </a:lnSpc>
              <a:buNone/>
            </a:pPr>
            <a:r>
              <a:rPr lang="en-US" sz="1100" dirty="0">
                <a:solidFill>
                  <a:srgbClr val="475569"/>
                </a:solidFill>
                <a:latin typeface="Calibri" panose="020F0502020204030204" pitchFamily="34" charset="0"/>
                <a:ea typeface="Calibri" panose="020F0502020204030204" pitchFamily="34" charset="-122"/>
                <a:cs typeface="Calibri" panose="020F0502020204030204" pitchFamily="34" charset="-120"/>
              </a:rPr>
              <a:t>82 employees in the peak window</a:t>
            </a:r>
            <a:endParaRPr lang="en-US" sz="1100" dirty="0"/>
          </a:p>
        </p:txBody>
      </p:sp>
      <p:sp>
        <p:nvSpPr>
          <p:cNvPr id="16" name="Shape 11"/>
          <p:cNvSpPr/>
          <p:nvPr/>
        </p:nvSpPr>
        <p:spPr>
          <a:xfrm>
            <a:off x="8549640" y="3730752"/>
            <a:ext cx="3017520" cy="987552"/>
          </a:xfrm>
          <a:prstGeom prst="roundRect">
            <a:avLst>
              <a:gd name="adj" fmla="val 9259"/>
            </a:avLst>
          </a:prstGeom>
          <a:solidFill>
            <a:srgbClr val="FFFFFF"/>
          </a:solidFill>
          <a:effectLst>
            <a:outerShdw blurRad="101600" dist="25400" dir="5400000" algn="bl" rotWithShape="0">
              <a:srgbClr val="94A3B8">
                <a:alpha val="28000"/>
              </a:srgbClr>
            </a:outerShdw>
          </a:effectLst>
        </p:spPr>
      </p:sp>
      <p:sp>
        <p:nvSpPr>
          <p:cNvPr id="17" name="Shape 12"/>
          <p:cNvSpPr/>
          <p:nvPr/>
        </p:nvSpPr>
        <p:spPr>
          <a:xfrm>
            <a:off x="8732520" y="4005072"/>
            <a:ext cx="457200" cy="457200"/>
          </a:xfrm>
          <a:prstGeom prst="ellipse">
            <a:avLst/>
          </a:prstGeom>
          <a:solidFill>
            <a:srgbClr val="0D9488"/>
          </a:solidFill>
        </p:spPr>
      </p:sp>
      <p:pic>
        <p:nvPicPr>
          <p:cNvPr id="18" name="Image 3" descr="assets/icon_clock_white.png"/>
          <p:cNvPicPr>
            <a:picLocks noChangeAspect="1"/>
          </p:cNvPicPr>
          <p:nvPr/>
        </p:nvPicPr>
        <p:blipFill>
          <a:blip r:embed="rId4"/>
          <a:stretch>
            <a:fillRect/>
          </a:stretch>
        </p:blipFill>
        <p:spPr>
          <a:xfrm>
            <a:off x="8860536" y="4133088"/>
            <a:ext cx="201168" cy="201168"/>
          </a:xfrm>
          <a:prstGeom prst="rect">
            <a:avLst/>
          </a:prstGeom>
        </p:spPr>
      </p:pic>
      <p:sp>
        <p:nvSpPr>
          <p:cNvPr id="19" name="Text 13"/>
          <p:cNvSpPr/>
          <p:nvPr/>
        </p:nvSpPr>
        <p:spPr>
          <a:xfrm>
            <a:off x="9299448" y="3877056"/>
            <a:ext cx="2148840" cy="274320"/>
          </a:xfrm>
          <a:prstGeom prst="rect">
            <a:avLst/>
          </a:prstGeom>
          <a:noFill/>
        </p:spPr>
        <p:txBody>
          <a:bodyPr wrap="square" lIns="0" tIns="0" rIns="0" bIns="0" rtlCol="0" anchor="ctr"/>
          <a:lstStyle/>
          <a:p>
            <a:pPr marL="0" indent="0">
              <a:buNone/>
            </a:pPr>
            <a:r>
              <a:rPr lang="en-US" sz="1350" b="1" dirty="0">
                <a:solidFill>
                  <a:srgbClr val="0D1B3E"/>
                </a:solidFill>
                <a:latin typeface="Calibri" panose="020F0502020204030204" pitchFamily="34" charset="0"/>
                <a:ea typeface="Calibri" panose="020F0502020204030204" pitchFamily="34" charset="-122"/>
                <a:cs typeface="Calibri" panose="020F0502020204030204" pitchFamily="34" charset="-120"/>
              </a:rPr>
              <a:t>Avg Stay</a:t>
            </a:r>
            <a:endParaRPr lang="en-US" sz="1350" dirty="0"/>
          </a:p>
        </p:txBody>
      </p:sp>
      <p:sp>
        <p:nvSpPr>
          <p:cNvPr id="20" name="Text 14"/>
          <p:cNvSpPr/>
          <p:nvPr/>
        </p:nvSpPr>
        <p:spPr>
          <a:xfrm>
            <a:off x="9299448" y="4151376"/>
            <a:ext cx="2148840" cy="457200"/>
          </a:xfrm>
          <a:prstGeom prst="rect">
            <a:avLst/>
          </a:prstGeom>
          <a:noFill/>
        </p:spPr>
        <p:txBody>
          <a:bodyPr wrap="square" lIns="0" tIns="0" rIns="0" bIns="0" rtlCol="0" anchor="ctr"/>
          <a:lstStyle/>
          <a:p>
            <a:pPr marL="0" indent="0">
              <a:lnSpc>
                <a:spcPts val="1400"/>
              </a:lnSpc>
              <a:buNone/>
            </a:pPr>
            <a:r>
              <a:rPr lang="en-US" sz="1100" dirty="0">
                <a:solidFill>
                  <a:srgbClr val="475569"/>
                </a:solidFill>
                <a:latin typeface="Calibri" panose="020F0502020204030204" pitchFamily="34" charset="0"/>
                <a:ea typeface="Calibri" panose="020F0502020204030204" pitchFamily="34" charset="-122"/>
                <a:cs typeface="Calibri" panose="020F0502020204030204" pitchFamily="34" charset="-120"/>
              </a:rPr>
              <a:t>18 minutes per visit</a:t>
            </a:r>
            <a:endParaRPr lang="en-US" sz="1100" dirty="0"/>
          </a:p>
        </p:txBody>
      </p:sp>
      <p:sp>
        <p:nvSpPr>
          <p:cNvPr id="21" name="Shape 15"/>
          <p:cNvSpPr/>
          <p:nvPr/>
        </p:nvSpPr>
        <p:spPr>
          <a:xfrm>
            <a:off x="8549640" y="4837176"/>
            <a:ext cx="3017520" cy="987552"/>
          </a:xfrm>
          <a:prstGeom prst="roundRect">
            <a:avLst>
              <a:gd name="adj" fmla="val 9259"/>
            </a:avLst>
          </a:prstGeom>
          <a:solidFill>
            <a:srgbClr val="FFFFFF"/>
          </a:solidFill>
          <a:effectLst>
            <a:outerShdw blurRad="101600" dist="25400" dir="5400000" algn="bl" rotWithShape="0">
              <a:srgbClr val="94A3B8">
                <a:alpha val="28000"/>
              </a:srgbClr>
            </a:outerShdw>
          </a:effectLst>
        </p:spPr>
      </p:sp>
      <p:sp>
        <p:nvSpPr>
          <p:cNvPr id="22" name="Shape 16"/>
          <p:cNvSpPr/>
          <p:nvPr/>
        </p:nvSpPr>
        <p:spPr>
          <a:xfrm>
            <a:off x="8732520" y="5111496"/>
            <a:ext cx="457200" cy="457200"/>
          </a:xfrm>
          <a:prstGeom prst="ellipse">
            <a:avLst/>
          </a:prstGeom>
          <a:solidFill>
            <a:srgbClr val="D97706"/>
          </a:solidFill>
        </p:spPr>
      </p:sp>
      <p:pic>
        <p:nvPicPr>
          <p:cNvPr id="23" name="Image 4" descr="assets/icon_chartLine_white.png"/>
          <p:cNvPicPr>
            <a:picLocks noChangeAspect="1"/>
          </p:cNvPicPr>
          <p:nvPr/>
        </p:nvPicPr>
        <p:blipFill>
          <a:blip r:embed="rId5"/>
          <a:stretch>
            <a:fillRect/>
          </a:stretch>
        </p:blipFill>
        <p:spPr>
          <a:xfrm>
            <a:off x="8860536" y="5239512"/>
            <a:ext cx="201168" cy="201168"/>
          </a:xfrm>
          <a:prstGeom prst="rect">
            <a:avLst/>
          </a:prstGeom>
        </p:spPr>
      </p:pic>
      <p:sp>
        <p:nvSpPr>
          <p:cNvPr id="24" name="Text 17"/>
          <p:cNvSpPr/>
          <p:nvPr/>
        </p:nvSpPr>
        <p:spPr>
          <a:xfrm>
            <a:off x="9299448" y="4983480"/>
            <a:ext cx="2148840" cy="274320"/>
          </a:xfrm>
          <a:prstGeom prst="rect">
            <a:avLst/>
          </a:prstGeom>
          <a:noFill/>
        </p:spPr>
        <p:txBody>
          <a:bodyPr wrap="square" lIns="0" tIns="0" rIns="0" bIns="0" rtlCol="0" anchor="ctr"/>
          <a:lstStyle/>
          <a:p>
            <a:pPr marL="0" indent="0">
              <a:buNone/>
            </a:pPr>
            <a:r>
              <a:rPr lang="en-US" sz="1350" b="1" dirty="0">
                <a:solidFill>
                  <a:srgbClr val="0D1B3E"/>
                </a:solidFill>
                <a:latin typeface="Calibri" panose="020F0502020204030204" pitchFamily="34" charset="0"/>
                <a:ea typeface="Calibri" panose="020F0502020204030204" pitchFamily="34" charset="-122"/>
                <a:cs typeface="Calibri" panose="020F0502020204030204" pitchFamily="34" charset="-120"/>
              </a:rPr>
              <a:t>Weekly Trend</a:t>
            </a:r>
            <a:endParaRPr lang="en-US" sz="1350" dirty="0"/>
          </a:p>
        </p:txBody>
      </p:sp>
      <p:sp>
        <p:nvSpPr>
          <p:cNvPr id="25" name="Text 18"/>
          <p:cNvSpPr/>
          <p:nvPr/>
        </p:nvSpPr>
        <p:spPr>
          <a:xfrm>
            <a:off x="9299448" y="5257800"/>
            <a:ext cx="2148840" cy="457200"/>
          </a:xfrm>
          <a:prstGeom prst="rect">
            <a:avLst/>
          </a:prstGeom>
          <a:noFill/>
        </p:spPr>
        <p:txBody>
          <a:bodyPr wrap="square" lIns="0" tIns="0" rIns="0" bIns="0" rtlCol="0" anchor="ctr"/>
          <a:lstStyle/>
          <a:p>
            <a:pPr marL="0" indent="0">
              <a:lnSpc>
                <a:spcPts val="1400"/>
              </a:lnSpc>
              <a:buNone/>
            </a:pPr>
            <a:r>
              <a:rPr lang="en-US" sz="1100" dirty="0">
                <a:solidFill>
                  <a:srgbClr val="475569"/>
                </a:solidFill>
                <a:latin typeface="Calibri" panose="020F0502020204030204" pitchFamily="34" charset="0"/>
                <a:ea typeface="Calibri" panose="020F0502020204030204" pitchFamily="34" charset="-122"/>
                <a:cs typeface="Calibri" panose="020F0502020204030204" pitchFamily="34" charset="-120"/>
              </a:rPr>
              <a:t>Thursday is the busiest day</a:t>
            </a:r>
            <a:endParaRPr lang="en-US" sz="1100" dirty="0"/>
          </a:p>
        </p:txBody>
      </p:sp>
      <p:pic>
        <p:nvPicPr>
          <p:cNvPr id="26" name="Image 5" descr="assets/logo_dark.png"/>
          <p:cNvPicPr>
            <a:picLocks noChangeAspect="1"/>
          </p:cNvPicPr>
          <p:nvPr/>
        </p:nvPicPr>
        <p:blipFill>
          <a:blip r:embed="rId6"/>
          <a:srcRect/>
          <a:stretch>
            <a:fillRect/>
          </a:stretch>
        </p:blipFill>
        <p:spPr>
          <a:xfrm>
            <a:off x="10317175" y="6400800"/>
            <a:ext cx="1280160" cy="214884"/>
          </a:xfrm>
          <a:prstGeom prst="rect">
            <a:avLst/>
          </a:prstGeom>
        </p:spPr>
      </p:pic>
      <p:sp>
        <p:nvSpPr>
          <p:cNvPr id="27" name="Text 19"/>
          <p:cNvSpPr/>
          <p:nvPr/>
        </p:nvSpPr>
        <p:spPr>
          <a:xfrm>
            <a:off x="640080" y="6382512"/>
            <a:ext cx="731520" cy="274320"/>
          </a:xfrm>
          <a:prstGeom prst="rect">
            <a:avLst/>
          </a:prstGeom>
          <a:noFill/>
        </p:spPr>
        <p:txBody>
          <a:bodyPr wrap="square" lIns="0" tIns="0" rIns="0" bIns="0" rtlCol="0" anchor="ctr"/>
          <a:lstStyle/>
          <a:p>
            <a:pPr marL="0" indent="0">
              <a:buNone/>
            </a:pPr>
            <a:r>
              <a:rPr lang="en-US" sz="1100" b="1" dirty="0">
                <a:solidFill>
                  <a:srgbClr val="64748B"/>
                </a:solidFill>
                <a:latin typeface="Calibri" panose="020F0502020204030204" pitchFamily="34" charset="0"/>
                <a:ea typeface="Calibri" panose="020F0502020204030204" pitchFamily="34" charset="-122"/>
                <a:cs typeface="Calibri" panose="020F0502020204030204"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640080" y="457200"/>
            <a:ext cx="10515600" cy="274320"/>
          </a:xfrm>
          <a:prstGeom prst="rect">
            <a:avLst/>
          </a:prstGeom>
          <a:noFill/>
        </p:spPr>
        <p:txBody>
          <a:bodyPr wrap="square" lIns="0" tIns="0" rIns="0" bIns="0" rtlCol="0" anchor="ctr"/>
          <a:lstStyle/>
          <a:p>
            <a:pPr marL="0" indent="0">
              <a:buNone/>
            </a:pPr>
            <a:r>
              <a:rPr lang="en-US" sz="1200" b="1" kern="0" spc="300" dirty="0">
                <a:solidFill>
                  <a:srgbClr val="D62B2B"/>
                </a:solidFill>
                <a:latin typeface="Calibri" panose="020F0502020204030204" pitchFamily="34" charset="0"/>
                <a:ea typeface="Calibri" panose="020F0502020204030204" pitchFamily="34" charset="-122"/>
                <a:cs typeface="Calibri" panose="020F0502020204030204" pitchFamily="34" charset="-120"/>
              </a:rPr>
              <a:t>BUSINESS VALUE</a:t>
            </a:r>
            <a:endParaRPr lang="en-US" sz="1200" dirty="0"/>
          </a:p>
        </p:txBody>
      </p:sp>
      <p:sp>
        <p:nvSpPr>
          <p:cNvPr id="3" name="Text 1"/>
          <p:cNvSpPr/>
          <p:nvPr/>
        </p:nvSpPr>
        <p:spPr>
          <a:xfrm>
            <a:off x="640080" y="740664"/>
            <a:ext cx="10972800" cy="603504"/>
          </a:xfrm>
          <a:prstGeom prst="rect">
            <a:avLst/>
          </a:prstGeom>
          <a:noFill/>
        </p:spPr>
        <p:txBody>
          <a:bodyPr wrap="square" lIns="0" tIns="0" rIns="0" bIns="0" rtlCol="0" anchor="ctr"/>
          <a:lstStyle/>
          <a:p>
            <a:pPr marL="0" indent="0">
              <a:buNone/>
            </a:pPr>
            <a:r>
              <a:rPr lang="en-US" sz="2900" b="1" dirty="0">
                <a:solidFill>
                  <a:srgbClr val="0D1B3E"/>
                </a:solidFill>
                <a:latin typeface="Calibri" panose="020F0502020204030204" pitchFamily="34" charset="0"/>
                <a:ea typeface="Calibri" panose="020F0502020204030204" pitchFamily="34" charset="-122"/>
                <a:cs typeface="Calibri" panose="020F0502020204030204" pitchFamily="34" charset="-120"/>
              </a:rPr>
              <a:t>One platform, value for every stakeholder</a:t>
            </a:r>
            <a:endParaRPr lang="en-US" sz="2900" dirty="0"/>
          </a:p>
        </p:txBody>
      </p:sp>
      <p:sp>
        <p:nvSpPr>
          <p:cNvPr id="4" name="Shape 2"/>
          <p:cNvSpPr/>
          <p:nvPr/>
        </p:nvSpPr>
        <p:spPr>
          <a:xfrm>
            <a:off x="640080" y="1572768"/>
            <a:ext cx="3593592" cy="4160520"/>
          </a:xfrm>
          <a:prstGeom prst="roundRect">
            <a:avLst>
              <a:gd name="adj" fmla="val 2545"/>
            </a:avLst>
          </a:prstGeom>
          <a:solidFill>
            <a:srgbClr val="FFFFFF"/>
          </a:solidFill>
          <a:effectLst>
            <a:outerShdw blurRad="101600" dist="25400" dir="5400000" algn="bl" rotWithShape="0">
              <a:srgbClr val="94A3B8">
                <a:alpha val="28000"/>
              </a:srgbClr>
            </a:outerShdw>
          </a:effectLst>
        </p:spPr>
      </p:sp>
      <p:sp>
        <p:nvSpPr>
          <p:cNvPr id="5" name="Shape 3"/>
          <p:cNvSpPr/>
          <p:nvPr/>
        </p:nvSpPr>
        <p:spPr>
          <a:xfrm>
            <a:off x="932688" y="1883664"/>
            <a:ext cx="841248" cy="841248"/>
          </a:xfrm>
          <a:prstGeom prst="ellipse">
            <a:avLst/>
          </a:prstGeom>
          <a:solidFill>
            <a:srgbClr val="D62B2B"/>
          </a:solidFill>
        </p:spPr>
      </p:sp>
      <p:pic>
        <p:nvPicPr>
          <p:cNvPr id="6" name="Image 0" descr="assets/icon_users_white.png"/>
          <p:cNvPicPr>
            <a:picLocks noChangeAspect="1"/>
          </p:cNvPicPr>
          <p:nvPr/>
        </p:nvPicPr>
        <p:blipFill>
          <a:blip r:embed="rId1"/>
          <a:stretch>
            <a:fillRect/>
          </a:stretch>
        </p:blipFill>
        <p:spPr>
          <a:xfrm>
            <a:off x="1168237" y="2119213"/>
            <a:ext cx="370149" cy="370149"/>
          </a:xfrm>
          <a:prstGeom prst="rect">
            <a:avLst/>
          </a:prstGeom>
        </p:spPr>
      </p:pic>
      <p:sp>
        <p:nvSpPr>
          <p:cNvPr id="7" name="Text 4"/>
          <p:cNvSpPr/>
          <p:nvPr/>
        </p:nvSpPr>
        <p:spPr>
          <a:xfrm>
            <a:off x="1920240" y="1883664"/>
            <a:ext cx="2130552" cy="841248"/>
          </a:xfrm>
          <a:prstGeom prst="rect">
            <a:avLst/>
          </a:prstGeom>
          <a:noFill/>
        </p:spPr>
        <p:txBody>
          <a:bodyPr wrap="square" lIns="0" tIns="0" rIns="0" bIns="0" rtlCol="0" anchor="ctr"/>
          <a:lstStyle/>
          <a:p>
            <a:pPr marL="0" indent="0">
              <a:buNone/>
            </a:pPr>
            <a:r>
              <a:rPr lang="en-US" sz="1900" b="1" dirty="0">
                <a:solidFill>
                  <a:srgbClr val="0D1B3E"/>
                </a:solidFill>
                <a:latin typeface="Calibri" panose="020F0502020204030204" pitchFamily="34" charset="0"/>
                <a:ea typeface="Calibri" panose="020F0502020204030204" pitchFamily="34" charset="-122"/>
                <a:cs typeface="Calibri" panose="020F0502020204030204" pitchFamily="34" charset="-120"/>
              </a:rPr>
              <a:t>HR</a:t>
            </a:r>
            <a:endParaRPr lang="en-US" sz="1900" dirty="0"/>
          </a:p>
        </p:txBody>
      </p:sp>
      <p:sp>
        <p:nvSpPr>
          <p:cNvPr id="8" name="Shape 5"/>
          <p:cNvSpPr/>
          <p:nvPr/>
        </p:nvSpPr>
        <p:spPr>
          <a:xfrm>
            <a:off x="932688" y="2944368"/>
            <a:ext cx="3008376" cy="0"/>
          </a:xfrm>
          <a:prstGeom prst="line">
            <a:avLst/>
          </a:prstGeom>
          <a:noFill/>
          <a:ln w="12700">
            <a:solidFill>
              <a:srgbClr val="E2E8F0"/>
            </a:solidFill>
            <a:prstDash val="solid"/>
          </a:ln>
        </p:spPr>
      </p:sp>
      <p:pic>
        <p:nvPicPr>
          <p:cNvPr id="9" name="Image 1" descr="assets/icon_checkCircle_red.png"/>
          <p:cNvPicPr>
            <a:picLocks noChangeAspect="1"/>
          </p:cNvPicPr>
          <p:nvPr/>
        </p:nvPicPr>
        <p:blipFill>
          <a:blip r:embed="rId2"/>
          <a:stretch>
            <a:fillRect/>
          </a:stretch>
        </p:blipFill>
        <p:spPr>
          <a:xfrm>
            <a:off x="932688" y="3163824"/>
            <a:ext cx="274320" cy="274320"/>
          </a:xfrm>
          <a:prstGeom prst="rect">
            <a:avLst/>
          </a:prstGeom>
        </p:spPr>
      </p:pic>
      <p:sp>
        <p:nvSpPr>
          <p:cNvPr id="10" name="Text 6"/>
          <p:cNvSpPr/>
          <p:nvPr/>
        </p:nvSpPr>
        <p:spPr>
          <a:xfrm>
            <a:off x="1316736" y="3127248"/>
            <a:ext cx="2679192" cy="502920"/>
          </a:xfrm>
          <a:prstGeom prst="rect">
            <a:avLst/>
          </a:prstGeom>
          <a:noFill/>
        </p:spPr>
        <p:txBody>
          <a:bodyPr wrap="square" lIns="0" tIns="0" rIns="0" bIns="0" rtlCol="0" anchor="ctr"/>
          <a:lstStyle/>
          <a:p>
            <a:pPr marL="0" indent="0">
              <a:lnSpc>
                <a:spcPts val="1600"/>
              </a:lnSpc>
              <a:buNone/>
            </a:pPr>
            <a:r>
              <a:rPr lang="en-US" sz="1350" b="1" dirty="0">
                <a:solidFill>
                  <a:srgbClr val="0D1B3E"/>
                </a:solidFill>
                <a:latin typeface="Calibri" panose="020F0502020204030204" pitchFamily="34" charset="0"/>
                <a:ea typeface="Calibri" panose="020F0502020204030204" pitchFamily="34" charset="-122"/>
                <a:cs typeface="Calibri" panose="020F0502020204030204" pitchFamily="34" charset="-120"/>
              </a:rPr>
              <a:t>Productivity &amp; utilization visibility</a:t>
            </a:r>
            <a:endParaRPr lang="en-US" sz="1350" dirty="0"/>
          </a:p>
        </p:txBody>
      </p:sp>
      <p:sp>
        <p:nvSpPr>
          <p:cNvPr id="11" name="Text 7"/>
          <p:cNvSpPr/>
          <p:nvPr/>
        </p:nvSpPr>
        <p:spPr>
          <a:xfrm>
            <a:off x="1316736" y="3648456"/>
            <a:ext cx="2679192" cy="640080"/>
          </a:xfrm>
          <a:prstGeom prst="rect">
            <a:avLst/>
          </a:prstGeom>
          <a:noFill/>
        </p:spPr>
        <p:txBody>
          <a:bodyPr wrap="square" lIns="0" tIns="0" rIns="0" bIns="0" rtlCol="0" anchor="ctr"/>
          <a:lstStyle/>
          <a:p>
            <a:pPr marL="0" indent="0">
              <a:lnSpc>
                <a:spcPts val="1400"/>
              </a:lnSpc>
              <a:buNone/>
            </a:pPr>
            <a:r>
              <a:rPr lang="en-US" sz="1100" dirty="0">
                <a:solidFill>
                  <a:srgbClr val="475569"/>
                </a:solidFill>
                <a:latin typeface="Calibri" panose="020F0502020204030204" pitchFamily="34" charset="0"/>
                <a:ea typeface="Calibri" panose="020F0502020204030204" pitchFamily="34" charset="-122"/>
                <a:cs typeface="Calibri" panose="020F0502020204030204" pitchFamily="34" charset="-120"/>
              </a:rPr>
              <a:t>See how space supports the way teams actually work.</a:t>
            </a:r>
            <a:endParaRPr lang="en-US" sz="1100" dirty="0"/>
          </a:p>
        </p:txBody>
      </p:sp>
      <p:pic>
        <p:nvPicPr>
          <p:cNvPr id="12" name="Image 2" descr="assets/icon_checkCircle_red.png"/>
          <p:cNvPicPr>
            <a:picLocks noChangeAspect="1"/>
          </p:cNvPicPr>
          <p:nvPr/>
        </p:nvPicPr>
        <p:blipFill>
          <a:blip r:embed="rId2"/>
          <a:stretch>
            <a:fillRect/>
          </a:stretch>
        </p:blipFill>
        <p:spPr>
          <a:xfrm>
            <a:off x="932688" y="4425696"/>
            <a:ext cx="274320" cy="274320"/>
          </a:xfrm>
          <a:prstGeom prst="rect">
            <a:avLst/>
          </a:prstGeom>
        </p:spPr>
      </p:pic>
      <p:sp>
        <p:nvSpPr>
          <p:cNvPr id="13" name="Text 8"/>
          <p:cNvSpPr/>
          <p:nvPr/>
        </p:nvSpPr>
        <p:spPr>
          <a:xfrm>
            <a:off x="1316736" y="4389120"/>
            <a:ext cx="2679192" cy="502920"/>
          </a:xfrm>
          <a:prstGeom prst="rect">
            <a:avLst/>
          </a:prstGeom>
          <a:noFill/>
        </p:spPr>
        <p:txBody>
          <a:bodyPr wrap="square" lIns="0" tIns="0" rIns="0" bIns="0" rtlCol="0" anchor="ctr"/>
          <a:lstStyle/>
          <a:p>
            <a:pPr marL="0" indent="0">
              <a:lnSpc>
                <a:spcPts val="1600"/>
              </a:lnSpc>
              <a:buNone/>
            </a:pPr>
            <a:r>
              <a:rPr lang="en-US" sz="1350" b="1" dirty="0">
                <a:solidFill>
                  <a:srgbClr val="0D1B3E"/>
                </a:solidFill>
                <a:latin typeface="Calibri" panose="020F0502020204030204" pitchFamily="34" charset="0"/>
                <a:ea typeface="Calibri" panose="020F0502020204030204" pitchFamily="34" charset="-122"/>
                <a:cs typeface="Calibri" panose="020F0502020204030204" pitchFamily="34" charset="-120"/>
              </a:rPr>
              <a:t>Workforce &amp; space insights</a:t>
            </a:r>
            <a:endParaRPr lang="en-US" sz="1350" dirty="0"/>
          </a:p>
        </p:txBody>
      </p:sp>
      <p:sp>
        <p:nvSpPr>
          <p:cNvPr id="14" name="Text 9"/>
          <p:cNvSpPr/>
          <p:nvPr/>
        </p:nvSpPr>
        <p:spPr>
          <a:xfrm>
            <a:off x="1316736" y="4910328"/>
            <a:ext cx="2679192" cy="640080"/>
          </a:xfrm>
          <a:prstGeom prst="rect">
            <a:avLst/>
          </a:prstGeom>
          <a:noFill/>
        </p:spPr>
        <p:txBody>
          <a:bodyPr wrap="square" lIns="0" tIns="0" rIns="0" bIns="0" rtlCol="0" anchor="ctr"/>
          <a:lstStyle/>
          <a:p>
            <a:pPr marL="0" indent="0">
              <a:lnSpc>
                <a:spcPts val="1400"/>
              </a:lnSpc>
              <a:buNone/>
            </a:pPr>
            <a:r>
              <a:rPr lang="en-US" sz="1100" dirty="0">
                <a:solidFill>
                  <a:srgbClr val="475569"/>
                </a:solidFill>
                <a:latin typeface="Calibri" panose="020F0502020204030204" pitchFamily="34" charset="0"/>
                <a:ea typeface="Calibri" panose="020F0502020204030204" pitchFamily="34" charset="-122"/>
                <a:cs typeface="Calibri" panose="020F0502020204030204" pitchFamily="34" charset="-120"/>
              </a:rPr>
              <a:t>Plan hybrid policy on evidence, not anecdote.</a:t>
            </a:r>
            <a:endParaRPr lang="en-US" sz="1100" dirty="0"/>
          </a:p>
        </p:txBody>
      </p:sp>
      <p:sp>
        <p:nvSpPr>
          <p:cNvPr id="15" name="Shape 10"/>
          <p:cNvSpPr/>
          <p:nvPr/>
        </p:nvSpPr>
        <p:spPr>
          <a:xfrm>
            <a:off x="4416552" y="1572768"/>
            <a:ext cx="3593592" cy="4160520"/>
          </a:xfrm>
          <a:prstGeom prst="roundRect">
            <a:avLst>
              <a:gd name="adj" fmla="val 2545"/>
            </a:avLst>
          </a:prstGeom>
          <a:solidFill>
            <a:srgbClr val="FFFFFF"/>
          </a:solidFill>
          <a:effectLst>
            <a:outerShdw blurRad="101600" dist="25400" dir="5400000" algn="bl" rotWithShape="0">
              <a:srgbClr val="94A3B8">
                <a:alpha val="28000"/>
              </a:srgbClr>
            </a:outerShdw>
          </a:effectLst>
        </p:spPr>
      </p:sp>
      <p:sp>
        <p:nvSpPr>
          <p:cNvPr id="16" name="Shape 11"/>
          <p:cNvSpPr/>
          <p:nvPr/>
        </p:nvSpPr>
        <p:spPr>
          <a:xfrm>
            <a:off x="4709160" y="1883664"/>
            <a:ext cx="841248" cy="841248"/>
          </a:xfrm>
          <a:prstGeom prst="ellipse">
            <a:avLst/>
          </a:prstGeom>
          <a:solidFill>
            <a:srgbClr val="2563EB"/>
          </a:solidFill>
        </p:spPr>
      </p:sp>
      <p:pic>
        <p:nvPicPr>
          <p:cNvPr id="17" name="Image 3" descr="assets/icon_building_white.png"/>
          <p:cNvPicPr>
            <a:picLocks noChangeAspect="1"/>
          </p:cNvPicPr>
          <p:nvPr/>
        </p:nvPicPr>
        <p:blipFill>
          <a:blip r:embed="rId3"/>
          <a:stretch>
            <a:fillRect/>
          </a:stretch>
        </p:blipFill>
        <p:spPr>
          <a:xfrm>
            <a:off x="4944709" y="2119213"/>
            <a:ext cx="370149" cy="370149"/>
          </a:xfrm>
          <a:prstGeom prst="rect">
            <a:avLst/>
          </a:prstGeom>
        </p:spPr>
      </p:pic>
      <p:sp>
        <p:nvSpPr>
          <p:cNvPr id="18" name="Text 12"/>
          <p:cNvSpPr/>
          <p:nvPr/>
        </p:nvSpPr>
        <p:spPr>
          <a:xfrm>
            <a:off x="5696712" y="1883664"/>
            <a:ext cx="2130552" cy="841248"/>
          </a:xfrm>
          <a:prstGeom prst="rect">
            <a:avLst/>
          </a:prstGeom>
          <a:noFill/>
        </p:spPr>
        <p:txBody>
          <a:bodyPr wrap="square" lIns="0" tIns="0" rIns="0" bIns="0" rtlCol="0" anchor="ctr"/>
          <a:lstStyle/>
          <a:p>
            <a:pPr marL="0" indent="0">
              <a:buNone/>
            </a:pPr>
            <a:r>
              <a:rPr lang="en-US" sz="1900" b="1" dirty="0">
                <a:solidFill>
                  <a:srgbClr val="0D1B3E"/>
                </a:solidFill>
                <a:latin typeface="Calibri" panose="020F0502020204030204" pitchFamily="34" charset="0"/>
                <a:ea typeface="Calibri" panose="020F0502020204030204" pitchFamily="34" charset="-122"/>
                <a:cs typeface="Calibri" panose="020F0502020204030204" pitchFamily="34" charset="-120"/>
              </a:rPr>
              <a:t>Admin / Facilities</a:t>
            </a:r>
            <a:endParaRPr lang="en-US" sz="1900" dirty="0"/>
          </a:p>
        </p:txBody>
      </p:sp>
      <p:sp>
        <p:nvSpPr>
          <p:cNvPr id="19" name="Shape 13"/>
          <p:cNvSpPr/>
          <p:nvPr/>
        </p:nvSpPr>
        <p:spPr>
          <a:xfrm>
            <a:off x="4709160" y="2944368"/>
            <a:ext cx="3008376" cy="0"/>
          </a:xfrm>
          <a:prstGeom prst="line">
            <a:avLst/>
          </a:prstGeom>
          <a:noFill/>
          <a:ln w="12700">
            <a:solidFill>
              <a:srgbClr val="E2E8F0"/>
            </a:solidFill>
            <a:prstDash val="solid"/>
          </a:ln>
        </p:spPr>
      </p:sp>
      <p:pic>
        <p:nvPicPr>
          <p:cNvPr id="20" name="Image 4" descr="assets/icon_checkCircle_blue.png"/>
          <p:cNvPicPr>
            <a:picLocks noChangeAspect="1"/>
          </p:cNvPicPr>
          <p:nvPr/>
        </p:nvPicPr>
        <p:blipFill>
          <a:blip r:embed="rId4"/>
          <a:stretch>
            <a:fillRect/>
          </a:stretch>
        </p:blipFill>
        <p:spPr>
          <a:xfrm>
            <a:off x="4709160" y="3163824"/>
            <a:ext cx="274320" cy="274320"/>
          </a:xfrm>
          <a:prstGeom prst="rect">
            <a:avLst/>
          </a:prstGeom>
        </p:spPr>
      </p:pic>
      <p:sp>
        <p:nvSpPr>
          <p:cNvPr id="21" name="Text 14"/>
          <p:cNvSpPr/>
          <p:nvPr/>
        </p:nvSpPr>
        <p:spPr>
          <a:xfrm>
            <a:off x="5093208" y="3127248"/>
            <a:ext cx="2679192" cy="502920"/>
          </a:xfrm>
          <a:prstGeom prst="rect">
            <a:avLst/>
          </a:prstGeom>
          <a:noFill/>
        </p:spPr>
        <p:txBody>
          <a:bodyPr wrap="square" lIns="0" tIns="0" rIns="0" bIns="0" rtlCol="0" anchor="ctr"/>
          <a:lstStyle/>
          <a:p>
            <a:pPr marL="0" indent="0">
              <a:lnSpc>
                <a:spcPts val="1600"/>
              </a:lnSpc>
              <a:buNone/>
            </a:pPr>
            <a:r>
              <a:rPr lang="en-US" sz="1350" b="1" dirty="0">
                <a:solidFill>
                  <a:srgbClr val="0D1B3E"/>
                </a:solidFill>
                <a:latin typeface="Calibri" panose="020F0502020204030204" pitchFamily="34" charset="0"/>
                <a:ea typeface="Calibri" panose="020F0502020204030204" pitchFamily="34" charset="-122"/>
                <a:cs typeface="Calibri" panose="020F0502020204030204" pitchFamily="34" charset="-120"/>
              </a:rPr>
              <a:t>Space optimization</a:t>
            </a:r>
            <a:endParaRPr lang="en-US" sz="1350" dirty="0"/>
          </a:p>
        </p:txBody>
      </p:sp>
      <p:sp>
        <p:nvSpPr>
          <p:cNvPr id="22" name="Text 15"/>
          <p:cNvSpPr/>
          <p:nvPr/>
        </p:nvSpPr>
        <p:spPr>
          <a:xfrm>
            <a:off x="5093208" y="3648456"/>
            <a:ext cx="2679192" cy="640080"/>
          </a:xfrm>
          <a:prstGeom prst="rect">
            <a:avLst/>
          </a:prstGeom>
          <a:noFill/>
        </p:spPr>
        <p:txBody>
          <a:bodyPr wrap="square" lIns="0" tIns="0" rIns="0" bIns="0" rtlCol="0" anchor="ctr"/>
          <a:lstStyle/>
          <a:p>
            <a:pPr marL="0" indent="0">
              <a:lnSpc>
                <a:spcPts val="1400"/>
              </a:lnSpc>
              <a:buNone/>
            </a:pPr>
            <a:r>
              <a:rPr lang="en-US" sz="1100" dirty="0">
                <a:solidFill>
                  <a:srgbClr val="475569"/>
                </a:solidFill>
                <a:latin typeface="Calibri" panose="020F0502020204030204" pitchFamily="34" charset="0"/>
                <a:ea typeface="Calibri" panose="020F0502020204030204" pitchFamily="34" charset="-122"/>
                <a:cs typeface="Calibri" panose="020F0502020204030204" pitchFamily="34" charset="-120"/>
              </a:rPr>
              <a:t>Right-size desks and rooms to real demand.</a:t>
            </a:r>
            <a:endParaRPr lang="en-US" sz="1100" dirty="0"/>
          </a:p>
        </p:txBody>
      </p:sp>
      <p:pic>
        <p:nvPicPr>
          <p:cNvPr id="23" name="Image 5" descr="assets/icon_checkCircle_blue.png"/>
          <p:cNvPicPr>
            <a:picLocks noChangeAspect="1"/>
          </p:cNvPicPr>
          <p:nvPr/>
        </p:nvPicPr>
        <p:blipFill>
          <a:blip r:embed="rId4"/>
          <a:stretch>
            <a:fillRect/>
          </a:stretch>
        </p:blipFill>
        <p:spPr>
          <a:xfrm>
            <a:off x="4709160" y="4425696"/>
            <a:ext cx="274320" cy="274320"/>
          </a:xfrm>
          <a:prstGeom prst="rect">
            <a:avLst/>
          </a:prstGeom>
        </p:spPr>
      </p:pic>
      <p:sp>
        <p:nvSpPr>
          <p:cNvPr id="24" name="Text 16"/>
          <p:cNvSpPr/>
          <p:nvPr/>
        </p:nvSpPr>
        <p:spPr>
          <a:xfrm>
            <a:off x="5093208" y="4389120"/>
            <a:ext cx="2679192" cy="502920"/>
          </a:xfrm>
          <a:prstGeom prst="rect">
            <a:avLst/>
          </a:prstGeom>
          <a:noFill/>
        </p:spPr>
        <p:txBody>
          <a:bodyPr wrap="square" lIns="0" tIns="0" rIns="0" bIns="0" rtlCol="0" anchor="ctr"/>
          <a:lstStyle/>
          <a:p>
            <a:pPr marL="0" indent="0">
              <a:lnSpc>
                <a:spcPts val="1600"/>
              </a:lnSpc>
              <a:buNone/>
            </a:pPr>
            <a:r>
              <a:rPr lang="en-US" sz="1350" b="1" dirty="0">
                <a:solidFill>
                  <a:srgbClr val="0D1B3E"/>
                </a:solidFill>
                <a:latin typeface="Calibri" panose="020F0502020204030204" pitchFamily="34" charset="0"/>
                <a:ea typeface="Calibri" panose="020F0502020204030204" pitchFamily="34" charset="-122"/>
                <a:cs typeface="Calibri" panose="020F0502020204030204" pitchFamily="34" charset="-120"/>
              </a:rPr>
              <a:t>Resource &amp; energy planning</a:t>
            </a:r>
            <a:endParaRPr lang="en-US" sz="1350" dirty="0"/>
          </a:p>
        </p:txBody>
      </p:sp>
      <p:sp>
        <p:nvSpPr>
          <p:cNvPr id="25" name="Text 17"/>
          <p:cNvSpPr/>
          <p:nvPr/>
        </p:nvSpPr>
        <p:spPr>
          <a:xfrm>
            <a:off x="5093208" y="4910328"/>
            <a:ext cx="2679192" cy="640080"/>
          </a:xfrm>
          <a:prstGeom prst="rect">
            <a:avLst/>
          </a:prstGeom>
          <a:noFill/>
        </p:spPr>
        <p:txBody>
          <a:bodyPr wrap="square" lIns="0" tIns="0" rIns="0" bIns="0" rtlCol="0" anchor="ctr"/>
          <a:lstStyle/>
          <a:p>
            <a:pPr marL="0" indent="0">
              <a:lnSpc>
                <a:spcPts val="1400"/>
              </a:lnSpc>
              <a:buNone/>
            </a:pPr>
            <a:r>
              <a:rPr lang="en-US" sz="1100" dirty="0">
                <a:solidFill>
                  <a:srgbClr val="475569"/>
                </a:solidFill>
                <a:latin typeface="Calibri" panose="020F0502020204030204" pitchFamily="34" charset="0"/>
                <a:ea typeface="Calibri" panose="020F0502020204030204" pitchFamily="34" charset="-122"/>
                <a:cs typeface="Calibri" panose="020F0502020204030204" pitchFamily="34" charset="-120"/>
              </a:rPr>
              <a:t>Drive HVAC, cleaning and catering from data.</a:t>
            </a:r>
            <a:endParaRPr lang="en-US" sz="1100" dirty="0"/>
          </a:p>
        </p:txBody>
      </p:sp>
      <p:sp>
        <p:nvSpPr>
          <p:cNvPr id="26" name="Shape 18"/>
          <p:cNvSpPr/>
          <p:nvPr/>
        </p:nvSpPr>
        <p:spPr>
          <a:xfrm>
            <a:off x="8193024" y="1572768"/>
            <a:ext cx="3593592" cy="4160520"/>
          </a:xfrm>
          <a:prstGeom prst="roundRect">
            <a:avLst>
              <a:gd name="adj" fmla="val 2545"/>
            </a:avLst>
          </a:prstGeom>
          <a:solidFill>
            <a:srgbClr val="FFFFFF"/>
          </a:solidFill>
          <a:effectLst>
            <a:outerShdw blurRad="101600" dist="25400" dir="5400000" algn="bl" rotWithShape="0">
              <a:srgbClr val="94A3B8">
                <a:alpha val="28000"/>
              </a:srgbClr>
            </a:outerShdw>
          </a:effectLst>
        </p:spPr>
      </p:sp>
      <p:sp>
        <p:nvSpPr>
          <p:cNvPr id="27" name="Shape 19"/>
          <p:cNvSpPr/>
          <p:nvPr/>
        </p:nvSpPr>
        <p:spPr>
          <a:xfrm>
            <a:off x="8485632" y="1883664"/>
            <a:ext cx="841248" cy="841248"/>
          </a:xfrm>
          <a:prstGeom prst="ellipse">
            <a:avLst/>
          </a:prstGeom>
          <a:solidFill>
            <a:srgbClr val="16A34A"/>
          </a:solidFill>
        </p:spPr>
      </p:sp>
      <p:pic>
        <p:nvPicPr>
          <p:cNvPr id="28" name="Image 6" descr="assets/icon_lightbulb_white.png"/>
          <p:cNvPicPr>
            <a:picLocks noChangeAspect="1"/>
          </p:cNvPicPr>
          <p:nvPr/>
        </p:nvPicPr>
        <p:blipFill>
          <a:blip r:embed="rId5"/>
          <a:stretch>
            <a:fillRect/>
          </a:stretch>
        </p:blipFill>
        <p:spPr>
          <a:xfrm>
            <a:off x="8721181" y="2119213"/>
            <a:ext cx="370149" cy="370149"/>
          </a:xfrm>
          <a:prstGeom prst="rect">
            <a:avLst/>
          </a:prstGeom>
        </p:spPr>
      </p:pic>
      <p:sp>
        <p:nvSpPr>
          <p:cNvPr id="29" name="Text 20"/>
          <p:cNvSpPr/>
          <p:nvPr/>
        </p:nvSpPr>
        <p:spPr>
          <a:xfrm>
            <a:off x="9473184" y="1883664"/>
            <a:ext cx="2130552" cy="841248"/>
          </a:xfrm>
          <a:prstGeom prst="rect">
            <a:avLst/>
          </a:prstGeom>
          <a:noFill/>
        </p:spPr>
        <p:txBody>
          <a:bodyPr wrap="square" lIns="0" tIns="0" rIns="0" bIns="0" rtlCol="0" anchor="ctr"/>
          <a:lstStyle/>
          <a:p>
            <a:pPr marL="0" indent="0">
              <a:buNone/>
            </a:pPr>
            <a:r>
              <a:rPr lang="en-US" sz="1900" b="1" dirty="0">
                <a:solidFill>
                  <a:srgbClr val="0D1B3E"/>
                </a:solidFill>
                <a:latin typeface="Calibri" panose="020F0502020204030204" pitchFamily="34" charset="0"/>
                <a:ea typeface="Calibri" panose="020F0502020204030204" pitchFamily="34" charset="-122"/>
                <a:cs typeface="Calibri" panose="020F0502020204030204" pitchFamily="34" charset="-120"/>
              </a:rPr>
              <a:t>Management</a:t>
            </a:r>
            <a:endParaRPr lang="en-US" sz="1900" dirty="0"/>
          </a:p>
        </p:txBody>
      </p:sp>
      <p:sp>
        <p:nvSpPr>
          <p:cNvPr id="30" name="Shape 21"/>
          <p:cNvSpPr/>
          <p:nvPr/>
        </p:nvSpPr>
        <p:spPr>
          <a:xfrm>
            <a:off x="8485632" y="2944368"/>
            <a:ext cx="3008376" cy="0"/>
          </a:xfrm>
          <a:prstGeom prst="line">
            <a:avLst/>
          </a:prstGeom>
          <a:noFill/>
          <a:ln w="12700">
            <a:solidFill>
              <a:srgbClr val="E2E8F0"/>
            </a:solidFill>
            <a:prstDash val="solid"/>
          </a:ln>
        </p:spPr>
      </p:sp>
      <p:pic>
        <p:nvPicPr>
          <p:cNvPr id="31" name="Image 7" descr="assets/icon_checkCircle_green.png"/>
          <p:cNvPicPr>
            <a:picLocks noChangeAspect="1"/>
          </p:cNvPicPr>
          <p:nvPr/>
        </p:nvPicPr>
        <p:blipFill>
          <a:blip r:embed="rId6"/>
          <a:stretch>
            <a:fillRect/>
          </a:stretch>
        </p:blipFill>
        <p:spPr>
          <a:xfrm>
            <a:off x="8485632" y="3163824"/>
            <a:ext cx="274320" cy="274320"/>
          </a:xfrm>
          <a:prstGeom prst="rect">
            <a:avLst/>
          </a:prstGeom>
        </p:spPr>
      </p:pic>
      <p:sp>
        <p:nvSpPr>
          <p:cNvPr id="32" name="Text 22"/>
          <p:cNvSpPr/>
          <p:nvPr/>
        </p:nvSpPr>
        <p:spPr>
          <a:xfrm>
            <a:off x="8869680" y="3127248"/>
            <a:ext cx="2679192" cy="502920"/>
          </a:xfrm>
          <a:prstGeom prst="rect">
            <a:avLst/>
          </a:prstGeom>
          <a:noFill/>
        </p:spPr>
        <p:txBody>
          <a:bodyPr wrap="square" lIns="0" tIns="0" rIns="0" bIns="0" rtlCol="0" anchor="ctr"/>
          <a:lstStyle/>
          <a:p>
            <a:pPr marL="0" indent="0">
              <a:lnSpc>
                <a:spcPts val="1600"/>
              </a:lnSpc>
              <a:buNone/>
            </a:pPr>
            <a:r>
              <a:rPr lang="en-US" sz="1350" b="1" dirty="0">
                <a:solidFill>
                  <a:srgbClr val="0D1B3E"/>
                </a:solidFill>
                <a:latin typeface="Calibri" panose="020F0502020204030204" pitchFamily="34" charset="0"/>
                <a:ea typeface="Calibri" panose="020F0502020204030204" pitchFamily="34" charset="-122"/>
                <a:cs typeface="Calibri" panose="020F0502020204030204" pitchFamily="34" charset="-120"/>
              </a:rPr>
              <a:t>Data-driven decisions</a:t>
            </a:r>
            <a:endParaRPr lang="en-US" sz="1350" dirty="0"/>
          </a:p>
        </p:txBody>
      </p:sp>
      <p:sp>
        <p:nvSpPr>
          <p:cNvPr id="33" name="Text 23"/>
          <p:cNvSpPr/>
          <p:nvPr/>
        </p:nvSpPr>
        <p:spPr>
          <a:xfrm>
            <a:off x="8869680" y="3648456"/>
            <a:ext cx="2679192" cy="640080"/>
          </a:xfrm>
          <a:prstGeom prst="rect">
            <a:avLst/>
          </a:prstGeom>
          <a:noFill/>
        </p:spPr>
        <p:txBody>
          <a:bodyPr wrap="square" lIns="0" tIns="0" rIns="0" bIns="0" rtlCol="0" anchor="ctr"/>
          <a:lstStyle/>
          <a:p>
            <a:pPr marL="0" indent="0">
              <a:lnSpc>
                <a:spcPts val="1400"/>
              </a:lnSpc>
              <a:buNone/>
            </a:pPr>
            <a:r>
              <a:rPr lang="en-US" sz="1100" dirty="0">
                <a:solidFill>
                  <a:srgbClr val="475569"/>
                </a:solidFill>
                <a:latin typeface="Calibri" panose="020F0502020204030204" pitchFamily="34" charset="0"/>
                <a:ea typeface="Calibri" panose="020F0502020204030204" pitchFamily="34" charset="-122"/>
                <a:cs typeface="Calibri" panose="020F0502020204030204" pitchFamily="34" charset="-120"/>
              </a:rPr>
              <a:t>Lease, consolidate and invest with confidence.</a:t>
            </a:r>
            <a:endParaRPr lang="en-US" sz="1100" dirty="0"/>
          </a:p>
        </p:txBody>
      </p:sp>
      <p:pic>
        <p:nvPicPr>
          <p:cNvPr id="34" name="Image 8" descr="assets/icon_checkCircle_green.png"/>
          <p:cNvPicPr>
            <a:picLocks noChangeAspect="1"/>
          </p:cNvPicPr>
          <p:nvPr/>
        </p:nvPicPr>
        <p:blipFill>
          <a:blip r:embed="rId6"/>
          <a:stretch>
            <a:fillRect/>
          </a:stretch>
        </p:blipFill>
        <p:spPr>
          <a:xfrm>
            <a:off x="8485632" y="4425696"/>
            <a:ext cx="274320" cy="274320"/>
          </a:xfrm>
          <a:prstGeom prst="rect">
            <a:avLst/>
          </a:prstGeom>
        </p:spPr>
      </p:pic>
      <p:sp>
        <p:nvSpPr>
          <p:cNvPr id="35" name="Text 24"/>
          <p:cNvSpPr/>
          <p:nvPr/>
        </p:nvSpPr>
        <p:spPr>
          <a:xfrm>
            <a:off x="8869680" y="4389120"/>
            <a:ext cx="2679192" cy="502920"/>
          </a:xfrm>
          <a:prstGeom prst="rect">
            <a:avLst/>
          </a:prstGeom>
          <a:noFill/>
        </p:spPr>
        <p:txBody>
          <a:bodyPr wrap="square" lIns="0" tIns="0" rIns="0" bIns="0" rtlCol="0" anchor="ctr"/>
          <a:lstStyle/>
          <a:p>
            <a:pPr marL="0" indent="0">
              <a:lnSpc>
                <a:spcPts val="1600"/>
              </a:lnSpc>
              <a:buNone/>
            </a:pPr>
            <a:r>
              <a:rPr lang="en-US" sz="1350" b="1" dirty="0">
                <a:solidFill>
                  <a:srgbClr val="0D1B3E"/>
                </a:solidFill>
                <a:latin typeface="Calibri" panose="020F0502020204030204" pitchFamily="34" charset="0"/>
                <a:ea typeface="Calibri" panose="020F0502020204030204" pitchFamily="34" charset="-122"/>
                <a:cs typeface="Calibri" panose="020F0502020204030204" pitchFamily="34" charset="-120"/>
              </a:rPr>
              <a:t>Operational efficiency</a:t>
            </a:r>
            <a:endParaRPr lang="en-US" sz="1350" dirty="0"/>
          </a:p>
        </p:txBody>
      </p:sp>
      <p:sp>
        <p:nvSpPr>
          <p:cNvPr id="36" name="Text 25"/>
          <p:cNvSpPr/>
          <p:nvPr/>
        </p:nvSpPr>
        <p:spPr>
          <a:xfrm>
            <a:off x="8869680" y="4910328"/>
            <a:ext cx="2679192" cy="640080"/>
          </a:xfrm>
          <a:prstGeom prst="rect">
            <a:avLst/>
          </a:prstGeom>
          <a:noFill/>
        </p:spPr>
        <p:txBody>
          <a:bodyPr wrap="square" lIns="0" tIns="0" rIns="0" bIns="0" rtlCol="0" anchor="ctr"/>
          <a:lstStyle/>
          <a:p>
            <a:pPr marL="0" indent="0">
              <a:lnSpc>
                <a:spcPts val="1400"/>
              </a:lnSpc>
              <a:buNone/>
            </a:pPr>
            <a:r>
              <a:rPr lang="en-US" sz="1100" dirty="0">
                <a:solidFill>
                  <a:srgbClr val="475569"/>
                </a:solidFill>
                <a:latin typeface="Calibri" panose="020F0502020204030204" pitchFamily="34" charset="0"/>
                <a:ea typeface="Calibri" panose="020F0502020204030204" pitchFamily="34" charset="-122"/>
                <a:cs typeface="Calibri" panose="020F0502020204030204" pitchFamily="34" charset="-120"/>
              </a:rPr>
              <a:t>Cut waste across the real-estate portfolio.</a:t>
            </a:r>
            <a:endParaRPr lang="en-US" sz="1100" dirty="0"/>
          </a:p>
        </p:txBody>
      </p:sp>
      <p:pic>
        <p:nvPicPr>
          <p:cNvPr id="37" name="Image 9" descr="assets/logo_dark.png"/>
          <p:cNvPicPr>
            <a:picLocks noChangeAspect="1"/>
          </p:cNvPicPr>
          <p:nvPr/>
        </p:nvPicPr>
        <p:blipFill>
          <a:blip r:embed="rId7"/>
          <a:srcRect/>
          <a:stretch>
            <a:fillRect/>
          </a:stretch>
        </p:blipFill>
        <p:spPr>
          <a:xfrm>
            <a:off x="10317175" y="6400800"/>
            <a:ext cx="1280160" cy="214884"/>
          </a:xfrm>
          <a:prstGeom prst="rect">
            <a:avLst/>
          </a:prstGeom>
        </p:spPr>
      </p:pic>
      <p:sp>
        <p:nvSpPr>
          <p:cNvPr id="38" name="Text 26"/>
          <p:cNvSpPr/>
          <p:nvPr/>
        </p:nvSpPr>
        <p:spPr>
          <a:xfrm>
            <a:off x="640080" y="6382512"/>
            <a:ext cx="731520" cy="274320"/>
          </a:xfrm>
          <a:prstGeom prst="rect">
            <a:avLst/>
          </a:prstGeom>
          <a:noFill/>
        </p:spPr>
        <p:txBody>
          <a:bodyPr wrap="square" lIns="0" tIns="0" rIns="0" bIns="0" rtlCol="0" anchor="ctr"/>
          <a:lstStyle/>
          <a:p>
            <a:pPr marL="0" indent="0">
              <a:buNone/>
            </a:pPr>
            <a:r>
              <a:rPr lang="en-US" sz="1100" b="1" dirty="0">
                <a:solidFill>
                  <a:srgbClr val="64748B"/>
                </a:solidFill>
                <a:latin typeface="Calibri" panose="020F0502020204030204" pitchFamily="34" charset="0"/>
                <a:ea typeface="Calibri" panose="020F0502020204030204" pitchFamily="34" charset="-122"/>
                <a:cs typeface="Calibri" panose="020F0502020204030204"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640080" y="457200"/>
            <a:ext cx="10515600" cy="274320"/>
          </a:xfrm>
          <a:prstGeom prst="rect">
            <a:avLst/>
          </a:prstGeom>
          <a:noFill/>
        </p:spPr>
        <p:txBody>
          <a:bodyPr wrap="square" lIns="0" tIns="0" rIns="0" bIns="0" rtlCol="0" anchor="ctr"/>
          <a:lstStyle/>
          <a:p>
            <a:pPr marL="0" indent="0">
              <a:buNone/>
            </a:pPr>
            <a:r>
              <a:rPr lang="en-US" sz="1200" b="1" kern="0" spc="300" dirty="0">
                <a:solidFill>
                  <a:srgbClr val="D62B2B"/>
                </a:solidFill>
                <a:latin typeface="Calibri" panose="020F0502020204030204" pitchFamily="34" charset="0"/>
                <a:ea typeface="Calibri" panose="020F0502020204030204" pitchFamily="34" charset="-122"/>
                <a:cs typeface="Calibri" panose="020F0502020204030204" pitchFamily="34" charset="-120"/>
              </a:rPr>
              <a:t>SYSTEM ARCHITECTURE</a:t>
            </a:r>
            <a:endParaRPr lang="en-US" sz="1200" dirty="0"/>
          </a:p>
        </p:txBody>
      </p:sp>
      <p:sp>
        <p:nvSpPr>
          <p:cNvPr id="3" name="Text 1"/>
          <p:cNvSpPr/>
          <p:nvPr/>
        </p:nvSpPr>
        <p:spPr>
          <a:xfrm>
            <a:off x="640080" y="740664"/>
            <a:ext cx="10972800" cy="603504"/>
          </a:xfrm>
          <a:prstGeom prst="rect">
            <a:avLst/>
          </a:prstGeom>
          <a:noFill/>
        </p:spPr>
        <p:txBody>
          <a:bodyPr wrap="square" lIns="0" tIns="0" rIns="0" bIns="0" rtlCol="0" anchor="ctr"/>
          <a:lstStyle/>
          <a:p>
            <a:pPr marL="0" indent="0">
              <a:buNone/>
            </a:pPr>
            <a:r>
              <a:rPr lang="en-US" sz="2900" b="1" dirty="0">
                <a:solidFill>
                  <a:srgbClr val="0D1B3E"/>
                </a:solidFill>
                <a:latin typeface="Calibri" panose="020F0502020204030204" pitchFamily="34" charset="0"/>
                <a:ea typeface="Calibri" panose="020F0502020204030204" pitchFamily="34" charset="-122"/>
                <a:cs typeface="Calibri" panose="020F0502020204030204" pitchFamily="34" charset="-120"/>
              </a:rPr>
              <a:t>How the pieces fit together</a:t>
            </a:r>
            <a:endParaRPr lang="en-US" sz="2900" dirty="0"/>
          </a:p>
        </p:txBody>
      </p:sp>
      <p:sp>
        <p:nvSpPr>
          <p:cNvPr id="4" name="Shape 2"/>
          <p:cNvSpPr/>
          <p:nvPr/>
        </p:nvSpPr>
        <p:spPr>
          <a:xfrm>
            <a:off x="640080" y="1627632"/>
            <a:ext cx="10908792" cy="758952"/>
          </a:xfrm>
          <a:prstGeom prst="roundRect">
            <a:avLst>
              <a:gd name="adj" fmla="val 12048"/>
            </a:avLst>
          </a:prstGeom>
          <a:solidFill>
            <a:srgbClr val="FFFFFF"/>
          </a:solidFill>
          <a:effectLst>
            <a:outerShdw blurRad="101600" dist="25400" dir="5400000" algn="bl" rotWithShape="0">
              <a:srgbClr val="94A3B8">
                <a:alpha val="28000"/>
              </a:srgbClr>
            </a:outerShdw>
          </a:effectLst>
        </p:spPr>
      </p:sp>
      <p:sp>
        <p:nvSpPr>
          <p:cNvPr id="5" name="Shape 3"/>
          <p:cNvSpPr/>
          <p:nvPr/>
        </p:nvSpPr>
        <p:spPr>
          <a:xfrm>
            <a:off x="868680" y="1746504"/>
            <a:ext cx="530352" cy="530352"/>
          </a:xfrm>
          <a:prstGeom prst="ellipse">
            <a:avLst/>
          </a:prstGeom>
          <a:solidFill>
            <a:srgbClr val="D62B2B"/>
          </a:solidFill>
        </p:spPr>
      </p:sp>
      <p:sp>
        <p:nvSpPr>
          <p:cNvPr id="6" name="Text 4"/>
          <p:cNvSpPr/>
          <p:nvPr/>
        </p:nvSpPr>
        <p:spPr>
          <a:xfrm>
            <a:off x="868680" y="1746504"/>
            <a:ext cx="530352" cy="530352"/>
          </a:xfrm>
          <a:prstGeom prst="rect">
            <a:avLst/>
          </a:prstGeom>
          <a:noFill/>
        </p:spPr>
        <p:txBody>
          <a:bodyPr wrap="square" lIns="0" tIns="0" rIns="0" bIns="0" rtlCol="0" anchor="ctr"/>
          <a:lstStyle/>
          <a:p>
            <a:pPr marL="0" indent="0" algn="ctr">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800" dirty="0"/>
          </a:p>
        </p:txBody>
      </p:sp>
      <p:pic>
        <p:nvPicPr>
          <p:cNvPr id="7" name="Image 0" descr="assets/icon_video_navy.png"/>
          <p:cNvPicPr>
            <a:picLocks noChangeAspect="1"/>
          </p:cNvPicPr>
          <p:nvPr/>
        </p:nvPicPr>
        <p:blipFill>
          <a:blip r:embed="rId1"/>
          <a:stretch>
            <a:fillRect/>
          </a:stretch>
        </p:blipFill>
        <p:spPr>
          <a:xfrm>
            <a:off x="1691640" y="1819656"/>
            <a:ext cx="384048" cy="384048"/>
          </a:xfrm>
          <a:prstGeom prst="rect">
            <a:avLst/>
          </a:prstGeom>
        </p:spPr>
      </p:pic>
      <p:sp>
        <p:nvSpPr>
          <p:cNvPr id="8" name="Text 5"/>
          <p:cNvSpPr/>
          <p:nvPr/>
        </p:nvSpPr>
        <p:spPr>
          <a:xfrm>
            <a:off x="2286000" y="1746504"/>
            <a:ext cx="2743200" cy="548640"/>
          </a:xfrm>
          <a:prstGeom prst="rect">
            <a:avLst/>
          </a:prstGeom>
          <a:noFill/>
        </p:spPr>
        <p:txBody>
          <a:bodyPr wrap="square" lIns="0" tIns="0" rIns="0" bIns="0" rtlCol="0" anchor="ctr"/>
          <a:lstStyle/>
          <a:p>
            <a:pPr marL="0" indent="0">
              <a:buNone/>
            </a:pPr>
            <a:r>
              <a:rPr lang="en-US" sz="1550" b="1" dirty="0">
                <a:solidFill>
                  <a:srgbClr val="0D1B3E"/>
                </a:solidFill>
                <a:latin typeface="Calibri" panose="020F0502020204030204" pitchFamily="34" charset="0"/>
                <a:ea typeface="Calibri" panose="020F0502020204030204" pitchFamily="34" charset="-122"/>
                <a:cs typeface="Calibri" panose="020F0502020204030204" pitchFamily="34" charset="-120"/>
              </a:rPr>
              <a:t>CCTV Cameras</a:t>
            </a:r>
            <a:endParaRPr lang="en-US" sz="1550" dirty="0"/>
          </a:p>
        </p:txBody>
      </p:sp>
      <p:sp>
        <p:nvSpPr>
          <p:cNvPr id="9" name="Text 6"/>
          <p:cNvSpPr/>
          <p:nvPr/>
        </p:nvSpPr>
        <p:spPr>
          <a:xfrm>
            <a:off x="5120640" y="1746504"/>
            <a:ext cx="6309360" cy="548640"/>
          </a:xfrm>
          <a:prstGeom prst="rect">
            <a:avLst/>
          </a:prstGeom>
          <a:noFill/>
        </p:spPr>
        <p:txBody>
          <a:bodyPr wrap="square" lIns="0" tIns="0" rIns="0" bIns="0" rtlCol="0" anchor="ctr"/>
          <a:lstStyle/>
          <a:p>
            <a:pPr marL="0" indent="0">
              <a:lnSpc>
                <a:spcPts val="1400"/>
              </a:lnSpc>
              <a:buNone/>
            </a:pPr>
            <a:r>
              <a:rPr lang="en-US" sz="1200" dirty="0">
                <a:solidFill>
                  <a:srgbClr val="475569"/>
                </a:solidFill>
                <a:latin typeface="Calibri" panose="020F0502020204030204" pitchFamily="34" charset="0"/>
                <a:ea typeface="Calibri" panose="020F0502020204030204" pitchFamily="34" charset="-122"/>
                <a:cs typeface="Calibri" panose="020F0502020204030204" pitchFamily="34" charset="-120"/>
              </a:rPr>
              <a:t>Existing IP cameras across desks, rooms and the cafeteria stream over the local network.</a:t>
            </a:r>
            <a:endParaRPr lang="en-US" sz="1200" dirty="0"/>
          </a:p>
        </p:txBody>
      </p:sp>
      <p:pic>
        <p:nvPicPr>
          <p:cNvPr id="10" name="Image 1" descr="assets/icon_arrowDown_navy.png"/>
          <p:cNvPicPr>
            <a:picLocks noChangeAspect="1"/>
          </p:cNvPicPr>
          <p:nvPr/>
        </p:nvPicPr>
        <p:blipFill>
          <a:blip r:embed="rId2"/>
          <a:stretch>
            <a:fillRect/>
          </a:stretch>
        </p:blipFill>
        <p:spPr>
          <a:xfrm>
            <a:off x="1033272" y="2231136"/>
            <a:ext cx="201168" cy="201168"/>
          </a:xfrm>
          <a:prstGeom prst="rect">
            <a:avLst/>
          </a:prstGeom>
        </p:spPr>
      </p:pic>
      <p:sp>
        <p:nvSpPr>
          <p:cNvPr id="11" name="Shape 7"/>
          <p:cNvSpPr/>
          <p:nvPr/>
        </p:nvSpPr>
        <p:spPr>
          <a:xfrm>
            <a:off x="640080" y="2478024"/>
            <a:ext cx="10908792" cy="758952"/>
          </a:xfrm>
          <a:prstGeom prst="roundRect">
            <a:avLst>
              <a:gd name="adj" fmla="val 12048"/>
            </a:avLst>
          </a:prstGeom>
          <a:solidFill>
            <a:srgbClr val="FFFFFF"/>
          </a:solidFill>
          <a:effectLst>
            <a:outerShdw blurRad="101600" dist="25400" dir="5400000" algn="bl" rotWithShape="0">
              <a:srgbClr val="94A3B8">
                <a:alpha val="28000"/>
              </a:srgbClr>
            </a:outerShdw>
          </a:effectLst>
        </p:spPr>
      </p:sp>
      <p:sp>
        <p:nvSpPr>
          <p:cNvPr id="12" name="Shape 8"/>
          <p:cNvSpPr/>
          <p:nvPr/>
        </p:nvSpPr>
        <p:spPr>
          <a:xfrm>
            <a:off x="868680" y="2596896"/>
            <a:ext cx="530352" cy="530352"/>
          </a:xfrm>
          <a:prstGeom prst="ellipse">
            <a:avLst/>
          </a:prstGeom>
          <a:solidFill>
            <a:srgbClr val="D97706"/>
          </a:solidFill>
        </p:spPr>
      </p:sp>
      <p:sp>
        <p:nvSpPr>
          <p:cNvPr id="13" name="Text 9"/>
          <p:cNvSpPr/>
          <p:nvPr/>
        </p:nvSpPr>
        <p:spPr>
          <a:xfrm>
            <a:off x="868680" y="2596896"/>
            <a:ext cx="530352" cy="530352"/>
          </a:xfrm>
          <a:prstGeom prst="rect">
            <a:avLst/>
          </a:prstGeom>
          <a:noFill/>
        </p:spPr>
        <p:txBody>
          <a:bodyPr wrap="square" lIns="0" tIns="0" rIns="0" bIns="0" rtlCol="0" anchor="ctr"/>
          <a:lstStyle/>
          <a:p>
            <a:pPr marL="0" indent="0" algn="ctr">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800" dirty="0"/>
          </a:p>
        </p:txBody>
      </p:sp>
      <p:pic>
        <p:nvPicPr>
          <p:cNvPr id="14" name="Image 2" descr="assets/icon_crosshairs_navy.png"/>
          <p:cNvPicPr>
            <a:picLocks noChangeAspect="1"/>
          </p:cNvPicPr>
          <p:nvPr/>
        </p:nvPicPr>
        <p:blipFill>
          <a:blip r:embed="rId3"/>
          <a:stretch>
            <a:fillRect/>
          </a:stretch>
        </p:blipFill>
        <p:spPr>
          <a:xfrm>
            <a:off x="1691640" y="2670048"/>
            <a:ext cx="384048" cy="384048"/>
          </a:xfrm>
          <a:prstGeom prst="rect">
            <a:avLst/>
          </a:prstGeom>
        </p:spPr>
      </p:pic>
      <p:sp>
        <p:nvSpPr>
          <p:cNvPr id="15" name="Text 10"/>
          <p:cNvSpPr/>
          <p:nvPr/>
        </p:nvSpPr>
        <p:spPr>
          <a:xfrm>
            <a:off x="2286000" y="2596896"/>
            <a:ext cx="2743200" cy="548640"/>
          </a:xfrm>
          <a:prstGeom prst="rect">
            <a:avLst/>
          </a:prstGeom>
          <a:noFill/>
        </p:spPr>
        <p:txBody>
          <a:bodyPr wrap="square" lIns="0" tIns="0" rIns="0" bIns="0" rtlCol="0" anchor="ctr"/>
          <a:lstStyle/>
          <a:p>
            <a:pPr marL="0" indent="0">
              <a:buNone/>
            </a:pPr>
            <a:r>
              <a:rPr lang="en-US" sz="1550" b="1" dirty="0">
                <a:solidFill>
                  <a:srgbClr val="0D1B3E"/>
                </a:solidFill>
                <a:latin typeface="Calibri" panose="020F0502020204030204" pitchFamily="34" charset="0"/>
                <a:ea typeface="Calibri" panose="020F0502020204030204" pitchFamily="34" charset="-122"/>
                <a:cs typeface="Calibri" panose="020F0502020204030204" pitchFamily="34" charset="-120"/>
              </a:rPr>
              <a:t>YOLO Detection</a:t>
            </a:r>
            <a:endParaRPr lang="en-US" sz="1550" dirty="0"/>
          </a:p>
        </p:txBody>
      </p:sp>
      <p:sp>
        <p:nvSpPr>
          <p:cNvPr id="16" name="Text 11"/>
          <p:cNvSpPr/>
          <p:nvPr/>
        </p:nvSpPr>
        <p:spPr>
          <a:xfrm>
            <a:off x="5120640" y="2596896"/>
            <a:ext cx="6309360" cy="548640"/>
          </a:xfrm>
          <a:prstGeom prst="rect">
            <a:avLst/>
          </a:prstGeom>
          <a:noFill/>
        </p:spPr>
        <p:txBody>
          <a:bodyPr wrap="square" lIns="0" tIns="0" rIns="0" bIns="0" rtlCol="0" anchor="ctr"/>
          <a:lstStyle/>
          <a:p>
            <a:pPr marL="0" indent="0">
              <a:lnSpc>
                <a:spcPts val="1400"/>
              </a:lnSpc>
              <a:buNone/>
            </a:pPr>
            <a:r>
              <a:rPr lang="en-US" sz="1200" dirty="0">
                <a:solidFill>
                  <a:srgbClr val="475569"/>
                </a:solidFill>
                <a:latin typeface="Calibri" panose="020F0502020204030204" pitchFamily="34" charset="0"/>
                <a:ea typeface="Calibri" panose="020F0502020204030204" pitchFamily="34" charset="-122"/>
                <a:cs typeface="Calibri" panose="020F0502020204030204" pitchFamily="34" charset="-120"/>
              </a:rPr>
              <a:t>A tuned detection model identifies people, seats and zones frame-by-frame.</a:t>
            </a:r>
            <a:endParaRPr lang="en-US" sz="1200" dirty="0"/>
          </a:p>
        </p:txBody>
      </p:sp>
      <p:pic>
        <p:nvPicPr>
          <p:cNvPr id="17" name="Image 3" descr="assets/icon_arrowDown_navy.png"/>
          <p:cNvPicPr>
            <a:picLocks noChangeAspect="1"/>
          </p:cNvPicPr>
          <p:nvPr/>
        </p:nvPicPr>
        <p:blipFill>
          <a:blip r:embed="rId2"/>
          <a:stretch>
            <a:fillRect/>
          </a:stretch>
        </p:blipFill>
        <p:spPr>
          <a:xfrm>
            <a:off x="1033272" y="3081528"/>
            <a:ext cx="201168" cy="201168"/>
          </a:xfrm>
          <a:prstGeom prst="rect">
            <a:avLst/>
          </a:prstGeom>
        </p:spPr>
      </p:pic>
      <p:sp>
        <p:nvSpPr>
          <p:cNvPr id="18" name="Shape 12"/>
          <p:cNvSpPr/>
          <p:nvPr/>
        </p:nvSpPr>
        <p:spPr>
          <a:xfrm>
            <a:off x="640080" y="3328416"/>
            <a:ext cx="10908792" cy="758952"/>
          </a:xfrm>
          <a:prstGeom prst="roundRect">
            <a:avLst>
              <a:gd name="adj" fmla="val 12048"/>
            </a:avLst>
          </a:prstGeom>
          <a:solidFill>
            <a:srgbClr val="FFFFFF"/>
          </a:solidFill>
          <a:effectLst>
            <a:outerShdw blurRad="101600" dist="25400" dir="5400000" algn="bl" rotWithShape="0">
              <a:srgbClr val="94A3B8">
                <a:alpha val="28000"/>
              </a:srgbClr>
            </a:outerShdw>
          </a:effectLst>
        </p:spPr>
      </p:sp>
      <p:sp>
        <p:nvSpPr>
          <p:cNvPr id="19" name="Shape 13"/>
          <p:cNvSpPr/>
          <p:nvPr/>
        </p:nvSpPr>
        <p:spPr>
          <a:xfrm>
            <a:off x="868680" y="3447288"/>
            <a:ext cx="530352" cy="530352"/>
          </a:xfrm>
          <a:prstGeom prst="ellipse">
            <a:avLst/>
          </a:prstGeom>
          <a:solidFill>
            <a:srgbClr val="16A34A"/>
          </a:solidFill>
        </p:spPr>
      </p:sp>
      <p:sp>
        <p:nvSpPr>
          <p:cNvPr id="20" name="Text 14"/>
          <p:cNvSpPr/>
          <p:nvPr/>
        </p:nvSpPr>
        <p:spPr>
          <a:xfrm>
            <a:off x="868680" y="3447288"/>
            <a:ext cx="530352" cy="530352"/>
          </a:xfrm>
          <a:prstGeom prst="rect">
            <a:avLst/>
          </a:prstGeom>
          <a:noFill/>
        </p:spPr>
        <p:txBody>
          <a:bodyPr wrap="square" lIns="0" tIns="0" rIns="0" bIns="0" rtlCol="0" anchor="ctr"/>
          <a:lstStyle/>
          <a:p>
            <a:pPr marL="0" indent="0" algn="ctr">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800" dirty="0"/>
          </a:p>
        </p:txBody>
      </p:sp>
      <p:pic>
        <p:nvPicPr>
          <p:cNvPr id="21" name="Image 4" descr="assets/icon_microchip_navy.png"/>
          <p:cNvPicPr>
            <a:picLocks noChangeAspect="1"/>
          </p:cNvPicPr>
          <p:nvPr/>
        </p:nvPicPr>
        <p:blipFill>
          <a:blip r:embed="rId4"/>
          <a:stretch>
            <a:fillRect/>
          </a:stretch>
        </p:blipFill>
        <p:spPr>
          <a:xfrm>
            <a:off x="1691640" y="3520440"/>
            <a:ext cx="384048" cy="384048"/>
          </a:xfrm>
          <a:prstGeom prst="rect">
            <a:avLst/>
          </a:prstGeom>
        </p:spPr>
      </p:pic>
      <p:sp>
        <p:nvSpPr>
          <p:cNvPr id="22" name="Text 15"/>
          <p:cNvSpPr/>
          <p:nvPr/>
        </p:nvSpPr>
        <p:spPr>
          <a:xfrm>
            <a:off x="2286000" y="3447288"/>
            <a:ext cx="2743200" cy="548640"/>
          </a:xfrm>
          <a:prstGeom prst="rect">
            <a:avLst/>
          </a:prstGeom>
          <a:noFill/>
        </p:spPr>
        <p:txBody>
          <a:bodyPr wrap="square" lIns="0" tIns="0" rIns="0" bIns="0" rtlCol="0" anchor="ctr"/>
          <a:lstStyle/>
          <a:p>
            <a:pPr marL="0" indent="0">
              <a:buNone/>
            </a:pPr>
            <a:r>
              <a:rPr lang="en-US" sz="1550" b="1" dirty="0">
                <a:solidFill>
                  <a:srgbClr val="0D1B3E"/>
                </a:solidFill>
                <a:latin typeface="Calibri" panose="020F0502020204030204" pitchFamily="34" charset="0"/>
                <a:ea typeface="Calibri" panose="020F0502020204030204" pitchFamily="34" charset="-122"/>
                <a:cs typeface="Calibri" panose="020F0502020204030204" pitchFamily="34" charset="-120"/>
              </a:rPr>
              <a:t>Jetson Orin Nano</a:t>
            </a:r>
            <a:endParaRPr lang="en-US" sz="1550" dirty="0"/>
          </a:p>
        </p:txBody>
      </p:sp>
      <p:sp>
        <p:nvSpPr>
          <p:cNvPr id="23" name="Text 16"/>
          <p:cNvSpPr/>
          <p:nvPr/>
        </p:nvSpPr>
        <p:spPr>
          <a:xfrm>
            <a:off x="5120640" y="3447288"/>
            <a:ext cx="6309360" cy="548640"/>
          </a:xfrm>
          <a:prstGeom prst="rect">
            <a:avLst/>
          </a:prstGeom>
          <a:noFill/>
        </p:spPr>
        <p:txBody>
          <a:bodyPr wrap="square" lIns="0" tIns="0" rIns="0" bIns="0" rtlCol="0" anchor="ctr"/>
          <a:lstStyle/>
          <a:p>
            <a:pPr marL="0" indent="0">
              <a:lnSpc>
                <a:spcPts val="1400"/>
              </a:lnSpc>
              <a:buNone/>
            </a:pPr>
            <a:r>
              <a:rPr lang="en-US" sz="1200" dirty="0">
                <a:solidFill>
                  <a:srgbClr val="475569"/>
                </a:solidFill>
                <a:latin typeface="Calibri" panose="020F0502020204030204" pitchFamily="34" charset="0"/>
                <a:ea typeface="Calibri" panose="020F0502020204030204" pitchFamily="34" charset="-122"/>
                <a:cs typeface="Calibri" panose="020F0502020204030204" pitchFamily="34" charset="-120"/>
              </a:rPr>
              <a:t>All inference runs on-premises at the edge — raw video never leaves the building.</a:t>
            </a:r>
            <a:endParaRPr lang="en-US" sz="1200" dirty="0"/>
          </a:p>
        </p:txBody>
      </p:sp>
      <p:pic>
        <p:nvPicPr>
          <p:cNvPr id="24" name="Image 5" descr="assets/icon_arrowDown_navy.png"/>
          <p:cNvPicPr>
            <a:picLocks noChangeAspect="1"/>
          </p:cNvPicPr>
          <p:nvPr/>
        </p:nvPicPr>
        <p:blipFill>
          <a:blip r:embed="rId2"/>
          <a:stretch>
            <a:fillRect/>
          </a:stretch>
        </p:blipFill>
        <p:spPr>
          <a:xfrm>
            <a:off x="1033272" y="3931920"/>
            <a:ext cx="201168" cy="201168"/>
          </a:xfrm>
          <a:prstGeom prst="rect">
            <a:avLst/>
          </a:prstGeom>
        </p:spPr>
      </p:pic>
      <p:sp>
        <p:nvSpPr>
          <p:cNvPr id="25" name="Shape 17"/>
          <p:cNvSpPr/>
          <p:nvPr/>
        </p:nvSpPr>
        <p:spPr>
          <a:xfrm>
            <a:off x="640080" y="4178808"/>
            <a:ext cx="10908792" cy="758952"/>
          </a:xfrm>
          <a:prstGeom prst="roundRect">
            <a:avLst>
              <a:gd name="adj" fmla="val 12048"/>
            </a:avLst>
          </a:prstGeom>
          <a:solidFill>
            <a:srgbClr val="FFFFFF"/>
          </a:solidFill>
          <a:effectLst>
            <a:outerShdw blurRad="101600" dist="25400" dir="5400000" algn="bl" rotWithShape="0">
              <a:srgbClr val="94A3B8">
                <a:alpha val="28000"/>
              </a:srgbClr>
            </a:outerShdw>
          </a:effectLst>
        </p:spPr>
      </p:sp>
      <p:sp>
        <p:nvSpPr>
          <p:cNvPr id="26" name="Shape 18"/>
          <p:cNvSpPr/>
          <p:nvPr/>
        </p:nvSpPr>
        <p:spPr>
          <a:xfrm>
            <a:off x="868680" y="4297680"/>
            <a:ext cx="530352" cy="530352"/>
          </a:xfrm>
          <a:prstGeom prst="ellipse">
            <a:avLst/>
          </a:prstGeom>
          <a:solidFill>
            <a:srgbClr val="2563EB"/>
          </a:solidFill>
        </p:spPr>
      </p:sp>
      <p:sp>
        <p:nvSpPr>
          <p:cNvPr id="27" name="Text 19"/>
          <p:cNvSpPr/>
          <p:nvPr/>
        </p:nvSpPr>
        <p:spPr>
          <a:xfrm>
            <a:off x="868680" y="4297680"/>
            <a:ext cx="530352" cy="530352"/>
          </a:xfrm>
          <a:prstGeom prst="rect">
            <a:avLst/>
          </a:prstGeom>
          <a:noFill/>
        </p:spPr>
        <p:txBody>
          <a:bodyPr wrap="square" lIns="0" tIns="0" rIns="0" bIns="0" rtlCol="0" anchor="ctr"/>
          <a:lstStyle/>
          <a:p>
            <a:pPr marL="0" indent="0" algn="ctr">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800" dirty="0"/>
          </a:p>
        </p:txBody>
      </p:sp>
      <p:pic>
        <p:nvPicPr>
          <p:cNvPr id="28" name="Image 6" descr="assets/icon_chartBar_navy.png"/>
          <p:cNvPicPr>
            <a:picLocks noChangeAspect="1"/>
          </p:cNvPicPr>
          <p:nvPr/>
        </p:nvPicPr>
        <p:blipFill>
          <a:blip r:embed="rId5"/>
          <a:stretch>
            <a:fillRect/>
          </a:stretch>
        </p:blipFill>
        <p:spPr>
          <a:xfrm>
            <a:off x="1691640" y="4370832"/>
            <a:ext cx="384048" cy="384048"/>
          </a:xfrm>
          <a:prstGeom prst="rect">
            <a:avLst/>
          </a:prstGeom>
        </p:spPr>
      </p:pic>
      <p:sp>
        <p:nvSpPr>
          <p:cNvPr id="29" name="Text 20"/>
          <p:cNvSpPr/>
          <p:nvPr/>
        </p:nvSpPr>
        <p:spPr>
          <a:xfrm>
            <a:off x="2286000" y="4297680"/>
            <a:ext cx="2743200" cy="548640"/>
          </a:xfrm>
          <a:prstGeom prst="rect">
            <a:avLst/>
          </a:prstGeom>
          <a:noFill/>
        </p:spPr>
        <p:txBody>
          <a:bodyPr wrap="square" lIns="0" tIns="0" rIns="0" bIns="0" rtlCol="0" anchor="ctr"/>
          <a:lstStyle/>
          <a:p>
            <a:pPr marL="0" indent="0">
              <a:buNone/>
            </a:pPr>
            <a:r>
              <a:rPr lang="en-US" sz="1550" b="1" dirty="0">
                <a:solidFill>
                  <a:srgbClr val="0D1B3E"/>
                </a:solidFill>
                <a:latin typeface="Calibri" panose="020F0502020204030204" pitchFamily="34" charset="0"/>
                <a:ea typeface="Calibri" panose="020F0502020204030204" pitchFamily="34" charset="-122"/>
                <a:cs typeface="Calibri" panose="020F0502020204030204" pitchFamily="34" charset="-120"/>
              </a:rPr>
              <a:t>Analytics Engine</a:t>
            </a:r>
            <a:endParaRPr lang="en-US" sz="1550" dirty="0"/>
          </a:p>
        </p:txBody>
      </p:sp>
      <p:sp>
        <p:nvSpPr>
          <p:cNvPr id="30" name="Text 21"/>
          <p:cNvSpPr/>
          <p:nvPr/>
        </p:nvSpPr>
        <p:spPr>
          <a:xfrm>
            <a:off x="5120640" y="4297680"/>
            <a:ext cx="6309360" cy="548640"/>
          </a:xfrm>
          <a:prstGeom prst="rect">
            <a:avLst/>
          </a:prstGeom>
          <a:noFill/>
        </p:spPr>
        <p:txBody>
          <a:bodyPr wrap="square" lIns="0" tIns="0" rIns="0" bIns="0" rtlCol="0" anchor="ctr"/>
          <a:lstStyle/>
          <a:p>
            <a:pPr marL="0" indent="0">
              <a:lnSpc>
                <a:spcPts val="1400"/>
              </a:lnSpc>
              <a:buNone/>
            </a:pPr>
            <a:r>
              <a:rPr lang="en-US" sz="1200" dirty="0">
                <a:solidFill>
                  <a:srgbClr val="475569"/>
                </a:solidFill>
                <a:latin typeface="Calibri" panose="020F0502020204030204" pitchFamily="34" charset="0"/>
                <a:ea typeface="Calibri" panose="020F0502020204030204" pitchFamily="34" charset="-122"/>
                <a:cs typeface="Calibri" panose="020F0502020204030204" pitchFamily="34" charset="-120"/>
              </a:rPr>
              <a:t>Detections become occupancy, utilization, dwell-time and trend metrics.</a:t>
            </a:r>
            <a:endParaRPr lang="en-US" sz="1200" dirty="0"/>
          </a:p>
        </p:txBody>
      </p:sp>
      <p:pic>
        <p:nvPicPr>
          <p:cNvPr id="31" name="Image 7" descr="assets/icon_arrowDown_navy.png"/>
          <p:cNvPicPr>
            <a:picLocks noChangeAspect="1"/>
          </p:cNvPicPr>
          <p:nvPr/>
        </p:nvPicPr>
        <p:blipFill>
          <a:blip r:embed="rId2"/>
          <a:stretch>
            <a:fillRect/>
          </a:stretch>
        </p:blipFill>
        <p:spPr>
          <a:xfrm>
            <a:off x="1033272" y="4782312"/>
            <a:ext cx="201168" cy="201168"/>
          </a:xfrm>
          <a:prstGeom prst="rect">
            <a:avLst/>
          </a:prstGeom>
        </p:spPr>
      </p:pic>
      <p:sp>
        <p:nvSpPr>
          <p:cNvPr id="32" name="Shape 22"/>
          <p:cNvSpPr/>
          <p:nvPr/>
        </p:nvSpPr>
        <p:spPr>
          <a:xfrm>
            <a:off x="640080" y="5029200"/>
            <a:ext cx="10908792" cy="758952"/>
          </a:xfrm>
          <a:prstGeom prst="roundRect">
            <a:avLst>
              <a:gd name="adj" fmla="val 12048"/>
            </a:avLst>
          </a:prstGeom>
          <a:solidFill>
            <a:srgbClr val="FFFFFF"/>
          </a:solidFill>
          <a:effectLst>
            <a:outerShdw blurRad="101600" dist="25400" dir="5400000" algn="bl" rotWithShape="0">
              <a:srgbClr val="94A3B8">
                <a:alpha val="28000"/>
              </a:srgbClr>
            </a:outerShdw>
          </a:effectLst>
        </p:spPr>
      </p:sp>
      <p:sp>
        <p:nvSpPr>
          <p:cNvPr id="33" name="Shape 23"/>
          <p:cNvSpPr/>
          <p:nvPr/>
        </p:nvSpPr>
        <p:spPr>
          <a:xfrm>
            <a:off x="868680" y="5148072"/>
            <a:ext cx="530352" cy="530352"/>
          </a:xfrm>
          <a:prstGeom prst="ellipse">
            <a:avLst/>
          </a:prstGeom>
          <a:solidFill>
            <a:srgbClr val="8B5CF6"/>
          </a:solidFill>
        </p:spPr>
      </p:sp>
      <p:sp>
        <p:nvSpPr>
          <p:cNvPr id="34" name="Text 24"/>
          <p:cNvSpPr/>
          <p:nvPr/>
        </p:nvSpPr>
        <p:spPr>
          <a:xfrm>
            <a:off x="868680" y="5148072"/>
            <a:ext cx="530352" cy="530352"/>
          </a:xfrm>
          <a:prstGeom prst="rect">
            <a:avLst/>
          </a:prstGeom>
          <a:noFill/>
        </p:spPr>
        <p:txBody>
          <a:bodyPr wrap="square" lIns="0" tIns="0" rIns="0" bIns="0" rtlCol="0" anchor="ctr"/>
          <a:lstStyle/>
          <a:p>
            <a:pPr marL="0" indent="0" algn="ctr">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800" dirty="0"/>
          </a:p>
        </p:txBody>
      </p:sp>
      <p:pic>
        <p:nvPicPr>
          <p:cNvPr id="35" name="Image 8" descr="assets/icon_desktop_navy.png"/>
          <p:cNvPicPr>
            <a:picLocks noChangeAspect="1"/>
          </p:cNvPicPr>
          <p:nvPr/>
        </p:nvPicPr>
        <p:blipFill>
          <a:blip r:embed="rId6"/>
          <a:stretch>
            <a:fillRect/>
          </a:stretch>
        </p:blipFill>
        <p:spPr>
          <a:xfrm>
            <a:off x="1691640" y="5221224"/>
            <a:ext cx="384048" cy="384048"/>
          </a:xfrm>
          <a:prstGeom prst="rect">
            <a:avLst/>
          </a:prstGeom>
        </p:spPr>
      </p:pic>
      <p:sp>
        <p:nvSpPr>
          <p:cNvPr id="36" name="Text 25"/>
          <p:cNvSpPr/>
          <p:nvPr/>
        </p:nvSpPr>
        <p:spPr>
          <a:xfrm>
            <a:off x="2286000" y="5148072"/>
            <a:ext cx="2743200" cy="548640"/>
          </a:xfrm>
          <a:prstGeom prst="rect">
            <a:avLst/>
          </a:prstGeom>
          <a:noFill/>
        </p:spPr>
        <p:txBody>
          <a:bodyPr wrap="square" lIns="0" tIns="0" rIns="0" bIns="0" rtlCol="0" anchor="ctr"/>
          <a:lstStyle/>
          <a:p>
            <a:pPr marL="0" indent="0">
              <a:buNone/>
            </a:pPr>
            <a:r>
              <a:rPr lang="en-US" sz="1550" b="1" dirty="0">
                <a:solidFill>
                  <a:srgbClr val="0D1B3E"/>
                </a:solidFill>
                <a:latin typeface="Calibri" panose="020F0502020204030204" pitchFamily="34" charset="0"/>
                <a:ea typeface="Calibri" panose="020F0502020204030204" pitchFamily="34" charset="-122"/>
                <a:cs typeface="Calibri" panose="020F0502020204030204" pitchFamily="34" charset="-120"/>
              </a:rPr>
              <a:t>Dashboards &amp; Reports</a:t>
            </a:r>
            <a:endParaRPr lang="en-US" sz="1550" dirty="0"/>
          </a:p>
        </p:txBody>
      </p:sp>
      <p:sp>
        <p:nvSpPr>
          <p:cNvPr id="37" name="Text 26"/>
          <p:cNvSpPr/>
          <p:nvPr/>
        </p:nvSpPr>
        <p:spPr>
          <a:xfrm>
            <a:off x="5120640" y="5148072"/>
            <a:ext cx="6309360" cy="548640"/>
          </a:xfrm>
          <a:prstGeom prst="rect">
            <a:avLst/>
          </a:prstGeom>
          <a:noFill/>
        </p:spPr>
        <p:txBody>
          <a:bodyPr wrap="square" lIns="0" tIns="0" rIns="0" bIns="0" rtlCol="0" anchor="ctr"/>
          <a:lstStyle/>
          <a:p>
            <a:pPr marL="0" indent="0">
              <a:lnSpc>
                <a:spcPts val="1400"/>
              </a:lnSpc>
              <a:buNone/>
            </a:pPr>
            <a:r>
              <a:rPr lang="en-US" sz="1200" dirty="0">
                <a:solidFill>
                  <a:srgbClr val="475569"/>
                </a:solidFill>
                <a:latin typeface="Calibri" panose="020F0502020204030204" pitchFamily="34" charset="0"/>
                <a:ea typeface="Calibri" panose="020F0502020204030204" pitchFamily="34" charset="-122"/>
                <a:cs typeface="Calibri" panose="020F0502020204030204" pitchFamily="34" charset="-120"/>
              </a:rPr>
              <a:t>Live dashboards and exportable reports for HR, Facilities and leadership.</a:t>
            </a:r>
            <a:endParaRPr lang="en-US" sz="1200" dirty="0"/>
          </a:p>
        </p:txBody>
      </p:sp>
      <p:pic>
        <p:nvPicPr>
          <p:cNvPr id="38" name="Image 9" descr="assets/logo_dark.png"/>
          <p:cNvPicPr>
            <a:picLocks noChangeAspect="1"/>
          </p:cNvPicPr>
          <p:nvPr/>
        </p:nvPicPr>
        <p:blipFill>
          <a:blip r:embed="rId7"/>
          <a:srcRect/>
          <a:stretch>
            <a:fillRect/>
          </a:stretch>
        </p:blipFill>
        <p:spPr>
          <a:xfrm>
            <a:off x="10317175" y="6400800"/>
            <a:ext cx="1280160" cy="214884"/>
          </a:xfrm>
          <a:prstGeom prst="rect">
            <a:avLst/>
          </a:prstGeom>
        </p:spPr>
      </p:pic>
      <p:sp>
        <p:nvSpPr>
          <p:cNvPr id="39" name="Text 27"/>
          <p:cNvSpPr/>
          <p:nvPr/>
        </p:nvSpPr>
        <p:spPr>
          <a:xfrm>
            <a:off x="640080" y="6382512"/>
            <a:ext cx="731520" cy="274320"/>
          </a:xfrm>
          <a:prstGeom prst="rect">
            <a:avLst/>
          </a:prstGeom>
          <a:noFill/>
        </p:spPr>
        <p:txBody>
          <a:bodyPr wrap="square" lIns="0" tIns="0" rIns="0" bIns="0" rtlCol="0" anchor="ctr"/>
          <a:lstStyle/>
          <a:p>
            <a:pPr marL="0" indent="0">
              <a:buNone/>
            </a:pPr>
            <a:r>
              <a:rPr lang="en-US" sz="1100" b="1" dirty="0">
                <a:solidFill>
                  <a:srgbClr val="64748B"/>
                </a:solidFill>
                <a:latin typeface="Calibri" panose="020F0502020204030204" pitchFamily="34" charset="0"/>
                <a:ea typeface="Calibri" panose="020F0502020204030204" pitchFamily="34" charset="-122"/>
                <a:cs typeface="Calibri" panose="020F0502020204030204" pitchFamily="34" charset="-120"/>
              </a:rPr>
              <a:t>16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640080" y="457200"/>
            <a:ext cx="10515600" cy="274320"/>
          </a:xfrm>
          <a:prstGeom prst="rect">
            <a:avLst/>
          </a:prstGeom>
          <a:noFill/>
        </p:spPr>
        <p:txBody>
          <a:bodyPr wrap="square" lIns="0" tIns="0" rIns="0" bIns="0" rtlCol="0" anchor="ctr"/>
          <a:lstStyle/>
          <a:p>
            <a:pPr marL="0" indent="0">
              <a:buNone/>
            </a:pPr>
            <a:r>
              <a:rPr lang="en-US" sz="1200" b="1" kern="0" spc="300" dirty="0">
                <a:solidFill>
                  <a:srgbClr val="D62B2B"/>
                </a:solidFill>
                <a:latin typeface="Calibri" panose="020F0502020204030204" pitchFamily="34" charset="0"/>
                <a:ea typeface="Calibri" panose="020F0502020204030204" pitchFamily="34" charset="-122"/>
                <a:cs typeface="Calibri" panose="020F0502020204030204" pitchFamily="34" charset="-120"/>
              </a:rPr>
              <a:t>CAPABILITIES</a:t>
            </a:r>
            <a:endParaRPr lang="en-US" sz="1200" dirty="0"/>
          </a:p>
        </p:txBody>
      </p:sp>
      <p:sp>
        <p:nvSpPr>
          <p:cNvPr id="3" name="Text 1"/>
          <p:cNvSpPr/>
          <p:nvPr/>
        </p:nvSpPr>
        <p:spPr>
          <a:xfrm>
            <a:off x="640080" y="740664"/>
            <a:ext cx="10972800" cy="603504"/>
          </a:xfrm>
          <a:prstGeom prst="rect">
            <a:avLst/>
          </a:prstGeom>
          <a:noFill/>
        </p:spPr>
        <p:txBody>
          <a:bodyPr wrap="square" lIns="0" tIns="0" rIns="0" bIns="0" rtlCol="0" anchor="ctr"/>
          <a:lstStyle/>
          <a:p>
            <a:pPr marL="0" indent="0">
              <a:buNone/>
            </a:pPr>
            <a:r>
              <a:rPr lang="en-US" sz="2900" b="1" dirty="0">
                <a:solidFill>
                  <a:srgbClr val="0D1B3E"/>
                </a:solidFill>
                <a:latin typeface="Calibri" panose="020F0502020204030204" pitchFamily="34" charset="0"/>
                <a:ea typeface="Calibri" panose="020F0502020204030204" pitchFamily="34" charset="-122"/>
                <a:cs typeface="Calibri" panose="020F0502020204030204" pitchFamily="34" charset="-120"/>
              </a:rPr>
              <a:t>Everything in one platform</a:t>
            </a:r>
            <a:endParaRPr lang="en-US" sz="2900" dirty="0"/>
          </a:p>
        </p:txBody>
      </p:sp>
      <p:sp>
        <p:nvSpPr>
          <p:cNvPr id="4" name="Shape 2"/>
          <p:cNvSpPr/>
          <p:nvPr/>
        </p:nvSpPr>
        <p:spPr>
          <a:xfrm>
            <a:off x="640080" y="1627632"/>
            <a:ext cx="2679192" cy="1828800"/>
          </a:xfrm>
          <a:prstGeom prst="roundRect">
            <a:avLst>
              <a:gd name="adj" fmla="val 5000"/>
            </a:avLst>
          </a:prstGeom>
          <a:solidFill>
            <a:srgbClr val="FFFFFF"/>
          </a:solidFill>
          <a:effectLst>
            <a:outerShdw blurRad="101600" dist="25400" dir="5400000" algn="bl" rotWithShape="0">
              <a:srgbClr val="94A3B8">
                <a:alpha val="28000"/>
              </a:srgbClr>
            </a:outerShdw>
          </a:effectLst>
        </p:spPr>
      </p:sp>
      <p:sp>
        <p:nvSpPr>
          <p:cNvPr id="5" name="Shape 3"/>
          <p:cNvSpPr/>
          <p:nvPr/>
        </p:nvSpPr>
        <p:spPr>
          <a:xfrm>
            <a:off x="1522476" y="1938528"/>
            <a:ext cx="914400" cy="914400"/>
          </a:xfrm>
          <a:prstGeom prst="ellipse">
            <a:avLst/>
          </a:prstGeom>
          <a:solidFill>
            <a:srgbClr val="2563EB"/>
          </a:solidFill>
        </p:spPr>
      </p:sp>
      <p:pic>
        <p:nvPicPr>
          <p:cNvPr id="6" name="Image 0" descr="assets/icon_gauge_white.png"/>
          <p:cNvPicPr>
            <a:picLocks noChangeAspect="1"/>
          </p:cNvPicPr>
          <p:nvPr/>
        </p:nvPicPr>
        <p:blipFill>
          <a:blip r:embed="rId1"/>
          <a:stretch>
            <a:fillRect/>
          </a:stretch>
        </p:blipFill>
        <p:spPr>
          <a:xfrm>
            <a:off x="1778508" y="2194560"/>
            <a:ext cx="402336" cy="402336"/>
          </a:xfrm>
          <a:prstGeom prst="rect">
            <a:avLst/>
          </a:prstGeom>
        </p:spPr>
      </p:pic>
      <p:sp>
        <p:nvSpPr>
          <p:cNvPr id="7" name="Text 4"/>
          <p:cNvSpPr/>
          <p:nvPr/>
        </p:nvSpPr>
        <p:spPr>
          <a:xfrm>
            <a:off x="822960" y="2926080"/>
            <a:ext cx="2313432" cy="457200"/>
          </a:xfrm>
          <a:prstGeom prst="rect">
            <a:avLst/>
          </a:prstGeom>
          <a:noFill/>
        </p:spPr>
        <p:txBody>
          <a:bodyPr wrap="square" lIns="0" tIns="0" rIns="0" bIns="0" rtlCol="0" anchor="t"/>
          <a:lstStyle/>
          <a:p>
            <a:pPr marL="0" indent="0" algn="ctr">
              <a:lnSpc>
                <a:spcPts val="1500"/>
              </a:lnSpc>
              <a:buNone/>
            </a:pPr>
            <a:r>
              <a:rPr lang="en-US" sz="1350" b="1" dirty="0">
                <a:solidFill>
                  <a:srgbClr val="0D1B3E"/>
                </a:solidFill>
                <a:latin typeface="Calibri" panose="020F0502020204030204" pitchFamily="34" charset="0"/>
                <a:ea typeface="Calibri" panose="020F0502020204030204" pitchFamily="34" charset="-122"/>
                <a:cs typeface="Calibri" panose="020F0502020204030204" pitchFamily="34" charset="-120"/>
              </a:rPr>
              <a:t>Real-Time Analytics</a:t>
            </a:r>
            <a:endParaRPr lang="en-US" sz="1350" dirty="0"/>
          </a:p>
        </p:txBody>
      </p:sp>
      <p:sp>
        <p:nvSpPr>
          <p:cNvPr id="8" name="Shape 5"/>
          <p:cNvSpPr/>
          <p:nvPr/>
        </p:nvSpPr>
        <p:spPr>
          <a:xfrm>
            <a:off x="3502152" y="1627632"/>
            <a:ext cx="2679192" cy="1828800"/>
          </a:xfrm>
          <a:prstGeom prst="roundRect">
            <a:avLst>
              <a:gd name="adj" fmla="val 5000"/>
            </a:avLst>
          </a:prstGeom>
          <a:solidFill>
            <a:srgbClr val="FFFFFF"/>
          </a:solidFill>
          <a:effectLst>
            <a:outerShdw blurRad="101600" dist="25400" dir="5400000" algn="bl" rotWithShape="0">
              <a:srgbClr val="94A3B8">
                <a:alpha val="28000"/>
              </a:srgbClr>
            </a:outerShdw>
          </a:effectLst>
        </p:spPr>
      </p:sp>
      <p:sp>
        <p:nvSpPr>
          <p:cNvPr id="9" name="Shape 6"/>
          <p:cNvSpPr/>
          <p:nvPr/>
        </p:nvSpPr>
        <p:spPr>
          <a:xfrm>
            <a:off x="4384548" y="1938528"/>
            <a:ext cx="914400" cy="914400"/>
          </a:xfrm>
          <a:prstGeom prst="ellipse">
            <a:avLst/>
          </a:prstGeom>
          <a:solidFill>
            <a:srgbClr val="0D9488"/>
          </a:solidFill>
        </p:spPr>
      </p:sp>
      <p:pic>
        <p:nvPicPr>
          <p:cNvPr id="10" name="Image 1" descr="assets/icon_chair_white.png"/>
          <p:cNvPicPr>
            <a:picLocks noChangeAspect="1"/>
          </p:cNvPicPr>
          <p:nvPr/>
        </p:nvPicPr>
        <p:blipFill>
          <a:blip r:embed="rId2"/>
          <a:stretch>
            <a:fillRect/>
          </a:stretch>
        </p:blipFill>
        <p:spPr>
          <a:xfrm>
            <a:off x="4640580" y="2194560"/>
            <a:ext cx="402336" cy="402336"/>
          </a:xfrm>
          <a:prstGeom prst="rect">
            <a:avLst/>
          </a:prstGeom>
        </p:spPr>
      </p:pic>
      <p:sp>
        <p:nvSpPr>
          <p:cNvPr id="11" name="Text 7"/>
          <p:cNvSpPr/>
          <p:nvPr/>
        </p:nvSpPr>
        <p:spPr>
          <a:xfrm>
            <a:off x="3685032" y="2926080"/>
            <a:ext cx="2313432" cy="457200"/>
          </a:xfrm>
          <a:prstGeom prst="rect">
            <a:avLst/>
          </a:prstGeom>
          <a:noFill/>
        </p:spPr>
        <p:txBody>
          <a:bodyPr wrap="square" lIns="0" tIns="0" rIns="0" bIns="0" rtlCol="0" anchor="t"/>
          <a:lstStyle/>
          <a:p>
            <a:pPr marL="0" indent="0" algn="ctr">
              <a:lnSpc>
                <a:spcPts val="1500"/>
              </a:lnSpc>
              <a:buNone/>
            </a:pPr>
            <a:r>
              <a:rPr lang="en-US" sz="1350" b="1" dirty="0">
                <a:solidFill>
                  <a:srgbClr val="0D1B3E"/>
                </a:solidFill>
                <a:latin typeface="Calibri" panose="020F0502020204030204" pitchFamily="34" charset="0"/>
                <a:ea typeface="Calibri" panose="020F0502020204030204" pitchFamily="34" charset="-122"/>
                <a:cs typeface="Calibri" panose="020F0502020204030204" pitchFamily="34" charset="-120"/>
              </a:rPr>
              <a:t>Desk Occupancy Monitoring</a:t>
            </a:r>
            <a:endParaRPr lang="en-US" sz="1350" dirty="0"/>
          </a:p>
        </p:txBody>
      </p:sp>
      <p:sp>
        <p:nvSpPr>
          <p:cNvPr id="12" name="Shape 8"/>
          <p:cNvSpPr/>
          <p:nvPr/>
        </p:nvSpPr>
        <p:spPr>
          <a:xfrm>
            <a:off x="6364224" y="1627632"/>
            <a:ext cx="2679192" cy="1828800"/>
          </a:xfrm>
          <a:prstGeom prst="roundRect">
            <a:avLst>
              <a:gd name="adj" fmla="val 5000"/>
            </a:avLst>
          </a:prstGeom>
          <a:solidFill>
            <a:srgbClr val="FFFFFF"/>
          </a:solidFill>
          <a:effectLst>
            <a:outerShdw blurRad="101600" dist="25400" dir="5400000" algn="bl" rotWithShape="0">
              <a:srgbClr val="94A3B8">
                <a:alpha val="28000"/>
              </a:srgbClr>
            </a:outerShdw>
          </a:effectLst>
        </p:spPr>
      </p:sp>
      <p:sp>
        <p:nvSpPr>
          <p:cNvPr id="13" name="Shape 9"/>
          <p:cNvSpPr/>
          <p:nvPr/>
        </p:nvSpPr>
        <p:spPr>
          <a:xfrm>
            <a:off x="7246620" y="1938528"/>
            <a:ext cx="914400" cy="914400"/>
          </a:xfrm>
          <a:prstGeom prst="ellipse">
            <a:avLst/>
          </a:prstGeom>
          <a:solidFill>
            <a:srgbClr val="8B5CF6"/>
          </a:solidFill>
        </p:spPr>
      </p:sp>
      <p:pic>
        <p:nvPicPr>
          <p:cNvPr id="14" name="Image 2" descr="assets/icon_doorOpen_white.png"/>
          <p:cNvPicPr>
            <a:picLocks noChangeAspect="1"/>
          </p:cNvPicPr>
          <p:nvPr/>
        </p:nvPicPr>
        <p:blipFill>
          <a:blip r:embed="rId3"/>
          <a:stretch>
            <a:fillRect/>
          </a:stretch>
        </p:blipFill>
        <p:spPr>
          <a:xfrm>
            <a:off x="7502652" y="2194560"/>
            <a:ext cx="402336" cy="402336"/>
          </a:xfrm>
          <a:prstGeom prst="rect">
            <a:avLst/>
          </a:prstGeom>
        </p:spPr>
      </p:pic>
      <p:sp>
        <p:nvSpPr>
          <p:cNvPr id="15" name="Text 10"/>
          <p:cNvSpPr/>
          <p:nvPr/>
        </p:nvSpPr>
        <p:spPr>
          <a:xfrm>
            <a:off x="6547104" y="2926080"/>
            <a:ext cx="2313432" cy="457200"/>
          </a:xfrm>
          <a:prstGeom prst="rect">
            <a:avLst/>
          </a:prstGeom>
          <a:noFill/>
        </p:spPr>
        <p:txBody>
          <a:bodyPr wrap="square" lIns="0" tIns="0" rIns="0" bIns="0" rtlCol="0" anchor="t"/>
          <a:lstStyle/>
          <a:p>
            <a:pPr marL="0" indent="0" algn="ctr">
              <a:lnSpc>
                <a:spcPts val="1500"/>
              </a:lnSpc>
              <a:buNone/>
            </a:pPr>
            <a:r>
              <a:rPr lang="en-US" sz="1350" b="1" dirty="0">
                <a:solidFill>
                  <a:srgbClr val="0D1B3E"/>
                </a:solidFill>
                <a:latin typeface="Calibri" panose="020F0502020204030204" pitchFamily="34" charset="0"/>
                <a:ea typeface="Calibri" panose="020F0502020204030204" pitchFamily="34" charset="-122"/>
                <a:cs typeface="Calibri" panose="020F0502020204030204" pitchFamily="34" charset="-120"/>
              </a:rPr>
              <a:t>Meeting Room Utilization</a:t>
            </a:r>
            <a:endParaRPr lang="en-US" sz="1350" dirty="0"/>
          </a:p>
        </p:txBody>
      </p:sp>
      <p:sp>
        <p:nvSpPr>
          <p:cNvPr id="16" name="Shape 11"/>
          <p:cNvSpPr/>
          <p:nvPr/>
        </p:nvSpPr>
        <p:spPr>
          <a:xfrm>
            <a:off x="9226296" y="1627632"/>
            <a:ext cx="2679192" cy="1828800"/>
          </a:xfrm>
          <a:prstGeom prst="roundRect">
            <a:avLst>
              <a:gd name="adj" fmla="val 5000"/>
            </a:avLst>
          </a:prstGeom>
          <a:solidFill>
            <a:srgbClr val="FFFFFF"/>
          </a:solidFill>
          <a:effectLst>
            <a:outerShdw blurRad="101600" dist="25400" dir="5400000" algn="bl" rotWithShape="0">
              <a:srgbClr val="94A3B8">
                <a:alpha val="28000"/>
              </a:srgbClr>
            </a:outerShdw>
          </a:effectLst>
        </p:spPr>
      </p:sp>
      <p:sp>
        <p:nvSpPr>
          <p:cNvPr id="17" name="Shape 12"/>
          <p:cNvSpPr/>
          <p:nvPr/>
        </p:nvSpPr>
        <p:spPr>
          <a:xfrm>
            <a:off x="10108692" y="1938528"/>
            <a:ext cx="914400" cy="914400"/>
          </a:xfrm>
          <a:prstGeom prst="ellipse">
            <a:avLst/>
          </a:prstGeom>
          <a:solidFill>
            <a:srgbClr val="D97706"/>
          </a:solidFill>
        </p:spPr>
      </p:sp>
      <p:pic>
        <p:nvPicPr>
          <p:cNvPr id="18" name="Image 3" descr="assets/icon_mugHot_white.png"/>
          <p:cNvPicPr>
            <a:picLocks noChangeAspect="1"/>
          </p:cNvPicPr>
          <p:nvPr/>
        </p:nvPicPr>
        <p:blipFill>
          <a:blip r:embed="rId4"/>
          <a:stretch>
            <a:fillRect/>
          </a:stretch>
        </p:blipFill>
        <p:spPr>
          <a:xfrm>
            <a:off x="10364724" y="2194560"/>
            <a:ext cx="402336" cy="402336"/>
          </a:xfrm>
          <a:prstGeom prst="rect">
            <a:avLst/>
          </a:prstGeom>
        </p:spPr>
      </p:pic>
      <p:sp>
        <p:nvSpPr>
          <p:cNvPr id="19" name="Text 13"/>
          <p:cNvSpPr/>
          <p:nvPr/>
        </p:nvSpPr>
        <p:spPr>
          <a:xfrm>
            <a:off x="9409176" y="2926080"/>
            <a:ext cx="2313432" cy="457200"/>
          </a:xfrm>
          <a:prstGeom prst="rect">
            <a:avLst/>
          </a:prstGeom>
          <a:noFill/>
        </p:spPr>
        <p:txBody>
          <a:bodyPr wrap="square" lIns="0" tIns="0" rIns="0" bIns="0" rtlCol="0" anchor="t"/>
          <a:lstStyle/>
          <a:p>
            <a:pPr marL="0" indent="0" algn="ctr">
              <a:lnSpc>
                <a:spcPts val="1500"/>
              </a:lnSpc>
              <a:buNone/>
            </a:pPr>
            <a:r>
              <a:rPr lang="en-US" sz="1350" b="1" dirty="0">
                <a:solidFill>
                  <a:srgbClr val="0D1B3E"/>
                </a:solidFill>
                <a:latin typeface="Calibri" panose="020F0502020204030204" pitchFamily="34" charset="0"/>
                <a:ea typeface="Calibri" panose="020F0502020204030204" pitchFamily="34" charset="-122"/>
                <a:cs typeface="Calibri" panose="020F0502020204030204" pitchFamily="34" charset="-120"/>
              </a:rPr>
              <a:t>Cafeteria Analytics</a:t>
            </a:r>
            <a:endParaRPr lang="en-US" sz="1350" dirty="0"/>
          </a:p>
        </p:txBody>
      </p:sp>
      <p:sp>
        <p:nvSpPr>
          <p:cNvPr id="20" name="Shape 14"/>
          <p:cNvSpPr/>
          <p:nvPr/>
        </p:nvSpPr>
        <p:spPr>
          <a:xfrm>
            <a:off x="640080" y="3639312"/>
            <a:ext cx="2679192" cy="1828800"/>
          </a:xfrm>
          <a:prstGeom prst="roundRect">
            <a:avLst>
              <a:gd name="adj" fmla="val 5000"/>
            </a:avLst>
          </a:prstGeom>
          <a:solidFill>
            <a:srgbClr val="FFFFFF"/>
          </a:solidFill>
          <a:effectLst>
            <a:outerShdw blurRad="101600" dist="25400" dir="5400000" algn="bl" rotWithShape="0">
              <a:srgbClr val="94A3B8">
                <a:alpha val="28000"/>
              </a:srgbClr>
            </a:outerShdw>
          </a:effectLst>
        </p:spPr>
      </p:sp>
      <p:sp>
        <p:nvSpPr>
          <p:cNvPr id="21" name="Shape 15"/>
          <p:cNvSpPr/>
          <p:nvPr/>
        </p:nvSpPr>
        <p:spPr>
          <a:xfrm>
            <a:off x="1522476" y="3950208"/>
            <a:ext cx="914400" cy="914400"/>
          </a:xfrm>
          <a:prstGeom prst="ellipse">
            <a:avLst/>
          </a:prstGeom>
          <a:solidFill>
            <a:srgbClr val="16A34A"/>
          </a:solidFill>
        </p:spPr>
      </p:sp>
      <p:pic>
        <p:nvPicPr>
          <p:cNvPr id="22" name="Image 4" descr="assets/icon_chartLine_white.png"/>
          <p:cNvPicPr>
            <a:picLocks noChangeAspect="1"/>
          </p:cNvPicPr>
          <p:nvPr/>
        </p:nvPicPr>
        <p:blipFill>
          <a:blip r:embed="rId5"/>
          <a:stretch>
            <a:fillRect/>
          </a:stretch>
        </p:blipFill>
        <p:spPr>
          <a:xfrm>
            <a:off x="1778508" y="4206240"/>
            <a:ext cx="402336" cy="402336"/>
          </a:xfrm>
          <a:prstGeom prst="rect">
            <a:avLst/>
          </a:prstGeom>
        </p:spPr>
      </p:pic>
      <p:sp>
        <p:nvSpPr>
          <p:cNvPr id="23" name="Text 16"/>
          <p:cNvSpPr/>
          <p:nvPr/>
        </p:nvSpPr>
        <p:spPr>
          <a:xfrm>
            <a:off x="822960" y="4937760"/>
            <a:ext cx="2313432" cy="457200"/>
          </a:xfrm>
          <a:prstGeom prst="rect">
            <a:avLst/>
          </a:prstGeom>
          <a:noFill/>
        </p:spPr>
        <p:txBody>
          <a:bodyPr wrap="square" lIns="0" tIns="0" rIns="0" bIns="0" rtlCol="0" anchor="t"/>
          <a:lstStyle/>
          <a:p>
            <a:pPr marL="0" indent="0" algn="ctr">
              <a:lnSpc>
                <a:spcPts val="1500"/>
              </a:lnSpc>
              <a:buNone/>
            </a:pPr>
            <a:r>
              <a:rPr lang="en-US" sz="1350" b="1" dirty="0">
                <a:solidFill>
                  <a:srgbClr val="0D1B3E"/>
                </a:solidFill>
                <a:latin typeface="Calibri" panose="020F0502020204030204" pitchFamily="34" charset="0"/>
                <a:ea typeface="Calibri" panose="020F0502020204030204" pitchFamily="34" charset="-122"/>
                <a:cs typeface="Calibri" panose="020F0502020204030204" pitchFamily="34" charset="-120"/>
              </a:rPr>
              <a:t>Productivity &amp; Utilization Tracking</a:t>
            </a:r>
            <a:endParaRPr lang="en-US" sz="1350" dirty="0"/>
          </a:p>
        </p:txBody>
      </p:sp>
      <p:sp>
        <p:nvSpPr>
          <p:cNvPr id="24" name="Shape 17"/>
          <p:cNvSpPr/>
          <p:nvPr/>
        </p:nvSpPr>
        <p:spPr>
          <a:xfrm>
            <a:off x="3502152" y="3639312"/>
            <a:ext cx="2679192" cy="1828800"/>
          </a:xfrm>
          <a:prstGeom prst="roundRect">
            <a:avLst>
              <a:gd name="adj" fmla="val 5000"/>
            </a:avLst>
          </a:prstGeom>
          <a:solidFill>
            <a:srgbClr val="FFFFFF"/>
          </a:solidFill>
          <a:effectLst>
            <a:outerShdw blurRad="101600" dist="25400" dir="5400000" algn="bl" rotWithShape="0">
              <a:srgbClr val="94A3B8">
                <a:alpha val="28000"/>
              </a:srgbClr>
            </a:outerShdw>
          </a:effectLst>
        </p:spPr>
      </p:sp>
      <p:sp>
        <p:nvSpPr>
          <p:cNvPr id="25" name="Shape 18"/>
          <p:cNvSpPr/>
          <p:nvPr/>
        </p:nvSpPr>
        <p:spPr>
          <a:xfrm>
            <a:off x="4384548" y="3950208"/>
            <a:ext cx="914400" cy="914400"/>
          </a:xfrm>
          <a:prstGeom prst="ellipse">
            <a:avLst/>
          </a:prstGeom>
          <a:solidFill>
            <a:srgbClr val="D62B2B"/>
          </a:solidFill>
        </p:spPr>
      </p:sp>
      <p:pic>
        <p:nvPicPr>
          <p:cNvPr id="26" name="Image 5" descr="assets/icon_mapPin_white.png"/>
          <p:cNvPicPr>
            <a:picLocks noChangeAspect="1"/>
          </p:cNvPicPr>
          <p:nvPr/>
        </p:nvPicPr>
        <p:blipFill>
          <a:blip r:embed="rId6"/>
          <a:stretch>
            <a:fillRect/>
          </a:stretch>
        </p:blipFill>
        <p:spPr>
          <a:xfrm>
            <a:off x="4640580" y="4206240"/>
            <a:ext cx="402336" cy="402336"/>
          </a:xfrm>
          <a:prstGeom prst="rect">
            <a:avLst/>
          </a:prstGeom>
        </p:spPr>
      </p:pic>
      <p:sp>
        <p:nvSpPr>
          <p:cNvPr id="27" name="Text 19"/>
          <p:cNvSpPr/>
          <p:nvPr/>
        </p:nvSpPr>
        <p:spPr>
          <a:xfrm>
            <a:off x="3685032" y="4937760"/>
            <a:ext cx="2313432" cy="457200"/>
          </a:xfrm>
          <a:prstGeom prst="rect">
            <a:avLst/>
          </a:prstGeom>
          <a:noFill/>
        </p:spPr>
        <p:txBody>
          <a:bodyPr wrap="square" lIns="0" tIns="0" rIns="0" bIns="0" rtlCol="0" anchor="t"/>
          <a:lstStyle/>
          <a:p>
            <a:pPr marL="0" indent="0" algn="ctr">
              <a:lnSpc>
                <a:spcPts val="1500"/>
              </a:lnSpc>
              <a:buNone/>
            </a:pPr>
            <a:r>
              <a:rPr lang="en-US" sz="1350" b="1" dirty="0">
                <a:solidFill>
                  <a:srgbClr val="0D1B3E"/>
                </a:solidFill>
                <a:latin typeface="Calibri" panose="020F0502020204030204" pitchFamily="34" charset="0"/>
                <a:ea typeface="Calibri" panose="020F0502020204030204" pitchFamily="34" charset="-122"/>
                <a:cs typeface="Calibri" panose="020F0502020204030204" pitchFamily="34" charset="-120"/>
              </a:rPr>
              <a:t>Occupancy Heatmaps</a:t>
            </a:r>
            <a:endParaRPr lang="en-US" sz="1350" dirty="0"/>
          </a:p>
        </p:txBody>
      </p:sp>
      <p:sp>
        <p:nvSpPr>
          <p:cNvPr id="28" name="Shape 20"/>
          <p:cNvSpPr/>
          <p:nvPr/>
        </p:nvSpPr>
        <p:spPr>
          <a:xfrm>
            <a:off x="6364224" y="3639312"/>
            <a:ext cx="2679192" cy="1828800"/>
          </a:xfrm>
          <a:prstGeom prst="roundRect">
            <a:avLst>
              <a:gd name="adj" fmla="val 5000"/>
            </a:avLst>
          </a:prstGeom>
          <a:solidFill>
            <a:srgbClr val="FFFFFF"/>
          </a:solidFill>
          <a:effectLst>
            <a:outerShdw blurRad="101600" dist="25400" dir="5400000" algn="bl" rotWithShape="0">
              <a:srgbClr val="94A3B8">
                <a:alpha val="28000"/>
              </a:srgbClr>
            </a:outerShdw>
          </a:effectLst>
        </p:spPr>
      </p:sp>
      <p:sp>
        <p:nvSpPr>
          <p:cNvPr id="29" name="Shape 21"/>
          <p:cNvSpPr/>
          <p:nvPr/>
        </p:nvSpPr>
        <p:spPr>
          <a:xfrm>
            <a:off x="7246620" y="3950208"/>
            <a:ext cx="914400" cy="914400"/>
          </a:xfrm>
          <a:prstGeom prst="ellipse">
            <a:avLst/>
          </a:prstGeom>
          <a:solidFill>
            <a:srgbClr val="2563EB"/>
          </a:solidFill>
        </p:spPr>
      </p:sp>
      <p:pic>
        <p:nvPicPr>
          <p:cNvPr id="30" name="Image 6" descr="assets/icon_fileAlt_white.png"/>
          <p:cNvPicPr>
            <a:picLocks noChangeAspect="1"/>
          </p:cNvPicPr>
          <p:nvPr/>
        </p:nvPicPr>
        <p:blipFill>
          <a:blip r:embed="rId7"/>
          <a:stretch>
            <a:fillRect/>
          </a:stretch>
        </p:blipFill>
        <p:spPr>
          <a:xfrm>
            <a:off x="7502652" y="4206240"/>
            <a:ext cx="402336" cy="402336"/>
          </a:xfrm>
          <a:prstGeom prst="rect">
            <a:avLst/>
          </a:prstGeom>
        </p:spPr>
      </p:pic>
      <p:sp>
        <p:nvSpPr>
          <p:cNvPr id="31" name="Text 22"/>
          <p:cNvSpPr/>
          <p:nvPr/>
        </p:nvSpPr>
        <p:spPr>
          <a:xfrm>
            <a:off x="6547104" y="4937760"/>
            <a:ext cx="2313432" cy="457200"/>
          </a:xfrm>
          <a:prstGeom prst="rect">
            <a:avLst/>
          </a:prstGeom>
          <a:noFill/>
        </p:spPr>
        <p:txBody>
          <a:bodyPr wrap="square" lIns="0" tIns="0" rIns="0" bIns="0" rtlCol="0" anchor="t"/>
          <a:lstStyle/>
          <a:p>
            <a:pPr marL="0" indent="0" algn="ctr">
              <a:lnSpc>
                <a:spcPts val="1500"/>
              </a:lnSpc>
              <a:buNone/>
            </a:pPr>
            <a:r>
              <a:rPr lang="en-US" sz="1350" b="1" dirty="0">
                <a:solidFill>
                  <a:srgbClr val="0D1B3E"/>
                </a:solidFill>
                <a:latin typeface="Calibri" panose="020F0502020204030204" pitchFamily="34" charset="0"/>
                <a:ea typeface="Calibri" panose="020F0502020204030204" pitchFamily="34" charset="-122"/>
                <a:cs typeface="Calibri" panose="020F0502020204030204" pitchFamily="34" charset="-120"/>
              </a:rPr>
              <a:t>Reports &amp; Insights</a:t>
            </a:r>
            <a:endParaRPr lang="en-US" sz="1350" dirty="0"/>
          </a:p>
        </p:txBody>
      </p:sp>
      <p:sp>
        <p:nvSpPr>
          <p:cNvPr id="32" name="Shape 23"/>
          <p:cNvSpPr/>
          <p:nvPr/>
        </p:nvSpPr>
        <p:spPr>
          <a:xfrm>
            <a:off x="9226296" y="3639312"/>
            <a:ext cx="2679192" cy="1828800"/>
          </a:xfrm>
          <a:prstGeom prst="roundRect">
            <a:avLst>
              <a:gd name="adj" fmla="val 5000"/>
            </a:avLst>
          </a:prstGeom>
          <a:solidFill>
            <a:srgbClr val="FFFFFF"/>
          </a:solidFill>
          <a:effectLst>
            <a:outerShdw blurRad="101600" dist="25400" dir="5400000" algn="bl" rotWithShape="0">
              <a:srgbClr val="94A3B8">
                <a:alpha val="28000"/>
              </a:srgbClr>
            </a:outerShdw>
          </a:effectLst>
        </p:spPr>
      </p:sp>
      <p:sp>
        <p:nvSpPr>
          <p:cNvPr id="33" name="Shape 24"/>
          <p:cNvSpPr/>
          <p:nvPr/>
        </p:nvSpPr>
        <p:spPr>
          <a:xfrm>
            <a:off x="10108692" y="3950208"/>
            <a:ext cx="914400" cy="914400"/>
          </a:xfrm>
          <a:prstGeom prst="ellipse">
            <a:avLst/>
          </a:prstGeom>
          <a:solidFill>
            <a:srgbClr val="0D9488"/>
          </a:solidFill>
        </p:spPr>
      </p:sp>
      <p:pic>
        <p:nvPicPr>
          <p:cNvPr id="34" name="Image 7" descr="assets/icon_microchip_white.png"/>
          <p:cNvPicPr>
            <a:picLocks noChangeAspect="1"/>
          </p:cNvPicPr>
          <p:nvPr/>
        </p:nvPicPr>
        <p:blipFill>
          <a:blip r:embed="rId8"/>
          <a:stretch>
            <a:fillRect/>
          </a:stretch>
        </p:blipFill>
        <p:spPr>
          <a:xfrm>
            <a:off x="10364724" y="4206240"/>
            <a:ext cx="402336" cy="402336"/>
          </a:xfrm>
          <a:prstGeom prst="rect">
            <a:avLst/>
          </a:prstGeom>
        </p:spPr>
      </p:pic>
      <p:sp>
        <p:nvSpPr>
          <p:cNvPr id="35" name="Text 25"/>
          <p:cNvSpPr/>
          <p:nvPr/>
        </p:nvSpPr>
        <p:spPr>
          <a:xfrm>
            <a:off x="9409176" y="4937760"/>
            <a:ext cx="2313432" cy="457200"/>
          </a:xfrm>
          <a:prstGeom prst="rect">
            <a:avLst/>
          </a:prstGeom>
          <a:noFill/>
        </p:spPr>
        <p:txBody>
          <a:bodyPr wrap="square" lIns="0" tIns="0" rIns="0" bIns="0" rtlCol="0" anchor="t"/>
          <a:lstStyle/>
          <a:p>
            <a:pPr marL="0" indent="0" algn="ctr">
              <a:lnSpc>
                <a:spcPts val="1500"/>
              </a:lnSpc>
              <a:buNone/>
            </a:pPr>
            <a:r>
              <a:rPr lang="en-US" sz="1350" b="1" dirty="0">
                <a:solidFill>
                  <a:srgbClr val="0D1B3E"/>
                </a:solidFill>
                <a:latin typeface="Calibri" panose="020F0502020204030204" pitchFamily="34" charset="0"/>
                <a:ea typeface="Calibri" panose="020F0502020204030204" pitchFamily="34" charset="-122"/>
                <a:cs typeface="Calibri" panose="020F0502020204030204" pitchFamily="34" charset="-120"/>
              </a:rPr>
              <a:t>Edge AI Deployment</a:t>
            </a:r>
            <a:endParaRPr lang="en-US" sz="1350" dirty="0"/>
          </a:p>
        </p:txBody>
      </p:sp>
      <p:pic>
        <p:nvPicPr>
          <p:cNvPr id="36" name="Image 8" descr="assets/logo_dark.png"/>
          <p:cNvPicPr>
            <a:picLocks noChangeAspect="1"/>
          </p:cNvPicPr>
          <p:nvPr/>
        </p:nvPicPr>
        <p:blipFill>
          <a:blip r:embed="rId9"/>
          <a:srcRect/>
          <a:stretch>
            <a:fillRect/>
          </a:stretch>
        </p:blipFill>
        <p:spPr>
          <a:xfrm>
            <a:off x="10317175" y="6400800"/>
            <a:ext cx="1280160" cy="214884"/>
          </a:xfrm>
          <a:prstGeom prst="rect">
            <a:avLst/>
          </a:prstGeom>
        </p:spPr>
      </p:pic>
      <p:sp>
        <p:nvSpPr>
          <p:cNvPr id="37" name="Text 26"/>
          <p:cNvSpPr/>
          <p:nvPr/>
        </p:nvSpPr>
        <p:spPr>
          <a:xfrm>
            <a:off x="640080" y="6382512"/>
            <a:ext cx="731520" cy="274320"/>
          </a:xfrm>
          <a:prstGeom prst="rect">
            <a:avLst/>
          </a:prstGeom>
          <a:noFill/>
        </p:spPr>
        <p:txBody>
          <a:bodyPr wrap="square" lIns="0" tIns="0" rIns="0" bIns="0" rtlCol="0" anchor="ctr"/>
          <a:lstStyle/>
          <a:p>
            <a:pPr marL="0" indent="0">
              <a:buNone/>
            </a:pPr>
            <a:r>
              <a:rPr lang="en-US" sz="1100" b="1" dirty="0">
                <a:solidFill>
                  <a:srgbClr val="64748B"/>
                </a:solidFill>
                <a:latin typeface="Calibri" panose="020F0502020204030204" pitchFamily="34" charset="0"/>
                <a:ea typeface="Calibri" panose="020F0502020204030204" pitchFamily="34" charset="-122"/>
                <a:cs typeface="Calibri" panose="020F0502020204030204" pitchFamily="34" charset="-120"/>
              </a:rPr>
              <a:t>17</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7772400" y="3200400"/>
            <a:ext cx="8229600" cy="8229600"/>
          </a:xfrm>
          <a:prstGeom prst="ellipse">
            <a:avLst/>
          </a:prstGeom>
          <a:solidFill>
            <a:srgbClr val="16285A"/>
          </a:solidFill>
        </p:spPr>
      </p:sp>
      <p:sp>
        <p:nvSpPr>
          <p:cNvPr id="3" name="Text 1"/>
          <p:cNvSpPr/>
          <p:nvPr/>
        </p:nvSpPr>
        <p:spPr>
          <a:xfrm>
            <a:off x="640080" y="502920"/>
            <a:ext cx="8229600" cy="274320"/>
          </a:xfrm>
          <a:prstGeom prst="rect">
            <a:avLst/>
          </a:prstGeom>
          <a:noFill/>
        </p:spPr>
        <p:txBody>
          <a:bodyPr wrap="square" lIns="0" tIns="0" rIns="0" bIns="0" rtlCol="0" anchor="ctr"/>
          <a:lstStyle/>
          <a:p>
            <a:pPr marL="0" indent="0">
              <a:buNone/>
            </a:pPr>
            <a:r>
              <a:rPr lang="en-US" sz="1200" b="1" kern="0" spc="300" dirty="0">
                <a:solidFill>
                  <a:srgbClr val="7DA3FF"/>
                </a:solidFill>
                <a:latin typeface="Calibri" panose="020F0502020204030204" pitchFamily="34" charset="0"/>
                <a:ea typeface="Calibri" panose="020F0502020204030204" pitchFamily="34" charset="-122"/>
                <a:cs typeface="Calibri" panose="020F0502020204030204" pitchFamily="34" charset="-120"/>
              </a:rPr>
              <a:t>WHY TRINETRA SYSTEMS</a:t>
            </a:r>
            <a:endParaRPr lang="en-US" sz="1200" dirty="0"/>
          </a:p>
        </p:txBody>
      </p:sp>
      <p:sp>
        <p:nvSpPr>
          <p:cNvPr id="4" name="Text 2"/>
          <p:cNvSpPr/>
          <p:nvPr/>
        </p:nvSpPr>
        <p:spPr>
          <a:xfrm>
            <a:off x="640080" y="786384"/>
            <a:ext cx="10058400" cy="603504"/>
          </a:xfrm>
          <a:prstGeom prst="rect">
            <a:avLst/>
          </a:prstGeom>
          <a:noFill/>
        </p:spPr>
        <p:txBody>
          <a:bodyPr wrap="square" lIns="0" tIns="0" rIns="0" bIns="0" rtlCol="0" anchor="ctr"/>
          <a:lstStyle/>
          <a:p>
            <a:pPr marL="0" indent="0">
              <a:buNone/>
            </a:pPr>
            <a:r>
              <a:rPr lang="en-US" sz="2900" b="1" dirty="0">
                <a:solidFill>
                  <a:srgbClr val="FFFFFF"/>
                </a:solidFill>
                <a:latin typeface="Calibri" panose="020F0502020204030204" pitchFamily="34" charset="0"/>
                <a:ea typeface="Calibri" panose="020F0502020204030204" pitchFamily="34" charset="-122"/>
                <a:cs typeface="Calibri" panose="020F0502020204030204" pitchFamily="34" charset="-120"/>
              </a:rPr>
              <a:t>A partner, not just a product</a:t>
            </a:r>
            <a:endParaRPr lang="en-US" sz="2900" dirty="0"/>
          </a:p>
        </p:txBody>
      </p:sp>
      <p:sp>
        <p:nvSpPr>
          <p:cNvPr id="5" name="Shape 3"/>
          <p:cNvSpPr/>
          <p:nvPr/>
        </p:nvSpPr>
        <p:spPr>
          <a:xfrm>
            <a:off x="640080" y="1691640"/>
            <a:ext cx="3593592" cy="2011680"/>
          </a:xfrm>
          <a:prstGeom prst="roundRect">
            <a:avLst>
              <a:gd name="adj" fmla="val 5000"/>
            </a:avLst>
          </a:prstGeom>
          <a:solidFill>
            <a:srgbClr val="FFFFFF"/>
          </a:solidFill>
          <a:effectLst>
            <a:outerShdw blurRad="127000" dist="38100" dir="5400000" algn="bl" rotWithShape="0">
              <a:srgbClr val="000000">
                <a:alpha val="35000"/>
              </a:srgbClr>
            </a:outerShdw>
          </a:effectLst>
        </p:spPr>
      </p:sp>
      <p:sp>
        <p:nvSpPr>
          <p:cNvPr id="6" name="Shape 4"/>
          <p:cNvSpPr/>
          <p:nvPr/>
        </p:nvSpPr>
        <p:spPr>
          <a:xfrm>
            <a:off x="914400" y="1965960"/>
            <a:ext cx="749808" cy="749808"/>
          </a:xfrm>
          <a:prstGeom prst="roundRect">
            <a:avLst>
              <a:gd name="adj" fmla="val 26000"/>
            </a:avLst>
          </a:prstGeom>
          <a:solidFill>
            <a:srgbClr val="D62B2B"/>
          </a:solidFill>
        </p:spPr>
      </p:sp>
      <p:pic>
        <p:nvPicPr>
          <p:cNvPr id="7" name="Image 0" descr="assets/icon_cogs_white.png"/>
          <p:cNvPicPr>
            <a:picLocks noChangeAspect="1"/>
          </p:cNvPicPr>
          <p:nvPr/>
        </p:nvPicPr>
        <p:blipFill>
          <a:blip r:embed="rId1"/>
          <a:stretch>
            <a:fillRect/>
          </a:stretch>
        </p:blipFill>
        <p:spPr>
          <a:xfrm>
            <a:off x="1139342" y="2190902"/>
            <a:ext cx="299923" cy="299923"/>
          </a:xfrm>
          <a:prstGeom prst="rect">
            <a:avLst/>
          </a:prstGeom>
        </p:spPr>
      </p:pic>
      <p:sp>
        <p:nvSpPr>
          <p:cNvPr id="8" name="Text 5"/>
          <p:cNvSpPr/>
          <p:nvPr/>
        </p:nvSpPr>
        <p:spPr>
          <a:xfrm>
            <a:off x="914400" y="2825496"/>
            <a:ext cx="3044952" cy="365760"/>
          </a:xfrm>
          <a:prstGeom prst="rect">
            <a:avLst/>
          </a:prstGeom>
          <a:noFill/>
        </p:spPr>
        <p:txBody>
          <a:bodyPr wrap="square" lIns="0" tIns="0" rIns="0" bIns="0" rtlCol="0" anchor="ctr"/>
          <a:lstStyle/>
          <a:p>
            <a:pPr marL="0" indent="0">
              <a:buNone/>
            </a:pPr>
            <a:r>
              <a:rPr lang="en-US" sz="1500" b="1" dirty="0">
                <a:solidFill>
                  <a:srgbClr val="0D1B3E"/>
                </a:solidFill>
                <a:latin typeface="Calibri" panose="020F0502020204030204" pitchFamily="34" charset="0"/>
                <a:ea typeface="Calibri" panose="020F0502020204030204" pitchFamily="34" charset="-122"/>
                <a:cs typeface="Calibri" panose="020F0502020204030204" pitchFamily="34" charset="-120"/>
              </a:rPr>
              <a:t>Custom AI Solutions</a:t>
            </a:r>
            <a:endParaRPr lang="en-US" sz="1500" dirty="0"/>
          </a:p>
        </p:txBody>
      </p:sp>
      <p:sp>
        <p:nvSpPr>
          <p:cNvPr id="9" name="Text 6"/>
          <p:cNvSpPr/>
          <p:nvPr/>
        </p:nvSpPr>
        <p:spPr>
          <a:xfrm>
            <a:off x="914400" y="3172968"/>
            <a:ext cx="3044952" cy="502920"/>
          </a:xfrm>
          <a:prstGeom prst="rect">
            <a:avLst/>
          </a:prstGeom>
          <a:noFill/>
        </p:spPr>
        <p:txBody>
          <a:bodyPr wrap="square" lIns="0" tIns="0" rIns="0" bIns="0" rtlCol="0" anchor="ctr"/>
          <a:lstStyle/>
          <a:p>
            <a:pPr marL="0" indent="0">
              <a:lnSpc>
                <a:spcPts val="1400"/>
              </a:lnSpc>
              <a:buNone/>
            </a:pPr>
            <a:r>
              <a:rPr lang="en-US" sz="1120" dirty="0">
                <a:solidFill>
                  <a:srgbClr val="475569"/>
                </a:solidFill>
                <a:latin typeface="Calibri" panose="020F0502020204030204" pitchFamily="34" charset="0"/>
                <a:ea typeface="Calibri" panose="020F0502020204030204" pitchFamily="34" charset="-122"/>
                <a:cs typeface="Calibri" panose="020F0502020204030204" pitchFamily="34" charset="-120"/>
              </a:rPr>
              <a:t>Detection models tuned to your cameras, layout and goals.</a:t>
            </a:r>
            <a:endParaRPr lang="en-US" sz="1120" dirty="0"/>
          </a:p>
        </p:txBody>
      </p:sp>
      <p:sp>
        <p:nvSpPr>
          <p:cNvPr id="10" name="Shape 7"/>
          <p:cNvSpPr/>
          <p:nvPr/>
        </p:nvSpPr>
        <p:spPr>
          <a:xfrm>
            <a:off x="4416552" y="1691640"/>
            <a:ext cx="3593592" cy="2011680"/>
          </a:xfrm>
          <a:prstGeom prst="roundRect">
            <a:avLst>
              <a:gd name="adj" fmla="val 5000"/>
            </a:avLst>
          </a:prstGeom>
          <a:solidFill>
            <a:srgbClr val="FFFFFF"/>
          </a:solidFill>
          <a:effectLst>
            <a:outerShdw blurRad="127000" dist="38100" dir="5400000" algn="bl" rotWithShape="0">
              <a:srgbClr val="000000">
                <a:alpha val="35000"/>
              </a:srgbClr>
            </a:outerShdw>
          </a:effectLst>
        </p:spPr>
      </p:sp>
      <p:sp>
        <p:nvSpPr>
          <p:cNvPr id="11" name="Shape 8"/>
          <p:cNvSpPr/>
          <p:nvPr/>
        </p:nvSpPr>
        <p:spPr>
          <a:xfrm>
            <a:off x="4690872" y="1965960"/>
            <a:ext cx="749808" cy="749808"/>
          </a:xfrm>
          <a:prstGeom prst="roundRect">
            <a:avLst>
              <a:gd name="adj" fmla="val 26000"/>
            </a:avLst>
          </a:prstGeom>
          <a:solidFill>
            <a:srgbClr val="2563EB"/>
          </a:solidFill>
        </p:spPr>
      </p:sp>
      <p:pic>
        <p:nvPicPr>
          <p:cNvPr id="12" name="Image 1" descr="assets/icon_microchip_white.png"/>
          <p:cNvPicPr>
            <a:picLocks noChangeAspect="1"/>
          </p:cNvPicPr>
          <p:nvPr/>
        </p:nvPicPr>
        <p:blipFill>
          <a:blip r:embed="rId2"/>
          <a:stretch>
            <a:fillRect/>
          </a:stretch>
        </p:blipFill>
        <p:spPr>
          <a:xfrm>
            <a:off x="4915814" y="2190902"/>
            <a:ext cx="299923" cy="299923"/>
          </a:xfrm>
          <a:prstGeom prst="rect">
            <a:avLst/>
          </a:prstGeom>
        </p:spPr>
      </p:pic>
      <p:sp>
        <p:nvSpPr>
          <p:cNvPr id="13" name="Text 9"/>
          <p:cNvSpPr/>
          <p:nvPr/>
        </p:nvSpPr>
        <p:spPr>
          <a:xfrm>
            <a:off x="4690872" y="2825496"/>
            <a:ext cx="3044952" cy="365760"/>
          </a:xfrm>
          <a:prstGeom prst="rect">
            <a:avLst/>
          </a:prstGeom>
          <a:noFill/>
        </p:spPr>
        <p:txBody>
          <a:bodyPr wrap="square" lIns="0" tIns="0" rIns="0" bIns="0" rtlCol="0" anchor="ctr"/>
          <a:lstStyle/>
          <a:p>
            <a:pPr marL="0" indent="0">
              <a:buNone/>
            </a:pPr>
            <a:r>
              <a:rPr lang="en-US" sz="1500" b="1" dirty="0">
                <a:solidFill>
                  <a:srgbClr val="0D1B3E"/>
                </a:solidFill>
                <a:latin typeface="Calibri" panose="020F0502020204030204" pitchFamily="34" charset="0"/>
                <a:ea typeface="Calibri" panose="020F0502020204030204" pitchFamily="34" charset="-122"/>
                <a:cs typeface="Calibri" panose="020F0502020204030204" pitchFamily="34" charset="-120"/>
              </a:rPr>
              <a:t>Edge AI Expertise</a:t>
            </a:r>
            <a:endParaRPr lang="en-US" sz="1500" dirty="0"/>
          </a:p>
        </p:txBody>
      </p:sp>
      <p:sp>
        <p:nvSpPr>
          <p:cNvPr id="14" name="Text 10"/>
          <p:cNvSpPr/>
          <p:nvPr/>
        </p:nvSpPr>
        <p:spPr>
          <a:xfrm>
            <a:off x="4690872" y="3172968"/>
            <a:ext cx="3044952" cy="502920"/>
          </a:xfrm>
          <a:prstGeom prst="rect">
            <a:avLst/>
          </a:prstGeom>
          <a:noFill/>
        </p:spPr>
        <p:txBody>
          <a:bodyPr wrap="square" lIns="0" tIns="0" rIns="0" bIns="0" rtlCol="0" anchor="ctr"/>
          <a:lstStyle/>
          <a:p>
            <a:pPr marL="0" indent="0">
              <a:lnSpc>
                <a:spcPts val="1400"/>
              </a:lnSpc>
              <a:buNone/>
            </a:pPr>
            <a:r>
              <a:rPr lang="en-US" sz="1120" dirty="0">
                <a:solidFill>
                  <a:srgbClr val="475569"/>
                </a:solidFill>
                <a:latin typeface="Calibri" panose="020F0502020204030204" pitchFamily="34" charset="0"/>
                <a:ea typeface="Calibri" panose="020F0502020204030204" pitchFamily="34" charset="-122"/>
                <a:cs typeface="Calibri" panose="020F0502020204030204" pitchFamily="34" charset="-120"/>
              </a:rPr>
              <a:t>Deep specialism in on-device inference and optimization.</a:t>
            </a:r>
            <a:endParaRPr lang="en-US" sz="1120" dirty="0"/>
          </a:p>
        </p:txBody>
      </p:sp>
      <p:sp>
        <p:nvSpPr>
          <p:cNvPr id="15" name="Shape 11"/>
          <p:cNvSpPr/>
          <p:nvPr/>
        </p:nvSpPr>
        <p:spPr>
          <a:xfrm>
            <a:off x="8193024" y="1691640"/>
            <a:ext cx="3593592" cy="2011680"/>
          </a:xfrm>
          <a:prstGeom prst="roundRect">
            <a:avLst>
              <a:gd name="adj" fmla="val 5000"/>
            </a:avLst>
          </a:prstGeom>
          <a:solidFill>
            <a:srgbClr val="FFFFFF"/>
          </a:solidFill>
          <a:effectLst>
            <a:outerShdw blurRad="127000" dist="38100" dir="5400000" algn="bl" rotWithShape="0">
              <a:srgbClr val="000000">
                <a:alpha val="35000"/>
              </a:srgbClr>
            </a:outerShdw>
          </a:effectLst>
        </p:spPr>
      </p:sp>
      <p:sp>
        <p:nvSpPr>
          <p:cNvPr id="16" name="Shape 12"/>
          <p:cNvSpPr/>
          <p:nvPr/>
        </p:nvSpPr>
        <p:spPr>
          <a:xfrm>
            <a:off x="8467344" y="1965960"/>
            <a:ext cx="749808" cy="749808"/>
          </a:xfrm>
          <a:prstGeom prst="roundRect">
            <a:avLst>
              <a:gd name="adj" fmla="val 26000"/>
            </a:avLst>
          </a:prstGeom>
          <a:solidFill>
            <a:srgbClr val="16A34A"/>
          </a:solidFill>
        </p:spPr>
      </p:sp>
      <p:pic>
        <p:nvPicPr>
          <p:cNvPr id="17" name="Image 2" descr="assets/icon_award_white.png"/>
          <p:cNvPicPr>
            <a:picLocks noChangeAspect="1"/>
          </p:cNvPicPr>
          <p:nvPr/>
        </p:nvPicPr>
        <p:blipFill>
          <a:blip r:embed="rId3"/>
          <a:stretch>
            <a:fillRect/>
          </a:stretch>
        </p:blipFill>
        <p:spPr>
          <a:xfrm>
            <a:off x="8692286" y="2190902"/>
            <a:ext cx="299923" cy="299923"/>
          </a:xfrm>
          <a:prstGeom prst="rect">
            <a:avLst/>
          </a:prstGeom>
        </p:spPr>
      </p:pic>
      <p:sp>
        <p:nvSpPr>
          <p:cNvPr id="18" name="Text 13"/>
          <p:cNvSpPr/>
          <p:nvPr/>
        </p:nvSpPr>
        <p:spPr>
          <a:xfrm>
            <a:off x="8467344" y="2825496"/>
            <a:ext cx="3044952" cy="365760"/>
          </a:xfrm>
          <a:prstGeom prst="rect">
            <a:avLst/>
          </a:prstGeom>
          <a:noFill/>
        </p:spPr>
        <p:txBody>
          <a:bodyPr wrap="square" lIns="0" tIns="0" rIns="0" bIns="0" rtlCol="0" anchor="ctr"/>
          <a:lstStyle/>
          <a:p>
            <a:pPr marL="0" indent="0">
              <a:buNone/>
            </a:pPr>
            <a:r>
              <a:rPr lang="en-US" sz="1500" b="1" dirty="0">
                <a:solidFill>
                  <a:srgbClr val="0D1B3E"/>
                </a:solidFill>
                <a:latin typeface="Calibri" panose="020F0502020204030204" pitchFamily="34" charset="0"/>
                <a:ea typeface="Calibri" panose="020F0502020204030204" pitchFamily="34" charset="-122"/>
                <a:cs typeface="Calibri" panose="020F0502020204030204" pitchFamily="34" charset="-120"/>
              </a:rPr>
              <a:t>NVIDIA Partner Experience</a:t>
            </a:r>
            <a:endParaRPr lang="en-US" sz="1500" dirty="0"/>
          </a:p>
        </p:txBody>
      </p:sp>
      <p:sp>
        <p:nvSpPr>
          <p:cNvPr id="19" name="Text 14"/>
          <p:cNvSpPr/>
          <p:nvPr/>
        </p:nvSpPr>
        <p:spPr>
          <a:xfrm>
            <a:off x="8467344" y="3172968"/>
            <a:ext cx="3044952" cy="502920"/>
          </a:xfrm>
          <a:prstGeom prst="rect">
            <a:avLst/>
          </a:prstGeom>
          <a:noFill/>
        </p:spPr>
        <p:txBody>
          <a:bodyPr wrap="square" lIns="0" tIns="0" rIns="0" bIns="0" rtlCol="0" anchor="ctr"/>
          <a:lstStyle/>
          <a:p>
            <a:pPr marL="0" indent="0">
              <a:lnSpc>
                <a:spcPts val="1400"/>
              </a:lnSpc>
              <a:buNone/>
            </a:pPr>
            <a:r>
              <a:rPr lang="en-US" sz="1120" dirty="0">
                <a:solidFill>
                  <a:srgbClr val="475569"/>
                </a:solidFill>
                <a:latin typeface="Calibri" panose="020F0502020204030204" pitchFamily="34" charset="0"/>
                <a:ea typeface="Calibri" panose="020F0502020204030204" pitchFamily="34" charset="-122"/>
                <a:cs typeface="Calibri" panose="020F0502020204030204" pitchFamily="34" charset="-120"/>
              </a:rPr>
              <a:t>Hands-on track record across the Jetson platform.</a:t>
            </a:r>
            <a:endParaRPr lang="en-US" sz="1120" dirty="0"/>
          </a:p>
        </p:txBody>
      </p:sp>
      <p:sp>
        <p:nvSpPr>
          <p:cNvPr id="20" name="Shape 15"/>
          <p:cNvSpPr/>
          <p:nvPr/>
        </p:nvSpPr>
        <p:spPr>
          <a:xfrm>
            <a:off x="640080" y="3886200"/>
            <a:ext cx="3593592" cy="2011680"/>
          </a:xfrm>
          <a:prstGeom prst="roundRect">
            <a:avLst>
              <a:gd name="adj" fmla="val 5000"/>
            </a:avLst>
          </a:prstGeom>
          <a:solidFill>
            <a:srgbClr val="FFFFFF"/>
          </a:solidFill>
          <a:effectLst>
            <a:outerShdw blurRad="127000" dist="38100" dir="5400000" algn="bl" rotWithShape="0">
              <a:srgbClr val="000000">
                <a:alpha val="35000"/>
              </a:srgbClr>
            </a:outerShdw>
          </a:effectLst>
        </p:spPr>
      </p:sp>
      <p:sp>
        <p:nvSpPr>
          <p:cNvPr id="21" name="Shape 16"/>
          <p:cNvSpPr/>
          <p:nvPr/>
        </p:nvSpPr>
        <p:spPr>
          <a:xfrm>
            <a:off x="914400" y="4160520"/>
            <a:ext cx="749808" cy="749808"/>
          </a:xfrm>
          <a:prstGeom prst="roundRect">
            <a:avLst>
              <a:gd name="adj" fmla="val 26000"/>
            </a:avLst>
          </a:prstGeom>
          <a:solidFill>
            <a:srgbClr val="D97706"/>
          </a:solidFill>
        </p:spPr>
      </p:sp>
      <p:pic>
        <p:nvPicPr>
          <p:cNvPr id="22" name="Image 3" descr="assets/icon_route_white.png"/>
          <p:cNvPicPr>
            <a:picLocks noChangeAspect="1"/>
          </p:cNvPicPr>
          <p:nvPr/>
        </p:nvPicPr>
        <p:blipFill>
          <a:blip r:embed="rId4"/>
          <a:stretch>
            <a:fillRect/>
          </a:stretch>
        </p:blipFill>
        <p:spPr>
          <a:xfrm>
            <a:off x="1139342" y="4385462"/>
            <a:ext cx="299923" cy="299923"/>
          </a:xfrm>
          <a:prstGeom prst="rect">
            <a:avLst/>
          </a:prstGeom>
        </p:spPr>
      </p:pic>
      <p:sp>
        <p:nvSpPr>
          <p:cNvPr id="23" name="Text 17"/>
          <p:cNvSpPr/>
          <p:nvPr/>
        </p:nvSpPr>
        <p:spPr>
          <a:xfrm>
            <a:off x="914400" y="5020056"/>
            <a:ext cx="3044952" cy="365760"/>
          </a:xfrm>
          <a:prstGeom prst="rect">
            <a:avLst/>
          </a:prstGeom>
          <a:noFill/>
        </p:spPr>
        <p:txBody>
          <a:bodyPr wrap="square" lIns="0" tIns="0" rIns="0" bIns="0" rtlCol="0" anchor="ctr"/>
          <a:lstStyle/>
          <a:p>
            <a:pPr marL="0" indent="0">
              <a:buNone/>
            </a:pPr>
            <a:r>
              <a:rPr lang="en-US" sz="1500" b="1" dirty="0">
                <a:solidFill>
                  <a:srgbClr val="0D1B3E"/>
                </a:solidFill>
                <a:latin typeface="Calibri" panose="020F0502020204030204" pitchFamily="34" charset="0"/>
                <a:ea typeface="Calibri" panose="020F0502020204030204" pitchFamily="34" charset="-122"/>
                <a:cs typeface="Calibri" panose="020F0502020204030204" pitchFamily="34" charset="-120"/>
              </a:rPr>
              <a:t>End-to-End Deployment</a:t>
            </a:r>
            <a:endParaRPr lang="en-US" sz="1500" dirty="0"/>
          </a:p>
        </p:txBody>
      </p:sp>
      <p:sp>
        <p:nvSpPr>
          <p:cNvPr id="24" name="Text 18"/>
          <p:cNvSpPr/>
          <p:nvPr/>
        </p:nvSpPr>
        <p:spPr>
          <a:xfrm>
            <a:off x="914400" y="5367528"/>
            <a:ext cx="3044952" cy="502920"/>
          </a:xfrm>
          <a:prstGeom prst="rect">
            <a:avLst/>
          </a:prstGeom>
          <a:noFill/>
        </p:spPr>
        <p:txBody>
          <a:bodyPr wrap="square" lIns="0" tIns="0" rIns="0" bIns="0" rtlCol="0" anchor="ctr"/>
          <a:lstStyle/>
          <a:p>
            <a:pPr marL="0" indent="0">
              <a:lnSpc>
                <a:spcPts val="1400"/>
              </a:lnSpc>
              <a:buNone/>
            </a:pPr>
            <a:r>
              <a:rPr lang="en-US" sz="1120" dirty="0">
                <a:solidFill>
                  <a:srgbClr val="475569"/>
                </a:solidFill>
                <a:latin typeface="Calibri" panose="020F0502020204030204" pitchFamily="34" charset="0"/>
                <a:ea typeface="Calibri" panose="020F0502020204030204" pitchFamily="34" charset="-122"/>
                <a:cs typeface="Calibri" panose="020F0502020204030204" pitchFamily="34" charset="-120"/>
              </a:rPr>
              <a:t>From site survey and hardware to dashboards and handover.</a:t>
            </a:r>
            <a:endParaRPr lang="en-US" sz="1120" dirty="0"/>
          </a:p>
        </p:txBody>
      </p:sp>
      <p:sp>
        <p:nvSpPr>
          <p:cNvPr id="25" name="Shape 19"/>
          <p:cNvSpPr/>
          <p:nvPr/>
        </p:nvSpPr>
        <p:spPr>
          <a:xfrm>
            <a:off x="4416552" y="3886200"/>
            <a:ext cx="3593592" cy="2011680"/>
          </a:xfrm>
          <a:prstGeom prst="roundRect">
            <a:avLst>
              <a:gd name="adj" fmla="val 5000"/>
            </a:avLst>
          </a:prstGeom>
          <a:solidFill>
            <a:srgbClr val="FFFFFF"/>
          </a:solidFill>
          <a:effectLst>
            <a:outerShdw blurRad="127000" dist="38100" dir="5400000" algn="bl" rotWithShape="0">
              <a:srgbClr val="000000">
                <a:alpha val="35000"/>
              </a:srgbClr>
            </a:outerShdw>
          </a:effectLst>
        </p:spPr>
      </p:sp>
      <p:sp>
        <p:nvSpPr>
          <p:cNvPr id="26" name="Shape 20"/>
          <p:cNvSpPr/>
          <p:nvPr/>
        </p:nvSpPr>
        <p:spPr>
          <a:xfrm>
            <a:off x="4690872" y="4160520"/>
            <a:ext cx="749808" cy="749808"/>
          </a:xfrm>
          <a:prstGeom prst="roundRect">
            <a:avLst>
              <a:gd name="adj" fmla="val 26000"/>
            </a:avLst>
          </a:prstGeom>
          <a:solidFill>
            <a:srgbClr val="0D9488"/>
          </a:solidFill>
        </p:spPr>
      </p:sp>
      <p:pic>
        <p:nvPicPr>
          <p:cNvPr id="27" name="Image 4" descr="assets/icon_lifeRing_white.png"/>
          <p:cNvPicPr>
            <a:picLocks noChangeAspect="1"/>
          </p:cNvPicPr>
          <p:nvPr/>
        </p:nvPicPr>
        <p:blipFill>
          <a:blip r:embed="rId5"/>
          <a:stretch>
            <a:fillRect/>
          </a:stretch>
        </p:blipFill>
        <p:spPr>
          <a:xfrm>
            <a:off x="4915814" y="4385462"/>
            <a:ext cx="299923" cy="299923"/>
          </a:xfrm>
          <a:prstGeom prst="rect">
            <a:avLst/>
          </a:prstGeom>
        </p:spPr>
      </p:pic>
      <p:sp>
        <p:nvSpPr>
          <p:cNvPr id="28" name="Text 21"/>
          <p:cNvSpPr/>
          <p:nvPr/>
        </p:nvSpPr>
        <p:spPr>
          <a:xfrm>
            <a:off x="4690872" y="5020056"/>
            <a:ext cx="3044952" cy="365760"/>
          </a:xfrm>
          <a:prstGeom prst="rect">
            <a:avLst/>
          </a:prstGeom>
          <a:noFill/>
        </p:spPr>
        <p:txBody>
          <a:bodyPr wrap="square" lIns="0" tIns="0" rIns="0" bIns="0" rtlCol="0" anchor="ctr"/>
          <a:lstStyle/>
          <a:p>
            <a:pPr marL="0" indent="0">
              <a:buNone/>
            </a:pPr>
            <a:r>
              <a:rPr lang="en-US" sz="1500" b="1" dirty="0">
                <a:solidFill>
                  <a:srgbClr val="0D1B3E"/>
                </a:solidFill>
                <a:latin typeface="Calibri" panose="020F0502020204030204" pitchFamily="34" charset="0"/>
                <a:ea typeface="Calibri" panose="020F0502020204030204" pitchFamily="34" charset="-122"/>
                <a:cs typeface="Calibri" panose="020F0502020204030204" pitchFamily="34" charset="-120"/>
              </a:rPr>
              <a:t>Enterprise Support</a:t>
            </a:r>
            <a:endParaRPr lang="en-US" sz="1500" dirty="0"/>
          </a:p>
        </p:txBody>
      </p:sp>
      <p:sp>
        <p:nvSpPr>
          <p:cNvPr id="29" name="Text 22"/>
          <p:cNvSpPr/>
          <p:nvPr/>
        </p:nvSpPr>
        <p:spPr>
          <a:xfrm>
            <a:off x="4690872" y="5367528"/>
            <a:ext cx="3044952" cy="502920"/>
          </a:xfrm>
          <a:prstGeom prst="rect">
            <a:avLst/>
          </a:prstGeom>
          <a:noFill/>
        </p:spPr>
        <p:txBody>
          <a:bodyPr wrap="square" lIns="0" tIns="0" rIns="0" bIns="0" rtlCol="0" anchor="ctr"/>
          <a:lstStyle/>
          <a:p>
            <a:pPr marL="0" indent="0">
              <a:lnSpc>
                <a:spcPts val="1400"/>
              </a:lnSpc>
              <a:buNone/>
            </a:pPr>
            <a:r>
              <a:rPr lang="en-US" sz="1120" dirty="0">
                <a:solidFill>
                  <a:srgbClr val="475569"/>
                </a:solidFill>
                <a:latin typeface="Calibri" panose="020F0502020204030204" pitchFamily="34" charset="0"/>
                <a:ea typeface="Calibri" panose="020F0502020204030204" pitchFamily="34" charset="-122"/>
                <a:cs typeface="Calibri" panose="020F0502020204030204" pitchFamily="34" charset="-120"/>
              </a:rPr>
              <a:t>Responsive technical support and ongoing maintenance.</a:t>
            </a:r>
            <a:endParaRPr lang="en-US" sz="1120" dirty="0"/>
          </a:p>
        </p:txBody>
      </p:sp>
      <p:sp>
        <p:nvSpPr>
          <p:cNvPr id="30" name="Shape 23"/>
          <p:cNvSpPr/>
          <p:nvPr/>
        </p:nvSpPr>
        <p:spPr>
          <a:xfrm>
            <a:off x="8193024" y="3886200"/>
            <a:ext cx="3593592" cy="2011680"/>
          </a:xfrm>
          <a:prstGeom prst="roundRect">
            <a:avLst>
              <a:gd name="adj" fmla="val 5000"/>
            </a:avLst>
          </a:prstGeom>
          <a:solidFill>
            <a:srgbClr val="FFFFFF"/>
          </a:solidFill>
          <a:effectLst>
            <a:outerShdw blurRad="127000" dist="38100" dir="5400000" algn="bl" rotWithShape="0">
              <a:srgbClr val="000000">
                <a:alpha val="35000"/>
              </a:srgbClr>
            </a:outerShdw>
          </a:effectLst>
        </p:spPr>
      </p:sp>
      <p:sp>
        <p:nvSpPr>
          <p:cNvPr id="31" name="Shape 24"/>
          <p:cNvSpPr/>
          <p:nvPr/>
        </p:nvSpPr>
        <p:spPr>
          <a:xfrm>
            <a:off x="8467344" y="4160520"/>
            <a:ext cx="749808" cy="749808"/>
          </a:xfrm>
          <a:prstGeom prst="roundRect">
            <a:avLst>
              <a:gd name="adj" fmla="val 26000"/>
            </a:avLst>
          </a:prstGeom>
          <a:solidFill>
            <a:srgbClr val="8B5CF6"/>
          </a:solidFill>
        </p:spPr>
      </p:sp>
      <p:pic>
        <p:nvPicPr>
          <p:cNvPr id="32" name="Image 5" descr="assets/icon_userShield_white.png"/>
          <p:cNvPicPr>
            <a:picLocks noChangeAspect="1"/>
          </p:cNvPicPr>
          <p:nvPr/>
        </p:nvPicPr>
        <p:blipFill>
          <a:blip r:embed="rId6"/>
          <a:stretch>
            <a:fillRect/>
          </a:stretch>
        </p:blipFill>
        <p:spPr>
          <a:xfrm>
            <a:off x="8692286" y="4385462"/>
            <a:ext cx="299923" cy="299923"/>
          </a:xfrm>
          <a:prstGeom prst="rect">
            <a:avLst/>
          </a:prstGeom>
        </p:spPr>
      </p:pic>
      <p:sp>
        <p:nvSpPr>
          <p:cNvPr id="33" name="Text 25"/>
          <p:cNvSpPr/>
          <p:nvPr/>
        </p:nvSpPr>
        <p:spPr>
          <a:xfrm>
            <a:off x="8467344" y="5020056"/>
            <a:ext cx="3044952" cy="365760"/>
          </a:xfrm>
          <a:prstGeom prst="rect">
            <a:avLst/>
          </a:prstGeom>
          <a:noFill/>
        </p:spPr>
        <p:txBody>
          <a:bodyPr wrap="square" lIns="0" tIns="0" rIns="0" bIns="0" rtlCol="0" anchor="ctr"/>
          <a:lstStyle/>
          <a:p>
            <a:pPr marL="0" indent="0">
              <a:buNone/>
            </a:pPr>
            <a:r>
              <a:rPr lang="en-US" sz="1500" b="1" dirty="0">
                <a:solidFill>
                  <a:srgbClr val="0D1B3E"/>
                </a:solidFill>
                <a:latin typeface="Calibri" panose="020F0502020204030204" pitchFamily="34" charset="0"/>
                <a:ea typeface="Calibri" panose="020F0502020204030204" pitchFamily="34" charset="-122"/>
                <a:cs typeface="Calibri" panose="020F0502020204030204" pitchFamily="34" charset="-120"/>
              </a:rPr>
              <a:t>Privacy-First Engineering</a:t>
            </a:r>
            <a:endParaRPr lang="en-US" sz="1500" dirty="0"/>
          </a:p>
        </p:txBody>
      </p:sp>
      <p:sp>
        <p:nvSpPr>
          <p:cNvPr id="34" name="Text 26"/>
          <p:cNvSpPr/>
          <p:nvPr/>
        </p:nvSpPr>
        <p:spPr>
          <a:xfrm>
            <a:off x="8467344" y="5367528"/>
            <a:ext cx="3044952" cy="502920"/>
          </a:xfrm>
          <a:prstGeom prst="rect">
            <a:avLst/>
          </a:prstGeom>
          <a:noFill/>
        </p:spPr>
        <p:txBody>
          <a:bodyPr wrap="square" lIns="0" tIns="0" rIns="0" bIns="0" rtlCol="0" anchor="ctr"/>
          <a:lstStyle/>
          <a:p>
            <a:pPr marL="0" indent="0">
              <a:lnSpc>
                <a:spcPts val="1400"/>
              </a:lnSpc>
              <a:buNone/>
            </a:pPr>
            <a:r>
              <a:rPr lang="en-US" sz="1120" dirty="0">
                <a:solidFill>
                  <a:srgbClr val="475569"/>
                </a:solidFill>
                <a:latin typeface="Calibri" panose="020F0502020204030204" pitchFamily="34" charset="0"/>
                <a:ea typeface="Calibri" panose="020F0502020204030204" pitchFamily="34" charset="-122"/>
                <a:cs typeface="Calibri" panose="020F0502020204030204" pitchFamily="34" charset="-120"/>
              </a:rPr>
              <a:t>Anonymous analytics, on-prem data — compliance built in.</a:t>
            </a:r>
            <a:endParaRPr lang="en-US" sz="11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D1B3E"/>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p:spPr>
        <p:txBody>
          <a:bodyPr wrap="square" lIns="0" tIns="0" rIns="0" bIns="0" rtlCol="0" anchor="ctr"/>
          <a:lstStyle/>
          <a:p>
            <a:pPr marL="0" indent="0">
              <a:buNone/>
            </a:pPr>
            <a:r>
              <a:rPr lang="en-US" sz="1200" b="1" kern="0" spc="300" dirty="0">
                <a:solidFill>
                  <a:srgbClr val="76B900"/>
                </a:solidFill>
                <a:latin typeface="Calibri" panose="020F0502020204030204" pitchFamily="34" charset="0"/>
                <a:ea typeface="Calibri" panose="020F0502020204030204" pitchFamily="34" charset="-122"/>
                <a:cs typeface="Calibri" panose="020F0502020204030204" pitchFamily="34" charset="-120"/>
              </a:rPr>
              <a:t>HARDWARE PLATFORM</a:t>
            </a:r>
            <a:endParaRPr lang="en-US" sz="1200" dirty="0"/>
          </a:p>
        </p:txBody>
      </p:sp>
      <p:sp>
        <p:nvSpPr>
          <p:cNvPr id="3" name="Text 1"/>
          <p:cNvSpPr/>
          <p:nvPr/>
        </p:nvSpPr>
        <p:spPr>
          <a:xfrm>
            <a:off x="640080" y="740664"/>
            <a:ext cx="8229600" cy="603504"/>
          </a:xfrm>
          <a:prstGeom prst="rect">
            <a:avLst/>
          </a:prstGeom>
          <a:noFill/>
        </p:spPr>
        <p:txBody>
          <a:bodyPr wrap="square" lIns="0" tIns="0" rIns="0" bIns="0" rtlCol="0" anchor="ctr"/>
          <a:lstStyle/>
          <a:p>
            <a:pPr marL="0" indent="0">
              <a:buNone/>
            </a:pPr>
            <a:r>
              <a:rPr lang="en-US" sz="2900" b="1" dirty="0">
                <a:solidFill>
                  <a:srgbClr val="FFFFFF"/>
                </a:solidFill>
                <a:latin typeface="Calibri" panose="020F0502020204030204" pitchFamily="34" charset="0"/>
                <a:ea typeface="Calibri" panose="020F0502020204030204" pitchFamily="34" charset="-122"/>
                <a:cs typeface="Calibri" panose="020F0502020204030204" pitchFamily="34" charset="-120"/>
              </a:rPr>
              <a:t>NVIDIA Jetson Orin Nano</a:t>
            </a:r>
            <a:endParaRPr lang="en-US" sz="2900" dirty="0"/>
          </a:p>
        </p:txBody>
      </p:sp>
      <p:sp>
        <p:nvSpPr>
          <p:cNvPr id="4" name="Shape 2"/>
          <p:cNvSpPr/>
          <p:nvPr/>
        </p:nvSpPr>
        <p:spPr>
          <a:xfrm>
            <a:off x="585216" y="1517904"/>
            <a:ext cx="7424928" cy="4590288"/>
          </a:xfrm>
          <a:prstGeom prst="roundRect">
            <a:avLst>
              <a:gd name="adj" fmla="val 1992"/>
            </a:avLst>
          </a:prstGeom>
          <a:solidFill>
            <a:srgbClr val="FFFFFF"/>
          </a:solidFill>
          <a:effectLst>
            <a:outerShdw blurRad="165100" dist="50800" dir="5400000" algn="bl" rotWithShape="0">
              <a:srgbClr val="0D1B3E">
                <a:alpha val="32000"/>
              </a:srgbClr>
            </a:outerShdw>
          </a:effectLst>
        </p:spPr>
      </p:sp>
      <p:pic>
        <p:nvPicPr>
          <p:cNvPr id="5" name="Image 0" descr="assets/jetson.png"/>
          <p:cNvPicPr>
            <a:picLocks noChangeAspect="1"/>
          </p:cNvPicPr>
          <p:nvPr/>
        </p:nvPicPr>
        <p:blipFill>
          <a:blip r:embed="rId1"/>
          <a:srcRect/>
          <a:stretch>
            <a:fillRect/>
          </a:stretch>
        </p:blipFill>
        <p:spPr>
          <a:xfrm>
            <a:off x="640080" y="1572768"/>
            <a:ext cx="7315200" cy="4480560"/>
          </a:xfrm>
          <a:prstGeom prst="rect">
            <a:avLst/>
          </a:prstGeom>
        </p:spPr>
      </p:pic>
      <p:sp>
        <p:nvSpPr>
          <p:cNvPr id="6" name="Shape 3"/>
          <p:cNvSpPr/>
          <p:nvPr/>
        </p:nvSpPr>
        <p:spPr>
          <a:xfrm>
            <a:off x="8229600" y="1645920"/>
            <a:ext cx="3337560" cy="768096"/>
          </a:xfrm>
          <a:prstGeom prst="roundRect">
            <a:avLst>
              <a:gd name="adj" fmla="val 10714"/>
            </a:avLst>
          </a:prstGeom>
          <a:solidFill>
            <a:srgbClr val="1B3168"/>
          </a:solidFill>
        </p:spPr>
      </p:sp>
      <p:sp>
        <p:nvSpPr>
          <p:cNvPr id="7" name="Shape 4"/>
          <p:cNvSpPr/>
          <p:nvPr/>
        </p:nvSpPr>
        <p:spPr>
          <a:xfrm>
            <a:off x="8375904" y="1792224"/>
            <a:ext cx="475488" cy="475488"/>
          </a:xfrm>
          <a:prstGeom prst="ellipse">
            <a:avLst/>
          </a:prstGeom>
          <a:solidFill>
            <a:srgbClr val="76B900"/>
          </a:solidFill>
        </p:spPr>
      </p:sp>
      <p:pic>
        <p:nvPicPr>
          <p:cNvPr id="8" name="Image 1" descr="assets/icon_microchip_white.png"/>
          <p:cNvPicPr>
            <a:picLocks noChangeAspect="1"/>
          </p:cNvPicPr>
          <p:nvPr/>
        </p:nvPicPr>
        <p:blipFill>
          <a:blip r:embed="rId2"/>
          <a:stretch>
            <a:fillRect/>
          </a:stretch>
        </p:blipFill>
        <p:spPr>
          <a:xfrm>
            <a:off x="8509041" y="1925361"/>
            <a:ext cx="209215" cy="209215"/>
          </a:xfrm>
          <a:prstGeom prst="rect">
            <a:avLst/>
          </a:prstGeom>
        </p:spPr>
      </p:pic>
      <p:sp>
        <p:nvSpPr>
          <p:cNvPr id="9" name="Text 5"/>
          <p:cNvSpPr/>
          <p:nvPr/>
        </p:nvSpPr>
        <p:spPr>
          <a:xfrm>
            <a:off x="8961120" y="1719072"/>
            <a:ext cx="2514600" cy="292608"/>
          </a:xfrm>
          <a:prstGeom prst="rect">
            <a:avLst/>
          </a:prstGeom>
          <a:noFill/>
        </p:spPr>
        <p:txBody>
          <a:bodyPr wrap="square" lIns="0" tIns="0" rIns="0" bIns="0"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Edge AI Processing</a:t>
            </a:r>
            <a:endParaRPr lang="en-US" sz="1250" dirty="0"/>
          </a:p>
        </p:txBody>
      </p:sp>
      <p:sp>
        <p:nvSpPr>
          <p:cNvPr id="10" name="Text 6"/>
          <p:cNvSpPr/>
          <p:nvPr/>
        </p:nvSpPr>
        <p:spPr>
          <a:xfrm>
            <a:off x="8961120" y="2011680"/>
            <a:ext cx="2514600" cy="329184"/>
          </a:xfrm>
          <a:prstGeom prst="rect">
            <a:avLst/>
          </a:prstGeom>
          <a:noFill/>
        </p:spPr>
        <p:txBody>
          <a:bodyPr wrap="square" lIns="0" tIns="0" rIns="0" bIns="0" rtlCol="0" anchor="ctr"/>
          <a:lstStyle/>
          <a:p>
            <a:pPr marL="0" indent="0">
              <a:lnSpc>
                <a:spcPts val="1200"/>
              </a:lnSpc>
              <a:buNone/>
            </a:pPr>
            <a:r>
              <a:rPr lang="en-US" sz="1020" dirty="0">
                <a:solidFill>
                  <a:srgbClr val="BBC8E6"/>
                </a:solidFill>
                <a:latin typeface="Calibri" panose="020F0502020204030204" pitchFamily="34" charset="0"/>
                <a:ea typeface="Calibri" panose="020F0502020204030204" pitchFamily="34" charset="-122"/>
                <a:cs typeface="Calibri" panose="020F0502020204030204" pitchFamily="34" charset="-120"/>
              </a:rPr>
              <a:t>1024 CUDA + 32 Tensor cores on-device.</a:t>
            </a:r>
            <a:endParaRPr lang="en-US" sz="1020" dirty="0"/>
          </a:p>
        </p:txBody>
      </p:sp>
      <p:sp>
        <p:nvSpPr>
          <p:cNvPr id="11" name="Shape 7"/>
          <p:cNvSpPr/>
          <p:nvPr/>
        </p:nvSpPr>
        <p:spPr>
          <a:xfrm>
            <a:off x="8229600" y="2551176"/>
            <a:ext cx="3337560" cy="768096"/>
          </a:xfrm>
          <a:prstGeom prst="roundRect">
            <a:avLst>
              <a:gd name="adj" fmla="val 10714"/>
            </a:avLst>
          </a:prstGeom>
          <a:solidFill>
            <a:srgbClr val="1B3168"/>
          </a:solidFill>
        </p:spPr>
      </p:sp>
      <p:sp>
        <p:nvSpPr>
          <p:cNvPr id="12" name="Shape 8"/>
          <p:cNvSpPr/>
          <p:nvPr/>
        </p:nvSpPr>
        <p:spPr>
          <a:xfrm>
            <a:off x="8375904" y="2697480"/>
            <a:ext cx="475488" cy="475488"/>
          </a:xfrm>
          <a:prstGeom prst="ellipse">
            <a:avLst/>
          </a:prstGeom>
          <a:solidFill>
            <a:srgbClr val="2563EB"/>
          </a:solidFill>
        </p:spPr>
      </p:sp>
      <p:pic>
        <p:nvPicPr>
          <p:cNvPr id="13" name="Image 2" descr="assets/icon_gauge_white.png"/>
          <p:cNvPicPr>
            <a:picLocks noChangeAspect="1"/>
          </p:cNvPicPr>
          <p:nvPr/>
        </p:nvPicPr>
        <p:blipFill>
          <a:blip r:embed="rId3"/>
          <a:stretch>
            <a:fillRect/>
          </a:stretch>
        </p:blipFill>
        <p:spPr>
          <a:xfrm>
            <a:off x="8509041" y="2830617"/>
            <a:ext cx="209215" cy="209215"/>
          </a:xfrm>
          <a:prstGeom prst="rect">
            <a:avLst/>
          </a:prstGeom>
        </p:spPr>
      </p:pic>
      <p:sp>
        <p:nvSpPr>
          <p:cNvPr id="14" name="Text 9"/>
          <p:cNvSpPr/>
          <p:nvPr/>
        </p:nvSpPr>
        <p:spPr>
          <a:xfrm>
            <a:off x="8961120" y="2624328"/>
            <a:ext cx="2514600" cy="292608"/>
          </a:xfrm>
          <a:prstGeom prst="rect">
            <a:avLst/>
          </a:prstGeom>
          <a:noFill/>
        </p:spPr>
        <p:txBody>
          <a:bodyPr wrap="square" lIns="0" tIns="0" rIns="0" bIns="0"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Real-time YOLO Inference</a:t>
            </a:r>
            <a:endParaRPr lang="en-US" sz="1250" dirty="0"/>
          </a:p>
        </p:txBody>
      </p:sp>
      <p:sp>
        <p:nvSpPr>
          <p:cNvPr id="15" name="Text 10"/>
          <p:cNvSpPr/>
          <p:nvPr/>
        </p:nvSpPr>
        <p:spPr>
          <a:xfrm>
            <a:off x="8961120" y="2916936"/>
            <a:ext cx="2514600" cy="329184"/>
          </a:xfrm>
          <a:prstGeom prst="rect">
            <a:avLst/>
          </a:prstGeom>
          <a:noFill/>
        </p:spPr>
        <p:txBody>
          <a:bodyPr wrap="square" lIns="0" tIns="0" rIns="0" bIns="0" rtlCol="0" anchor="ctr"/>
          <a:lstStyle/>
          <a:p>
            <a:pPr marL="0" indent="0">
              <a:lnSpc>
                <a:spcPts val="1200"/>
              </a:lnSpc>
              <a:buNone/>
            </a:pPr>
            <a:r>
              <a:rPr lang="en-US" sz="1020" dirty="0">
                <a:solidFill>
                  <a:srgbClr val="BBC8E6"/>
                </a:solidFill>
                <a:latin typeface="Calibri" panose="020F0502020204030204" pitchFamily="34" charset="0"/>
                <a:ea typeface="Calibri" panose="020F0502020204030204" pitchFamily="34" charset="-122"/>
                <a:cs typeface="Calibri" panose="020F0502020204030204" pitchFamily="34" charset="-120"/>
              </a:rPr>
              <a:t>Multi-stream detection at the source.</a:t>
            </a:r>
            <a:endParaRPr lang="en-US" sz="1020" dirty="0"/>
          </a:p>
        </p:txBody>
      </p:sp>
      <p:sp>
        <p:nvSpPr>
          <p:cNvPr id="16" name="Shape 11"/>
          <p:cNvSpPr/>
          <p:nvPr/>
        </p:nvSpPr>
        <p:spPr>
          <a:xfrm>
            <a:off x="8229600" y="3456432"/>
            <a:ext cx="3337560" cy="768096"/>
          </a:xfrm>
          <a:prstGeom prst="roundRect">
            <a:avLst>
              <a:gd name="adj" fmla="val 10714"/>
            </a:avLst>
          </a:prstGeom>
          <a:solidFill>
            <a:srgbClr val="1B3168"/>
          </a:solidFill>
        </p:spPr>
      </p:sp>
      <p:sp>
        <p:nvSpPr>
          <p:cNvPr id="17" name="Shape 12"/>
          <p:cNvSpPr/>
          <p:nvPr/>
        </p:nvSpPr>
        <p:spPr>
          <a:xfrm>
            <a:off x="8375904" y="3602736"/>
            <a:ext cx="475488" cy="475488"/>
          </a:xfrm>
          <a:prstGeom prst="ellipse">
            <a:avLst/>
          </a:prstGeom>
          <a:solidFill>
            <a:srgbClr val="16A34A"/>
          </a:solidFill>
        </p:spPr>
      </p:sp>
      <p:pic>
        <p:nvPicPr>
          <p:cNvPr id="18" name="Image 3" descr="assets/icon_leaf_white.png"/>
          <p:cNvPicPr>
            <a:picLocks noChangeAspect="1"/>
          </p:cNvPicPr>
          <p:nvPr/>
        </p:nvPicPr>
        <p:blipFill>
          <a:blip r:embed="rId4"/>
          <a:stretch>
            <a:fillRect/>
          </a:stretch>
        </p:blipFill>
        <p:spPr>
          <a:xfrm>
            <a:off x="8509041" y="3735873"/>
            <a:ext cx="209215" cy="209215"/>
          </a:xfrm>
          <a:prstGeom prst="rect">
            <a:avLst/>
          </a:prstGeom>
        </p:spPr>
      </p:pic>
      <p:sp>
        <p:nvSpPr>
          <p:cNvPr id="19" name="Text 13"/>
          <p:cNvSpPr/>
          <p:nvPr/>
        </p:nvSpPr>
        <p:spPr>
          <a:xfrm>
            <a:off x="8961120" y="3529584"/>
            <a:ext cx="2514600" cy="292608"/>
          </a:xfrm>
          <a:prstGeom prst="rect">
            <a:avLst/>
          </a:prstGeom>
          <a:noFill/>
        </p:spPr>
        <p:txBody>
          <a:bodyPr wrap="square" lIns="0" tIns="0" rIns="0" bIns="0"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Low Power Consumption</a:t>
            </a:r>
            <a:endParaRPr lang="en-US" sz="1250" dirty="0"/>
          </a:p>
        </p:txBody>
      </p:sp>
      <p:sp>
        <p:nvSpPr>
          <p:cNvPr id="20" name="Text 14"/>
          <p:cNvSpPr/>
          <p:nvPr/>
        </p:nvSpPr>
        <p:spPr>
          <a:xfrm>
            <a:off x="8961120" y="3822192"/>
            <a:ext cx="2514600" cy="329184"/>
          </a:xfrm>
          <a:prstGeom prst="rect">
            <a:avLst/>
          </a:prstGeom>
          <a:noFill/>
        </p:spPr>
        <p:txBody>
          <a:bodyPr wrap="square" lIns="0" tIns="0" rIns="0" bIns="0" rtlCol="0" anchor="ctr"/>
          <a:lstStyle/>
          <a:p>
            <a:pPr marL="0" indent="0">
              <a:lnSpc>
                <a:spcPts val="1200"/>
              </a:lnSpc>
              <a:buNone/>
            </a:pPr>
            <a:r>
              <a:rPr lang="en-US" sz="1020" dirty="0">
                <a:solidFill>
                  <a:srgbClr val="BBC8E6"/>
                </a:solidFill>
                <a:latin typeface="Calibri" panose="020F0502020204030204" pitchFamily="34" charset="0"/>
                <a:ea typeface="Calibri" panose="020F0502020204030204" pitchFamily="34" charset="-122"/>
                <a:cs typeface="Calibri" panose="020F0502020204030204" pitchFamily="34" charset="-120"/>
              </a:rPr>
              <a:t>Runs at just 7–15 W.</a:t>
            </a:r>
            <a:endParaRPr lang="en-US" sz="1020" dirty="0"/>
          </a:p>
        </p:txBody>
      </p:sp>
      <p:sp>
        <p:nvSpPr>
          <p:cNvPr id="21" name="Shape 15"/>
          <p:cNvSpPr/>
          <p:nvPr/>
        </p:nvSpPr>
        <p:spPr>
          <a:xfrm>
            <a:off x="8229600" y="4361688"/>
            <a:ext cx="3337560" cy="768096"/>
          </a:xfrm>
          <a:prstGeom prst="roundRect">
            <a:avLst>
              <a:gd name="adj" fmla="val 10714"/>
            </a:avLst>
          </a:prstGeom>
          <a:solidFill>
            <a:srgbClr val="1B3168"/>
          </a:solidFill>
        </p:spPr>
      </p:sp>
      <p:sp>
        <p:nvSpPr>
          <p:cNvPr id="22" name="Shape 16"/>
          <p:cNvSpPr/>
          <p:nvPr/>
        </p:nvSpPr>
        <p:spPr>
          <a:xfrm>
            <a:off x="8375904" y="4507992"/>
            <a:ext cx="475488" cy="475488"/>
          </a:xfrm>
          <a:prstGeom prst="ellipse">
            <a:avLst/>
          </a:prstGeom>
          <a:solidFill>
            <a:srgbClr val="D97706"/>
          </a:solidFill>
        </p:spPr>
      </p:sp>
      <p:pic>
        <p:nvPicPr>
          <p:cNvPr id="23" name="Image 4" descr="assets/icon_industry_white.png"/>
          <p:cNvPicPr>
            <a:picLocks noChangeAspect="1"/>
          </p:cNvPicPr>
          <p:nvPr/>
        </p:nvPicPr>
        <p:blipFill>
          <a:blip r:embed="rId5"/>
          <a:stretch>
            <a:fillRect/>
          </a:stretch>
        </p:blipFill>
        <p:spPr>
          <a:xfrm>
            <a:off x="8509041" y="4641129"/>
            <a:ext cx="209215" cy="209215"/>
          </a:xfrm>
          <a:prstGeom prst="rect">
            <a:avLst/>
          </a:prstGeom>
        </p:spPr>
      </p:pic>
      <p:sp>
        <p:nvSpPr>
          <p:cNvPr id="24" name="Text 17"/>
          <p:cNvSpPr/>
          <p:nvPr/>
        </p:nvSpPr>
        <p:spPr>
          <a:xfrm>
            <a:off x="8961120" y="4434840"/>
            <a:ext cx="2514600" cy="292608"/>
          </a:xfrm>
          <a:prstGeom prst="rect">
            <a:avLst/>
          </a:prstGeom>
          <a:noFill/>
        </p:spPr>
        <p:txBody>
          <a:bodyPr wrap="square" lIns="0" tIns="0" rIns="0" bIns="0"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Industrial Deployment</a:t>
            </a:r>
            <a:endParaRPr lang="en-US" sz="1250" dirty="0"/>
          </a:p>
        </p:txBody>
      </p:sp>
      <p:sp>
        <p:nvSpPr>
          <p:cNvPr id="25" name="Text 18"/>
          <p:cNvSpPr/>
          <p:nvPr/>
        </p:nvSpPr>
        <p:spPr>
          <a:xfrm>
            <a:off x="8961120" y="4727448"/>
            <a:ext cx="2514600" cy="329184"/>
          </a:xfrm>
          <a:prstGeom prst="rect">
            <a:avLst/>
          </a:prstGeom>
          <a:noFill/>
        </p:spPr>
        <p:txBody>
          <a:bodyPr wrap="square" lIns="0" tIns="0" rIns="0" bIns="0" rtlCol="0" anchor="ctr"/>
          <a:lstStyle/>
          <a:p>
            <a:pPr marL="0" indent="0">
              <a:lnSpc>
                <a:spcPts val="1200"/>
              </a:lnSpc>
              <a:buNone/>
            </a:pPr>
            <a:r>
              <a:rPr lang="en-US" sz="1020" dirty="0">
                <a:solidFill>
                  <a:srgbClr val="BBC8E6"/>
                </a:solidFill>
                <a:latin typeface="Calibri" panose="020F0502020204030204" pitchFamily="34" charset="0"/>
                <a:ea typeface="Calibri" panose="020F0502020204030204" pitchFamily="34" charset="-122"/>
                <a:cs typeface="Calibri" panose="020F0502020204030204" pitchFamily="34" charset="-120"/>
              </a:rPr>
              <a:t>Compact, fan-cooled, field-rugged.</a:t>
            </a:r>
            <a:endParaRPr lang="en-US" sz="1020" dirty="0"/>
          </a:p>
        </p:txBody>
      </p:sp>
      <p:sp>
        <p:nvSpPr>
          <p:cNvPr id="26" name="Shape 19"/>
          <p:cNvSpPr/>
          <p:nvPr/>
        </p:nvSpPr>
        <p:spPr>
          <a:xfrm>
            <a:off x="8229600" y="5266944"/>
            <a:ext cx="3337560" cy="768096"/>
          </a:xfrm>
          <a:prstGeom prst="roundRect">
            <a:avLst>
              <a:gd name="adj" fmla="val 10714"/>
            </a:avLst>
          </a:prstGeom>
          <a:solidFill>
            <a:srgbClr val="1B3168"/>
          </a:solidFill>
        </p:spPr>
      </p:sp>
      <p:sp>
        <p:nvSpPr>
          <p:cNvPr id="27" name="Shape 20"/>
          <p:cNvSpPr/>
          <p:nvPr/>
        </p:nvSpPr>
        <p:spPr>
          <a:xfrm>
            <a:off x="8375904" y="5413248"/>
            <a:ext cx="475488" cy="475488"/>
          </a:xfrm>
          <a:prstGeom prst="ellipse">
            <a:avLst/>
          </a:prstGeom>
          <a:solidFill>
            <a:srgbClr val="D62B2B"/>
          </a:solidFill>
        </p:spPr>
      </p:sp>
      <p:pic>
        <p:nvPicPr>
          <p:cNvPr id="28" name="Image 5" descr="assets/icon_infinity_white.png"/>
          <p:cNvPicPr>
            <a:picLocks noChangeAspect="1"/>
          </p:cNvPicPr>
          <p:nvPr/>
        </p:nvPicPr>
        <p:blipFill>
          <a:blip r:embed="rId6"/>
          <a:stretch>
            <a:fillRect/>
          </a:stretch>
        </p:blipFill>
        <p:spPr>
          <a:xfrm>
            <a:off x="8509041" y="5546385"/>
            <a:ext cx="209215" cy="209215"/>
          </a:xfrm>
          <a:prstGeom prst="rect">
            <a:avLst/>
          </a:prstGeom>
        </p:spPr>
      </p:pic>
      <p:sp>
        <p:nvSpPr>
          <p:cNvPr id="29" name="Text 21"/>
          <p:cNvSpPr/>
          <p:nvPr/>
        </p:nvSpPr>
        <p:spPr>
          <a:xfrm>
            <a:off x="8961120" y="5340096"/>
            <a:ext cx="2514600" cy="292608"/>
          </a:xfrm>
          <a:prstGeom prst="rect">
            <a:avLst/>
          </a:prstGeom>
          <a:noFill/>
        </p:spPr>
        <p:txBody>
          <a:bodyPr wrap="square" lIns="0" tIns="0" rIns="0" bIns="0"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24×7 Reliability</a:t>
            </a:r>
            <a:endParaRPr lang="en-US" sz="1250" dirty="0"/>
          </a:p>
        </p:txBody>
      </p:sp>
      <p:sp>
        <p:nvSpPr>
          <p:cNvPr id="30" name="Text 22"/>
          <p:cNvSpPr/>
          <p:nvPr/>
        </p:nvSpPr>
        <p:spPr>
          <a:xfrm>
            <a:off x="8961120" y="5632704"/>
            <a:ext cx="2514600" cy="329184"/>
          </a:xfrm>
          <a:prstGeom prst="rect">
            <a:avLst/>
          </a:prstGeom>
          <a:noFill/>
        </p:spPr>
        <p:txBody>
          <a:bodyPr wrap="square" lIns="0" tIns="0" rIns="0" bIns="0" rtlCol="0" anchor="ctr"/>
          <a:lstStyle/>
          <a:p>
            <a:pPr marL="0" indent="0">
              <a:lnSpc>
                <a:spcPts val="1200"/>
              </a:lnSpc>
              <a:buNone/>
            </a:pPr>
            <a:r>
              <a:rPr lang="en-US" sz="1020" dirty="0">
                <a:solidFill>
                  <a:srgbClr val="BBC8E6"/>
                </a:solidFill>
                <a:latin typeface="Calibri" panose="020F0502020204030204" pitchFamily="34" charset="0"/>
                <a:ea typeface="Calibri" panose="020F0502020204030204" pitchFamily="34" charset="-122"/>
                <a:cs typeface="Calibri" panose="020F0502020204030204" pitchFamily="34" charset="-120"/>
              </a:rPr>
              <a:t>Built for continuous operation.</a:t>
            </a:r>
            <a:endParaRPr lang="en-US" sz="10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640080" y="457200"/>
            <a:ext cx="10515600" cy="274320"/>
          </a:xfrm>
          <a:prstGeom prst="rect">
            <a:avLst/>
          </a:prstGeom>
          <a:noFill/>
        </p:spPr>
        <p:txBody>
          <a:bodyPr wrap="square" lIns="0" tIns="0" rIns="0" bIns="0" rtlCol="0" anchor="ctr"/>
          <a:lstStyle/>
          <a:p>
            <a:pPr marL="0" indent="0">
              <a:buNone/>
            </a:pPr>
            <a:r>
              <a:rPr lang="en-US" sz="1200" b="1" kern="0" spc="300" dirty="0">
                <a:solidFill>
                  <a:srgbClr val="D62B2B"/>
                </a:solidFill>
                <a:latin typeface="Calibri" panose="020F0502020204030204" pitchFamily="34" charset="0"/>
                <a:ea typeface="Calibri" panose="020F0502020204030204" pitchFamily="34" charset="-122"/>
                <a:cs typeface="Calibri" panose="020F0502020204030204" pitchFamily="34" charset="-120"/>
              </a:rPr>
              <a:t>SUPPORT &amp; WARRANTY</a:t>
            </a:r>
            <a:endParaRPr lang="en-US" sz="1200" dirty="0"/>
          </a:p>
        </p:txBody>
      </p:sp>
      <p:sp>
        <p:nvSpPr>
          <p:cNvPr id="3" name="Text 1"/>
          <p:cNvSpPr/>
          <p:nvPr/>
        </p:nvSpPr>
        <p:spPr>
          <a:xfrm>
            <a:off x="640080" y="740664"/>
            <a:ext cx="10972800" cy="603504"/>
          </a:xfrm>
          <a:prstGeom prst="rect">
            <a:avLst/>
          </a:prstGeom>
          <a:noFill/>
        </p:spPr>
        <p:txBody>
          <a:bodyPr wrap="square" lIns="0" tIns="0" rIns="0" bIns="0" rtlCol="0" anchor="ctr"/>
          <a:lstStyle/>
          <a:p>
            <a:pPr marL="0" indent="0">
              <a:buNone/>
            </a:pPr>
            <a:r>
              <a:rPr lang="en-US" sz="2900" b="1" dirty="0">
                <a:solidFill>
                  <a:srgbClr val="0D1B3E"/>
                </a:solidFill>
                <a:latin typeface="Calibri" panose="020F0502020204030204" pitchFamily="34" charset="0"/>
                <a:ea typeface="Calibri" panose="020F0502020204030204" pitchFamily="34" charset="-122"/>
                <a:cs typeface="Calibri" panose="020F0502020204030204" pitchFamily="34" charset="-120"/>
              </a:rPr>
              <a:t>Reliable hardware. Trusted support.</a:t>
            </a:r>
            <a:endParaRPr lang="en-US" sz="2900" dirty="0"/>
          </a:p>
        </p:txBody>
      </p:sp>
      <p:sp>
        <p:nvSpPr>
          <p:cNvPr id="4" name="Shape 2"/>
          <p:cNvSpPr/>
          <p:nvPr/>
        </p:nvSpPr>
        <p:spPr>
          <a:xfrm>
            <a:off x="585216" y="1481328"/>
            <a:ext cx="7150608" cy="4681728"/>
          </a:xfrm>
          <a:prstGeom prst="roundRect">
            <a:avLst>
              <a:gd name="adj" fmla="val 1953"/>
            </a:avLst>
          </a:prstGeom>
          <a:solidFill>
            <a:srgbClr val="FFFFFF"/>
          </a:solidFill>
          <a:effectLst>
            <a:outerShdw blurRad="165100" dist="50800" dir="5400000" algn="bl" rotWithShape="0">
              <a:srgbClr val="0D1B3E">
                <a:alpha val="32000"/>
              </a:srgbClr>
            </a:outerShdw>
          </a:effectLst>
        </p:spPr>
      </p:sp>
      <p:pic>
        <p:nvPicPr>
          <p:cNvPr id="5" name="Image 0" descr="assets/warranty_light.png"/>
          <p:cNvPicPr>
            <a:picLocks noChangeAspect="1"/>
          </p:cNvPicPr>
          <p:nvPr/>
        </p:nvPicPr>
        <p:blipFill>
          <a:blip r:embed="rId1"/>
          <a:srcRect/>
          <a:stretch>
            <a:fillRect/>
          </a:stretch>
        </p:blipFill>
        <p:spPr>
          <a:xfrm>
            <a:off x="640080" y="1536192"/>
            <a:ext cx="7040880" cy="4572000"/>
          </a:xfrm>
          <a:prstGeom prst="rect">
            <a:avLst/>
          </a:prstGeom>
        </p:spPr>
      </p:pic>
      <p:sp>
        <p:nvSpPr>
          <p:cNvPr id="6" name="Shape 3"/>
          <p:cNvSpPr/>
          <p:nvPr/>
        </p:nvSpPr>
        <p:spPr>
          <a:xfrm>
            <a:off x="7909560" y="1536192"/>
            <a:ext cx="3639312" cy="1033272"/>
          </a:xfrm>
          <a:prstGeom prst="roundRect">
            <a:avLst>
              <a:gd name="adj" fmla="val 8850"/>
            </a:avLst>
          </a:prstGeom>
          <a:solidFill>
            <a:srgbClr val="FFFFFF"/>
          </a:solidFill>
          <a:effectLst>
            <a:outerShdw blurRad="101600" dist="25400" dir="5400000" algn="bl" rotWithShape="0">
              <a:srgbClr val="94A3B8">
                <a:alpha val="28000"/>
              </a:srgbClr>
            </a:outerShdw>
          </a:effectLst>
        </p:spPr>
      </p:sp>
      <p:sp>
        <p:nvSpPr>
          <p:cNvPr id="7" name="Shape 4"/>
          <p:cNvSpPr/>
          <p:nvPr/>
        </p:nvSpPr>
        <p:spPr>
          <a:xfrm>
            <a:off x="8129016" y="1828800"/>
            <a:ext cx="502920" cy="502920"/>
          </a:xfrm>
          <a:prstGeom prst="ellipse">
            <a:avLst/>
          </a:prstGeom>
          <a:solidFill>
            <a:srgbClr val="16A34A"/>
          </a:solidFill>
        </p:spPr>
      </p:sp>
      <p:pic>
        <p:nvPicPr>
          <p:cNvPr id="8" name="Image 1" descr="assets/icon_shieldCheck_white.png"/>
          <p:cNvPicPr>
            <a:picLocks noChangeAspect="1"/>
          </p:cNvPicPr>
          <p:nvPr/>
        </p:nvPicPr>
        <p:blipFill>
          <a:blip r:embed="rId2"/>
          <a:stretch>
            <a:fillRect/>
          </a:stretch>
        </p:blipFill>
        <p:spPr>
          <a:xfrm>
            <a:off x="8269834" y="1969618"/>
            <a:ext cx="221285" cy="221285"/>
          </a:xfrm>
          <a:prstGeom prst="rect">
            <a:avLst/>
          </a:prstGeom>
        </p:spPr>
      </p:pic>
      <p:sp>
        <p:nvSpPr>
          <p:cNvPr id="9" name="Text 5"/>
          <p:cNvSpPr/>
          <p:nvPr/>
        </p:nvSpPr>
        <p:spPr>
          <a:xfrm>
            <a:off x="8750808" y="1700784"/>
            <a:ext cx="2633472" cy="310896"/>
          </a:xfrm>
          <a:prstGeom prst="rect">
            <a:avLst/>
          </a:prstGeom>
          <a:noFill/>
        </p:spPr>
        <p:txBody>
          <a:bodyPr wrap="square" lIns="0" tIns="0" rIns="0" bIns="0" rtlCol="0" anchor="ctr"/>
          <a:lstStyle/>
          <a:p>
            <a:pPr marL="0" indent="0">
              <a:buNone/>
            </a:pPr>
            <a:r>
              <a:rPr lang="en-US" sz="1400" b="1" dirty="0">
                <a:solidFill>
                  <a:srgbClr val="0D1B3E"/>
                </a:solidFill>
                <a:latin typeface="Calibri" panose="020F0502020204030204" pitchFamily="34" charset="0"/>
                <a:ea typeface="Calibri" panose="020F0502020204030204" pitchFamily="34" charset="-122"/>
                <a:cs typeface="Calibri" panose="020F0502020204030204" pitchFamily="34" charset="-120"/>
              </a:rPr>
              <a:t>1-Year Hardware Warranty</a:t>
            </a:r>
            <a:endParaRPr lang="en-US" sz="1400" dirty="0"/>
          </a:p>
        </p:txBody>
      </p:sp>
      <p:sp>
        <p:nvSpPr>
          <p:cNvPr id="10" name="Text 6"/>
          <p:cNvSpPr/>
          <p:nvPr/>
        </p:nvSpPr>
        <p:spPr>
          <a:xfrm>
            <a:off x="8750808" y="2011680"/>
            <a:ext cx="2633472" cy="457200"/>
          </a:xfrm>
          <a:prstGeom prst="rect">
            <a:avLst/>
          </a:prstGeom>
          <a:noFill/>
        </p:spPr>
        <p:txBody>
          <a:bodyPr wrap="square" lIns="0" tIns="0" rIns="0" bIns="0" rtlCol="0" anchor="ctr"/>
          <a:lstStyle/>
          <a:p>
            <a:pPr marL="0" indent="0">
              <a:lnSpc>
                <a:spcPts val="1400"/>
              </a:lnSpc>
              <a:buNone/>
            </a:pPr>
            <a:r>
              <a:rPr lang="en-US" sz="1100" dirty="0">
                <a:solidFill>
                  <a:srgbClr val="475569"/>
                </a:solidFill>
                <a:latin typeface="Calibri" panose="020F0502020204030204" pitchFamily="34" charset="0"/>
                <a:ea typeface="Calibri" panose="020F0502020204030204" pitchFamily="34" charset="-122"/>
                <a:cs typeface="Calibri" panose="020F0502020204030204" pitchFamily="34" charset="-120"/>
              </a:rPr>
              <a:t>Genuine NVIDIA Jetson hardware, warranty-backed.</a:t>
            </a:r>
            <a:endParaRPr lang="en-US" sz="1100" dirty="0"/>
          </a:p>
        </p:txBody>
      </p:sp>
      <p:sp>
        <p:nvSpPr>
          <p:cNvPr id="11" name="Shape 7"/>
          <p:cNvSpPr/>
          <p:nvPr/>
        </p:nvSpPr>
        <p:spPr>
          <a:xfrm>
            <a:off x="7909560" y="2697480"/>
            <a:ext cx="3639312" cy="1033272"/>
          </a:xfrm>
          <a:prstGeom prst="roundRect">
            <a:avLst>
              <a:gd name="adj" fmla="val 8850"/>
            </a:avLst>
          </a:prstGeom>
          <a:solidFill>
            <a:srgbClr val="FFFFFF"/>
          </a:solidFill>
          <a:effectLst>
            <a:outerShdw blurRad="101600" dist="25400" dir="5400000" algn="bl" rotWithShape="0">
              <a:srgbClr val="94A3B8">
                <a:alpha val="28000"/>
              </a:srgbClr>
            </a:outerShdw>
          </a:effectLst>
        </p:spPr>
      </p:sp>
      <p:sp>
        <p:nvSpPr>
          <p:cNvPr id="12" name="Shape 8"/>
          <p:cNvSpPr/>
          <p:nvPr/>
        </p:nvSpPr>
        <p:spPr>
          <a:xfrm>
            <a:off x="8129016" y="2990088"/>
            <a:ext cx="502920" cy="502920"/>
          </a:xfrm>
          <a:prstGeom prst="ellipse">
            <a:avLst/>
          </a:prstGeom>
          <a:solidFill>
            <a:srgbClr val="2563EB"/>
          </a:solidFill>
        </p:spPr>
      </p:sp>
      <p:pic>
        <p:nvPicPr>
          <p:cNvPr id="13" name="Image 2" descr="assets/icon_tools_white.png"/>
          <p:cNvPicPr>
            <a:picLocks noChangeAspect="1"/>
          </p:cNvPicPr>
          <p:nvPr/>
        </p:nvPicPr>
        <p:blipFill>
          <a:blip r:embed="rId3"/>
          <a:stretch>
            <a:fillRect/>
          </a:stretch>
        </p:blipFill>
        <p:spPr>
          <a:xfrm>
            <a:off x="8269834" y="3130906"/>
            <a:ext cx="221285" cy="221285"/>
          </a:xfrm>
          <a:prstGeom prst="rect">
            <a:avLst/>
          </a:prstGeom>
        </p:spPr>
      </p:pic>
      <p:sp>
        <p:nvSpPr>
          <p:cNvPr id="14" name="Text 9"/>
          <p:cNvSpPr/>
          <p:nvPr/>
        </p:nvSpPr>
        <p:spPr>
          <a:xfrm>
            <a:off x="8750808" y="2862072"/>
            <a:ext cx="2633472" cy="310896"/>
          </a:xfrm>
          <a:prstGeom prst="rect">
            <a:avLst/>
          </a:prstGeom>
          <a:noFill/>
        </p:spPr>
        <p:txBody>
          <a:bodyPr wrap="square" lIns="0" tIns="0" rIns="0" bIns="0" rtlCol="0" anchor="ctr"/>
          <a:lstStyle/>
          <a:p>
            <a:pPr marL="0" indent="0">
              <a:buNone/>
            </a:pPr>
            <a:r>
              <a:rPr lang="en-US" sz="1400" b="1" dirty="0">
                <a:solidFill>
                  <a:srgbClr val="0D1B3E"/>
                </a:solidFill>
                <a:latin typeface="Calibri" panose="020F0502020204030204" pitchFamily="34" charset="0"/>
                <a:ea typeface="Calibri" panose="020F0502020204030204" pitchFamily="34" charset="-122"/>
                <a:cs typeface="Calibri" panose="020F0502020204030204" pitchFamily="34" charset="-120"/>
              </a:rPr>
              <a:t>6 Months Maintenance</a:t>
            </a:r>
            <a:endParaRPr lang="en-US" sz="1400" dirty="0"/>
          </a:p>
        </p:txBody>
      </p:sp>
      <p:sp>
        <p:nvSpPr>
          <p:cNvPr id="15" name="Text 10"/>
          <p:cNvSpPr/>
          <p:nvPr/>
        </p:nvSpPr>
        <p:spPr>
          <a:xfrm>
            <a:off x="8750808" y="3172968"/>
            <a:ext cx="2633472" cy="457200"/>
          </a:xfrm>
          <a:prstGeom prst="rect">
            <a:avLst/>
          </a:prstGeom>
          <a:noFill/>
        </p:spPr>
        <p:txBody>
          <a:bodyPr wrap="square" lIns="0" tIns="0" rIns="0" bIns="0" rtlCol="0" anchor="ctr"/>
          <a:lstStyle/>
          <a:p>
            <a:pPr marL="0" indent="0">
              <a:lnSpc>
                <a:spcPts val="1400"/>
              </a:lnSpc>
              <a:buNone/>
            </a:pPr>
            <a:r>
              <a:rPr lang="en-US" sz="1100" dirty="0">
                <a:solidFill>
                  <a:srgbClr val="475569"/>
                </a:solidFill>
                <a:latin typeface="Calibri" panose="020F0502020204030204" pitchFamily="34" charset="0"/>
                <a:ea typeface="Calibri" panose="020F0502020204030204" pitchFamily="34" charset="-122"/>
                <a:cs typeface="Calibri" panose="020F0502020204030204" pitchFamily="34" charset="-120"/>
              </a:rPr>
              <a:t>Complimentary maintenance for smooth operation.</a:t>
            </a:r>
            <a:endParaRPr lang="en-US" sz="1100" dirty="0"/>
          </a:p>
        </p:txBody>
      </p:sp>
      <p:sp>
        <p:nvSpPr>
          <p:cNvPr id="16" name="Shape 11"/>
          <p:cNvSpPr/>
          <p:nvPr/>
        </p:nvSpPr>
        <p:spPr>
          <a:xfrm>
            <a:off x="7909560" y="3858768"/>
            <a:ext cx="3639312" cy="1033272"/>
          </a:xfrm>
          <a:prstGeom prst="roundRect">
            <a:avLst>
              <a:gd name="adj" fmla="val 8850"/>
            </a:avLst>
          </a:prstGeom>
          <a:solidFill>
            <a:srgbClr val="FFFFFF"/>
          </a:solidFill>
          <a:effectLst>
            <a:outerShdw blurRad="101600" dist="25400" dir="5400000" algn="bl" rotWithShape="0">
              <a:srgbClr val="94A3B8">
                <a:alpha val="28000"/>
              </a:srgbClr>
            </a:outerShdw>
          </a:effectLst>
        </p:spPr>
      </p:sp>
      <p:sp>
        <p:nvSpPr>
          <p:cNvPr id="17" name="Shape 12"/>
          <p:cNvSpPr/>
          <p:nvPr/>
        </p:nvSpPr>
        <p:spPr>
          <a:xfrm>
            <a:off x="8129016" y="4151376"/>
            <a:ext cx="502920" cy="502920"/>
          </a:xfrm>
          <a:prstGeom prst="ellipse">
            <a:avLst/>
          </a:prstGeom>
          <a:solidFill>
            <a:srgbClr val="0D9488"/>
          </a:solidFill>
        </p:spPr>
      </p:sp>
      <p:pic>
        <p:nvPicPr>
          <p:cNvPr id="18" name="Image 3" descr="assets/icon_laptopCode_white.png"/>
          <p:cNvPicPr>
            <a:picLocks noChangeAspect="1"/>
          </p:cNvPicPr>
          <p:nvPr/>
        </p:nvPicPr>
        <p:blipFill>
          <a:blip r:embed="rId4"/>
          <a:stretch>
            <a:fillRect/>
          </a:stretch>
        </p:blipFill>
        <p:spPr>
          <a:xfrm>
            <a:off x="8269834" y="4292194"/>
            <a:ext cx="221285" cy="221285"/>
          </a:xfrm>
          <a:prstGeom prst="rect">
            <a:avLst/>
          </a:prstGeom>
        </p:spPr>
      </p:pic>
      <p:sp>
        <p:nvSpPr>
          <p:cNvPr id="19" name="Text 13"/>
          <p:cNvSpPr/>
          <p:nvPr/>
        </p:nvSpPr>
        <p:spPr>
          <a:xfrm>
            <a:off x="8750808" y="4023360"/>
            <a:ext cx="2633472" cy="310896"/>
          </a:xfrm>
          <a:prstGeom prst="rect">
            <a:avLst/>
          </a:prstGeom>
          <a:noFill/>
        </p:spPr>
        <p:txBody>
          <a:bodyPr wrap="square" lIns="0" tIns="0" rIns="0" bIns="0" rtlCol="0" anchor="ctr"/>
          <a:lstStyle/>
          <a:p>
            <a:pPr marL="0" indent="0">
              <a:buNone/>
            </a:pPr>
            <a:r>
              <a:rPr lang="en-US" sz="1400" b="1" dirty="0">
                <a:solidFill>
                  <a:srgbClr val="0D1B3E"/>
                </a:solidFill>
                <a:latin typeface="Calibri" panose="020F0502020204030204" pitchFamily="34" charset="0"/>
                <a:ea typeface="Calibri" panose="020F0502020204030204" pitchFamily="34" charset="-122"/>
                <a:cs typeface="Calibri" panose="020F0502020204030204" pitchFamily="34" charset="-120"/>
              </a:rPr>
              <a:t>Remote Technical Assistance</a:t>
            </a:r>
            <a:endParaRPr lang="en-US" sz="1400" dirty="0"/>
          </a:p>
        </p:txBody>
      </p:sp>
      <p:sp>
        <p:nvSpPr>
          <p:cNvPr id="20" name="Text 14"/>
          <p:cNvSpPr/>
          <p:nvPr/>
        </p:nvSpPr>
        <p:spPr>
          <a:xfrm>
            <a:off x="8750808" y="4334256"/>
            <a:ext cx="2633472" cy="457200"/>
          </a:xfrm>
          <a:prstGeom prst="rect">
            <a:avLst/>
          </a:prstGeom>
          <a:noFill/>
        </p:spPr>
        <p:txBody>
          <a:bodyPr wrap="square" lIns="0" tIns="0" rIns="0" bIns="0" rtlCol="0" anchor="ctr"/>
          <a:lstStyle/>
          <a:p>
            <a:pPr marL="0" indent="0">
              <a:lnSpc>
                <a:spcPts val="1400"/>
              </a:lnSpc>
              <a:buNone/>
            </a:pPr>
            <a:r>
              <a:rPr lang="en-US" sz="1100" dirty="0">
                <a:solidFill>
                  <a:srgbClr val="475569"/>
                </a:solidFill>
                <a:latin typeface="Calibri" panose="020F0502020204030204" pitchFamily="34" charset="0"/>
                <a:ea typeface="Calibri" panose="020F0502020204030204" pitchFamily="34" charset="-122"/>
                <a:cs typeface="Calibri" panose="020F0502020204030204" pitchFamily="34" charset="-120"/>
              </a:rPr>
              <a:t>Fast remote diagnosis and resolution.</a:t>
            </a:r>
            <a:endParaRPr lang="en-US" sz="1100" dirty="0"/>
          </a:p>
        </p:txBody>
      </p:sp>
      <p:sp>
        <p:nvSpPr>
          <p:cNvPr id="21" name="Shape 15"/>
          <p:cNvSpPr/>
          <p:nvPr/>
        </p:nvSpPr>
        <p:spPr>
          <a:xfrm>
            <a:off x="7909560" y="5020056"/>
            <a:ext cx="3639312" cy="1033272"/>
          </a:xfrm>
          <a:prstGeom prst="roundRect">
            <a:avLst>
              <a:gd name="adj" fmla="val 8850"/>
            </a:avLst>
          </a:prstGeom>
          <a:solidFill>
            <a:srgbClr val="FFFFFF"/>
          </a:solidFill>
          <a:effectLst>
            <a:outerShdw blurRad="101600" dist="25400" dir="5400000" algn="bl" rotWithShape="0">
              <a:srgbClr val="94A3B8">
                <a:alpha val="28000"/>
              </a:srgbClr>
            </a:outerShdw>
          </a:effectLst>
        </p:spPr>
      </p:sp>
      <p:sp>
        <p:nvSpPr>
          <p:cNvPr id="22" name="Shape 16"/>
          <p:cNvSpPr/>
          <p:nvPr/>
        </p:nvSpPr>
        <p:spPr>
          <a:xfrm>
            <a:off x="8129016" y="5312664"/>
            <a:ext cx="502920" cy="502920"/>
          </a:xfrm>
          <a:prstGeom prst="ellipse">
            <a:avLst/>
          </a:prstGeom>
          <a:solidFill>
            <a:srgbClr val="D97706"/>
          </a:solidFill>
        </p:spPr>
      </p:sp>
      <p:pic>
        <p:nvPicPr>
          <p:cNvPr id="23" name="Image 4" descr="assets/icon_truck_white.png"/>
          <p:cNvPicPr>
            <a:picLocks noChangeAspect="1"/>
          </p:cNvPicPr>
          <p:nvPr/>
        </p:nvPicPr>
        <p:blipFill>
          <a:blip r:embed="rId5"/>
          <a:stretch>
            <a:fillRect/>
          </a:stretch>
        </p:blipFill>
        <p:spPr>
          <a:xfrm>
            <a:off x="8269834" y="5453482"/>
            <a:ext cx="221285" cy="221285"/>
          </a:xfrm>
          <a:prstGeom prst="rect">
            <a:avLst/>
          </a:prstGeom>
        </p:spPr>
      </p:pic>
      <p:sp>
        <p:nvSpPr>
          <p:cNvPr id="24" name="Text 17"/>
          <p:cNvSpPr/>
          <p:nvPr/>
        </p:nvSpPr>
        <p:spPr>
          <a:xfrm>
            <a:off x="8750808" y="5184648"/>
            <a:ext cx="2633472" cy="310896"/>
          </a:xfrm>
          <a:prstGeom prst="rect">
            <a:avLst/>
          </a:prstGeom>
          <a:noFill/>
        </p:spPr>
        <p:txBody>
          <a:bodyPr wrap="square" lIns="0" tIns="0" rIns="0" bIns="0" rtlCol="0" anchor="ctr"/>
          <a:lstStyle/>
          <a:p>
            <a:pPr marL="0" indent="0">
              <a:buNone/>
            </a:pPr>
            <a:r>
              <a:rPr lang="en-US" sz="1400" b="1" dirty="0">
                <a:solidFill>
                  <a:srgbClr val="0D1B3E"/>
                </a:solidFill>
                <a:latin typeface="Calibri" panose="020F0502020204030204" pitchFamily="34" charset="0"/>
                <a:ea typeface="Calibri" panose="020F0502020204030204" pitchFamily="34" charset="-122"/>
                <a:cs typeface="Calibri" panose="020F0502020204030204" pitchFamily="34" charset="-120"/>
              </a:rPr>
              <a:t>Deployment Support</a:t>
            </a:r>
            <a:endParaRPr lang="en-US" sz="1400" dirty="0"/>
          </a:p>
        </p:txBody>
      </p:sp>
      <p:sp>
        <p:nvSpPr>
          <p:cNvPr id="25" name="Text 18"/>
          <p:cNvSpPr/>
          <p:nvPr/>
        </p:nvSpPr>
        <p:spPr>
          <a:xfrm>
            <a:off x="8750808" y="5495544"/>
            <a:ext cx="2633472" cy="457200"/>
          </a:xfrm>
          <a:prstGeom prst="rect">
            <a:avLst/>
          </a:prstGeom>
          <a:noFill/>
        </p:spPr>
        <p:txBody>
          <a:bodyPr wrap="square" lIns="0" tIns="0" rIns="0" bIns="0" rtlCol="0" anchor="ctr"/>
          <a:lstStyle/>
          <a:p>
            <a:pPr marL="0" indent="0">
              <a:lnSpc>
                <a:spcPts val="1400"/>
              </a:lnSpc>
              <a:buNone/>
            </a:pPr>
            <a:r>
              <a:rPr lang="en-US" sz="1100" dirty="0">
                <a:solidFill>
                  <a:srgbClr val="475569"/>
                </a:solidFill>
                <a:latin typeface="Calibri" panose="020F0502020204030204" pitchFamily="34" charset="0"/>
                <a:ea typeface="Calibri" panose="020F0502020204030204" pitchFamily="34" charset="-122"/>
                <a:cs typeface="Calibri" panose="020F0502020204030204" pitchFamily="34" charset="-120"/>
              </a:rPr>
              <a:t>Hands-on help through install and go-live.</a:t>
            </a:r>
            <a:endParaRPr lang="en-US" sz="1100" dirty="0"/>
          </a:p>
        </p:txBody>
      </p:sp>
      <p:pic>
        <p:nvPicPr>
          <p:cNvPr id="26" name="Image 5" descr="assets/logo_dark.png"/>
          <p:cNvPicPr>
            <a:picLocks noChangeAspect="1"/>
          </p:cNvPicPr>
          <p:nvPr/>
        </p:nvPicPr>
        <p:blipFill>
          <a:blip r:embed="rId6"/>
          <a:srcRect/>
          <a:stretch>
            <a:fillRect/>
          </a:stretch>
        </p:blipFill>
        <p:spPr>
          <a:xfrm>
            <a:off x="10317175" y="6400800"/>
            <a:ext cx="1280160" cy="214884"/>
          </a:xfrm>
          <a:prstGeom prst="rect">
            <a:avLst/>
          </a:prstGeom>
        </p:spPr>
      </p:pic>
      <p:sp>
        <p:nvSpPr>
          <p:cNvPr id="27" name="Text 19"/>
          <p:cNvSpPr/>
          <p:nvPr/>
        </p:nvSpPr>
        <p:spPr>
          <a:xfrm>
            <a:off x="640080" y="6382512"/>
            <a:ext cx="731520" cy="274320"/>
          </a:xfrm>
          <a:prstGeom prst="rect">
            <a:avLst/>
          </a:prstGeom>
          <a:noFill/>
        </p:spPr>
        <p:txBody>
          <a:bodyPr wrap="square" lIns="0" tIns="0" rIns="0" bIns="0" rtlCol="0" anchor="ctr"/>
          <a:lstStyle/>
          <a:p>
            <a:pPr marL="0" indent="0">
              <a:buNone/>
            </a:pPr>
            <a:r>
              <a:rPr lang="en-US" sz="1100" b="1" dirty="0">
                <a:solidFill>
                  <a:srgbClr val="64748B"/>
                </a:solidFill>
                <a:latin typeface="Calibri" panose="020F0502020204030204" pitchFamily="34" charset="0"/>
                <a:ea typeface="Calibri" panose="020F0502020204030204" pitchFamily="34" charset="-122"/>
                <a:cs typeface="Calibri" panose="020F0502020204030204"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descr="ChatGPT Image Jun 11, 2026, 10_05_26 AM"/>
          <p:cNvPicPr>
            <a:picLocks noChangeAspect="1"/>
          </p:cNvPicPr>
          <p:nvPr/>
        </p:nvPicPr>
        <p:blipFill>
          <a:blip r:embed="rId1"/>
          <a:stretch>
            <a:fillRect/>
          </a:stretch>
        </p:blipFill>
        <p:spPr>
          <a:xfrm>
            <a:off x="635" y="635"/>
            <a:ext cx="12190730" cy="685673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7498080" y="-2756535"/>
            <a:ext cx="8229600" cy="8229600"/>
          </a:xfrm>
          <a:prstGeom prst="ellipse">
            <a:avLst/>
          </a:prstGeom>
          <a:solidFill>
            <a:srgbClr val="16285A"/>
          </a:solidFill>
        </p:spPr>
      </p:sp>
      <p:sp>
        <p:nvSpPr>
          <p:cNvPr id="3" name="Shape 1"/>
          <p:cNvSpPr/>
          <p:nvPr/>
        </p:nvSpPr>
        <p:spPr>
          <a:xfrm>
            <a:off x="-3200400" y="3200400"/>
            <a:ext cx="7772400" cy="7772400"/>
          </a:xfrm>
          <a:prstGeom prst="ellipse">
            <a:avLst/>
          </a:prstGeom>
          <a:solidFill>
            <a:srgbClr val="1B3168"/>
          </a:solidFill>
        </p:spPr>
      </p:sp>
      <p:pic>
        <p:nvPicPr>
          <p:cNvPr id="4" name="Image 0" descr="assets/logo_white.png"/>
          <p:cNvPicPr>
            <a:picLocks noChangeAspect="1"/>
          </p:cNvPicPr>
          <p:nvPr/>
        </p:nvPicPr>
        <p:blipFill>
          <a:blip r:embed="rId1"/>
          <a:srcRect/>
          <a:stretch>
            <a:fillRect/>
          </a:stretch>
        </p:blipFill>
        <p:spPr>
          <a:xfrm>
            <a:off x="3992728" y="1234440"/>
            <a:ext cx="4206240" cy="713232"/>
          </a:xfrm>
          <a:prstGeom prst="rect">
            <a:avLst/>
          </a:prstGeom>
        </p:spPr>
      </p:pic>
      <p:sp>
        <p:nvSpPr>
          <p:cNvPr id="5" name="Text 2"/>
          <p:cNvSpPr/>
          <p:nvPr/>
        </p:nvSpPr>
        <p:spPr>
          <a:xfrm>
            <a:off x="0" y="2286000"/>
            <a:ext cx="12191695" cy="914400"/>
          </a:xfrm>
          <a:prstGeom prst="rect">
            <a:avLst/>
          </a:prstGeom>
          <a:noFill/>
        </p:spPr>
        <p:txBody>
          <a:bodyPr wrap="square" lIns="0" tIns="0" rIns="0" bIns="0" rtlCol="0" anchor="ctr"/>
          <a:lstStyle/>
          <a:p>
            <a:pPr marL="0" indent="0" algn="ctr">
              <a:buNone/>
            </a:pPr>
            <a:r>
              <a:rPr lang="en-US" sz="5400" b="1" dirty="0">
                <a:solidFill>
                  <a:srgbClr val="FFFFFF"/>
                </a:solidFill>
                <a:latin typeface="Calibri" panose="020F0502020204030204" pitchFamily="34" charset="0"/>
                <a:ea typeface="Calibri" panose="020F0502020204030204" pitchFamily="34" charset="-122"/>
                <a:cs typeface="Calibri" panose="020F0502020204030204" pitchFamily="34" charset="-120"/>
              </a:rPr>
              <a:t>Thank You</a:t>
            </a:r>
            <a:endParaRPr lang="en-US" sz="5400" dirty="0"/>
          </a:p>
        </p:txBody>
      </p:sp>
      <p:sp>
        <p:nvSpPr>
          <p:cNvPr id="6" name="Text 3"/>
          <p:cNvSpPr/>
          <p:nvPr/>
        </p:nvSpPr>
        <p:spPr>
          <a:xfrm>
            <a:off x="0" y="3337560"/>
            <a:ext cx="12191695" cy="457200"/>
          </a:xfrm>
          <a:prstGeom prst="rect">
            <a:avLst/>
          </a:prstGeom>
          <a:noFill/>
        </p:spPr>
        <p:txBody>
          <a:bodyPr wrap="square" lIns="0" tIns="0" rIns="0" bIns="0" rtlCol="0" anchor="ctr"/>
          <a:lstStyle/>
          <a:p>
            <a:pPr marL="0" indent="0" algn="ctr">
              <a:buNone/>
            </a:pPr>
            <a:r>
              <a:rPr lang="en-US" sz="1700" i="1" dirty="0">
                <a:solidFill>
                  <a:srgbClr val="C9D6F2"/>
                </a:solidFill>
                <a:latin typeface="Calibri" panose="020F0502020204030204" pitchFamily="34" charset="0"/>
                <a:ea typeface="Calibri" panose="020F0502020204030204" pitchFamily="34" charset="-122"/>
                <a:cs typeface="Calibri" panose="020F0502020204030204" pitchFamily="34" charset="-120"/>
              </a:rPr>
              <a:t>Let’s turn your CCTV infrastructure into workplace intelligence.</a:t>
            </a:r>
            <a:endParaRPr lang="en-US" sz="1700" dirty="0"/>
          </a:p>
        </p:txBody>
      </p:sp>
      <p:sp>
        <p:nvSpPr>
          <p:cNvPr id="7" name="Shape 4"/>
          <p:cNvSpPr/>
          <p:nvPr/>
        </p:nvSpPr>
        <p:spPr>
          <a:xfrm>
            <a:off x="3718408" y="4160520"/>
            <a:ext cx="4754880" cy="841248"/>
          </a:xfrm>
          <a:prstGeom prst="roundRect">
            <a:avLst>
              <a:gd name="adj" fmla="val 50000"/>
            </a:avLst>
          </a:prstGeom>
          <a:solidFill>
            <a:srgbClr val="1B3168"/>
          </a:solidFill>
        </p:spPr>
      </p:sp>
      <p:pic>
        <p:nvPicPr>
          <p:cNvPr id="8" name="Image 1" descr="assets/icon_globe_white.png"/>
          <p:cNvPicPr>
            <a:picLocks noChangeAspect="1"/>
          </p:cNvPicPr>
          <p:nvPr/>
        </p:nvPicPr>
        <p:blipFill>
          <a:blip r:embed="rId2"/>
          <a:stretch>
            <a:fillRect/>
          </a:stretch>
        </p:blipFill>
        <p:spPr>
          <a:xfrm>
            <a:off x="4221328" y="4407408"/>
            <a:ext cx="347472" cy="347472"/>
          </a:xfrm>
          <a:prstGeom prst="rect">
            <a:avLst/>
          </a:prstGeom>
        </p:spPr>
      </p:pic>
      <p:sp>
        <p:nvSpPr>
          <p:cNvPr id="9" name="Text 5"/>
          <p:cNvSpPr/>
          <p:nvPr/>
        </p:nvSpPr>
        <p:spPr>
          <a:xfrm>
            <a:off x="4678528" y="4160520"/>
            <a:ext cx="3566160" cy="841248"/>
          </a:xfrm>
          <a:prstGeom prst="rect">
            <a:avLst/>
          </a:prstGeom>
          <a:noFill/>
        </p:spPr>
        <p:txBody>
          <a:bodyPr wrap="square" lIns="0" tIns="0" rIns="0" bIns="0" rtlCol="0" anchor="ctr"/>
          <a:lstStyle/>
          <a:p>
            <a:pPr marL="0" indent="0">
              <a:buNone/>
            </a:pPr>
            <a:r>
              <a:rPr lang="en-US" sz="1900" b="1" dirty="0">
                <a:solidFill>
                  <a:srgbClr val="FFFFFF"/>
                </a:solidFill>
                <a:latin typeface="Calibri" panose="020F0502020204030204" pitchFamily="34" charset="0"/>
                <a:ea typeface="Calibri" panose="020F0502020204030204" pitchFamily="34" charset="-122"/>
                <a:cs typeface="Calibri" panose="020F0502020204030204" pitchFamily="34" charset="-120"/>
              </a:rPr>
              <a:t>www.trinetrasystems.com</a:t>
            </a:r>
            <a:endParaRPr lang="en-US" sz="1900" dirty="0"/>
          </a:p>
        </p:txBody>
      </p:sp>
      <p:sp>
        <p:nvSpPr>
          <p:cNvPr id="10" name="Text 6"/>
          <p:cNvSpPr/>
          <p:nvPr/>
        </p:nvSpPr>
        <p:spPr>
          <a:xfrm>
            <a:off x="0" y="5806440"/>
            <a:ext cx="12191695" cy="274320"/>
          </a:xfrm>
          <a:prstGeom prst="rect">
            <a:avLst/>
          </a:prstGeom>
          <a:noFill/>
        </p:spPr>
        <p:txBody>
          <a:bodyPr wrap="square" lIns="0" tIns="0" rIns="0" bIns="0" rtlCol="0" anchor="ctr"/>
          <a:lstStyle/>
          <a:p>
            <a:pPr marL="0" indent="0" algn="ctr">
              <a:buNone/>
            </a:pPr>
            <a:r>
              <a:rPr lang="en-US" sz="1200" kern="0" spc="100" dirty="0">
                <a:solidFill>
                  <a:srgbClr val="8AA2D6"/>
                </a:solidFill>
                <a:latin typeface="Calibri" panose="020F0502020204030204" pitchFamily="34" charset="0"/>
                <a:ea typeface="Calibri" panose="020F0502020204030204" pitchFamily="34" charset="-122"/>
                <a:cs typeface="Calibri" panose="020F0502020204030204" pitchFamily="34" charset="-120"/>
              </a:rPr>
              <a:t>Privacy-by-design  ·  Edge AI  ·  Enterprise Workplace Analytics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7152</Words>
  <Application>WPS Presentation</Application>
  <PresentationFormat>On-screen Show (16:9)</PresentationFormat>
  <Paragraphs>534</Paragraphs>
  <Slides>22</Slides>
  <Notes>20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22</vt:i4>
      </vt:variant>
    </vt:vector>
  </HeadingPairs>
  <TitlesOfParts>
    <vt:vector size="32" baseType="lpstr">
      <vt:lpstr>Arial</vt:lpstr>
      <vt:lpstr>SimSun</vt:lpstr>
      <vt:lpstr>Wingdings</vt:lpstr>
      <vt:lpstr>Calibri</vt:lpstr>
      <vt:lpstr>Calibri</vt:lpstr>
      <vt:lpstr>Calibri</vt:lpstr>
      <vt:lpstr>Arial</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Workplace Analytics</dc:title>
  <dc:creator>Trinetra Systems</dc:creator>
  <dc:subject>PptxGenJS Presentation</dc:subject>
  <cp:lastModifiedBy>bhagy</cp:lastModifiedBy>
  <cp:revision>5</cp:revision>
  <dcterms:created xsi:type="dcterms:W3CDTF">2026-06-10T13:25:00Z</dcterms:created>
  <dcterms:modified xsi:type="dcterms:W3CDTF">2026-06-11T17:55:20Z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C408A86F96E74824AA7508043D759A7D_12</vt:lpwstr>
  </property>
  <property fmtid="{D5CDD505-2E9C-101B-9397-08002B2CF9AE}" pid="3" name="KSOProductBuildVer">
    <vt:lpwstr>1033-12.1.0.26372</vt:lpwstr>
  </property>
</Properties>
</file>