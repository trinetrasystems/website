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sp>
        <p:nvSpPr>
          <p:cNvPr id="3" name="Shape 1"/>
          <p:cNvSpPr/>
          <p:nvPr/>
        </p:nvSpPr>
        <p:spPr>
          <a:xfrm>
            <a:off x="6903720" y="0"/>
            <a:ext cx="5852160" cy="6858000"/>
          </a:xfrm>
          <a:prstGeom prst="roundRect">
            <a:avLst>
              <a:gd name="adj" fmla="val 6250"/>
            </a:avLst>
          </a:prstGeom>
          <a:solidFill>
            <a:srgbClr val="F4EFFF"/>
          </a:solidFill>
          <a:ln/>
        </p:spPr>
      </p:sp>
      <p:pic>
        <p:nvPicPr>
          <p:cNvPr id="4" name="Image 0" descr="logo-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713232"/>
            <a:ext cx="2606040" cy="9198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2128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843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ANALYTICS  ·  PROPOSAL &amp; LIVE DEMO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66928" y="2560320"/>
            <a:ext cx="6400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value from the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you already own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66928" y="413308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layer across both sides of SBC's business — retail bookstores and the printing &amp; paper-converting plant.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6928" y="5047488"/>
            <a:ext cx="822960" cy="32004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52303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SBC Store  (retail + printing division)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" y="552297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Systems  ·  Bengaluru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5236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MODULES, ONE PLATFORM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452360" y="1883664"/>
            <a:ext cx="416052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A5AA8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662672" y="2043684"/>
            <a:ext cx="118872" cy="118872"/>
          </a:xfrm>
          <a:prstGeom prst="ellipse">
            <a:avLst/>
          </a:prstGeom>
          <a:solidFill>
            <a:srgbClr val="1C6BF0"/>
          </a:solidFill>
          <a:ln/>
        </p:spPr>
      </p:sp>
      <p:sp>
        <p:nvSpPr>
          <p:cNvPr id="14" name="Text 11"/>
          <p:cNvSpPr/>
          <p:nvPr/>
        </p:nvSpPr>
        <p:spPr>
          <a:xfrm>
            <a:off x="7882128" y="18836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Footfall &amp; conversion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452360" y="2432304"/>
            <a:ext cx="416052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A5AA8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62672" y="2592324"/>
            <a:ext cx="118872" cy="118872"/>
          </a:xfrm>
          <a:prstGeom prst="ellipse">
            <a:avLst/>
          </a:prstGeom>
          <a:solidFill>
            <a:srgbClr val="1C6BF0"/>
          </a:solidFill>
          <a:ln/>
        </p:spPr>
      </p:sp>
      <p:sp>
        <p:nvSpPr>
          <p:cNvPr id="17" name="Text 14"/>
          <p:cNvSpPr/>
          <p:nvPr/>
        </p:nvSpPr>
        <p:spPr>
          <a:xfrm>
            <a:off x="7882128" y="243230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Billing-queue alerts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452360" y="2980944"/>
            <a:ext cx="416052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A5AA8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662672" y="3140964"/>
            <a:ext cx="118872" cy="118872"/>
          </a:xfrm>
          <a:prstGeom prst="ellipse">
            <a:avLst/>
          </a:prstGeom>
          <a:solidFill>
            <a:srgbClr val="1C6BF0"/>
          </a:solidFill>
          <a:ln/>
        </p:spPr>
      </p:sp>
      <p:sp>
        <p:nvSpPr>
          <p:cNvPr id="20" name="Text 17"/>
          <p:cNvSpPr/>
          <p:nvPr/>
        </p:nvSpPr>
        <p:spPr>
          <a:xfrm>
            <a:off x="7882128" y="298094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dwell heatmaps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452360" y="3529584"/>
            <a:ext cx="416052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A5AA8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662672" y="3689604"/>
            <a:ext cx="118872" cy="118872"/>
          </a:xfrm>
          <a:prstGeom prst="ellipse">
            <a:avLst/>
          </a:prstGeom>
          <a:solidFill>
            <a:srgbClr val="8430FC"/>
          </a:solidFill>
          <a:ln/>
        </p:spPr>
      </p:sp>
      <p:sp>
        <p:nvSpPr>
          <p:cNvPr id="23" name="Text 20"/>
          <p:cNvSpPr/>
          <p:nvPr/>
        </p:nvSpPr>
        <p:spPr>
          <a:xfrm>
            <a:off x="7882128" y="352958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uptime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452360" y="4078224"/>
            <a:ext cx="416052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A5AA8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662672" y="4238244"/>
            <a:ext cx="118872" cy="118872"/>
          </a:xfrm>
          <a:prstGeom prst="ellipse">
            <a:avLst/>
          </a:prstGeom>
          <a:solidFill>
            <a:srgbClr val="8430FC"/>
          </a:solidFill>
          <a:ln/>
        </p:spPr>
      </p:sp>
      <p:sp>
        <p:nvSpPr>
          <p:cNvPr id="26" name="Text 23"/>
          <p:cNvSpPr/>
          <p:nvPr/>
        </p:nvSpPr>
        <p:spPr>
          <a:xfrm>
            <a:off x="7882128" y="407822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compliance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452360" y="4626864"/>
            <a:ext cx="416052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A5AA8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662672" y="4786884"/>
            <a:ext cx="118872" cy="118872"/>
          </a:xfrm>
          <a:prstGeom prst="ellipse">
            <a:avLst/>
          </a:prstGeom>
          <a:solidFill>
            <a:srgbClr val="8430FC"/>
          </a:solidFill>
          <a:ln/>
        </p:spPr>
      </p:sp>
      <p:sp>
        <p:nvSpPr>
          <p:cNvPr id="29" name="Text 26"/>
          <p:cNvSpPr/>
          <p:nvPr/>
        </p:nvSpPr>
        <p:spPr>
          <a:xfrm>
            <a:off x="7882128" y="46268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&amp; smoke detection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452360" y="5175504"/>
            <a:ext cx="416052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A5AA8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662672" y="5335524"/>
            <a:ext cx="118872" cy="118872"/>
          </a:xfrm>
          <a:prstGeom prst="ellipse">
            <a:avLst/>
          </a:prstGeom>
          <a:solidFill>
            <a:srgbClr val="8430FC"/>
          </a:solidFill>
          <a:ln/>
        </p:spPr>
      </p:sp>
      <p:sp>
        <p:nvSpPr>
          <p:cNvPr id="32" name="Text 29"/>
          <p:cNvSpPr/>
          <p:nvPr/>
        </p:nvSpPr>
        <p:spPr>
          <a:xfrm>
            <a:off x="7882128" y="517550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Print-defect detection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843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very different problems, one camera network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SBC already runs CCTV in the stores and on the shop floor. Today it is used to look back. AI turns it into a system that acts in real time.</a:t>
            </a:r>
            <a:endParaRPr lang="en-US" sz="1300" dirty="0"/>
          </a:p>
        </p:txBody>
      </p:sp>
      <p:pic>
        <p:nvPicPr>
          <p:cNvPr id="5" name="Image 0" descr="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3439" y="329184"/>
            <a:ext cx="1481328" cy="5230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572768"/>
            <a:ext cx="5486400" cy="3794760"/>
          </a:xfrm>
          <a:prstGeom prst="roundRect">
            <a:avLst>
              <a:gd name="adj" fmla="val 2410"/>
            </a:avLst>
          </a:prstGeom>
          <a:solidFill>
            <a:srgbClr val="EDF3FF"/>
          </a:solidFill>
          <a:ln/>
          <a:effectLst>
            <a:outerShdw sx="100000" sy="100000" kx="0" ky="0" algn="bl" rotWithShape="0" blurRad="177800" dist="25400" dir="5400000">
              <a:srgbClr val="6A5AA8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96112" y="18105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C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BOOKSTORES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6112" y="213969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count sales. You cannot count the sales you missed.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96112" y="2798064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people walked in but never billed?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aisles hold attention — and which are dead space?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did the billing queue run before anyone noticed?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exactly are the peak hours, store by store?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82512" y="1572768"/>
            <a:ext cx="5248656" cy="3794760"/>
          </a:xfrm>
          <a:prstGeom prst="roundRect">
            <a:avLst>
              <a:gd name="adj" fmla="val 2410"/>
            </a:avLst>
          </a:prstGeom>
          <a:solidFill>
            <a:srgbClr val="F4EFFF"/>
          </a:solidFill>
          <a:ln/>
          <a:effectLst>
            <a:outerShdw sx="100000" sy="100000" kx="0" ky="0" algn="bl" rotWithShape="0" blurRad="177800" dist="25400" dir="5400000">
              <a:srgbClr val="6A5AA8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711696" y="18105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43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&amp; PAPER CONVERTING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11696" y="213969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Downtime, defects and safety lapses are found after the fact.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711696" y="2798064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press sat idle, for how long, and on whose shift?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defective run is caught at the end — thousands of sheets late.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is checked by supervision, not by record.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Paper, ink and solvent make fire a first-minute problem.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66928" y="5614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hardware. Same cameras. Seven answers that arrive while you can still do something about them.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66928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Systems  ·  AI Video Analytics for SBC Store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84687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843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DEPLOY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analytics modules across the group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runs on your existing IP cameras and reports into one dashboard.</a:t>
            </a:r>
            <a:endParaRPr lang="en-US" sz="1300" dirty="0"/>
          </a:p>
        </p:txBody>
      </p:sp>
      <p:pic>
        <p:nvPicPr>
          <p:cNvPr id="5" name="Image 0" descr="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3439" y="329184"/>
            <a:ext cx="1481328" cy="5230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627632"/>
            <a:ext cx="2688336" cy="1810512"/>
          </a:xfrm>
          <a:prstGeom prst="roundRect">
            <a:avLst>
              <a:gd name="adj" fmla="val 5051"/>
            </a:avLst>
          </a:prstGeom>
          <a:solidFill>
            <a:srgbClr val="EDF3FF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" y="179222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04672" y="2231136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Footfall &amp; conversion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272491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 vs. people billed, hour by hour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7852" y="1627632"/>
            <a:ext cx="2688336" cy="1810512"/>
          </a:xfrm>
          <a:prstGeom prst="roundRect">
            <a:avLst>
              <a:gd name="adj" fmla="val 5051"/>
            </a:avLst>
          </a:prstGeom>
          <a:solidFill>
            <a:srgbClr val="EDF3FF"/>
          </a:solidFill>
          <a:ln/>
        </p:spPr>
      </p:sp>
      <p:sp>
        <p:nvSpPr>
          <p:cNvPr id="11" name="Text 8"/>
          <p:cNvSpPr/>
          <p:nvPr/>
        </p:nvSpPr>
        <p:spPr>
          <a:xfrm>
            <a:off x="3625596" y="179222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625596" y="2231136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Billing-queue alerts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25596" y="272491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queue length with open-a-counter alerts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08776" y="1627632"/>
            <a:ext cx="2688336" cy="1810512"/>
          </a:xfrm>
          <a:prstGeom prst="roundRect">
            <a:avLst>
              <a:gd name="adj" fmla="val 5051"/>
            </a:avLst>
          </a:prstGeom>
          <a:solidFill>
            <a:srgbClr val="EDF3FF"/>
          </a:solidFill>
          <a:ln/>
        </p:spPr>
      </p:sp>
      <p:sp>
        <p:nvSpPr>
          <p:cNvPr id="15" name="Text 12"/>
          <p:cNvSpPr/>
          <p:nvPr/>
        </p:nvSpPr>
        <p:spPr>
          <a:xfrm>
            <a:off x="6446520" y="179222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46520" y="2231136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dwell heatmaps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46520" y="272491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customers stop, aisle by aisle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029700" y="1627632"/>
            <a:ext cx="2688336" cy="1810512"/>
          </a:xfrm>
          <a:prstGeom prst="roundRect">
            <a:avLst>
              <a:gd name="adj" fmla="val 5051"/>
            </a:avLst>
          </a:prstGeom>
          <a:solidFill>
            <a:srgbClr val="F4EFFF"/>
          </a:solidFill>
          <a:ln/>
        </p:spPr>
      </p:sp>
      <p:sp>
        <p:nvSpPr>
          <p:cNvPr id="19" name="Text 16"/>
          <p:cNvSpPr/>
          <p:nvPr/>
        </p:nvSpPr>
        <p:spPr>
          <a:xfrm>
            <a:off x="9267444" y="179222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43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267444" y="2231136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uptime &amp; idle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267444" y="272491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vs. idle time per press, per shift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66928" y="3621024"/>
            <a:ext cx="2688336" cy="1810512"/>
          </a:xfrm>
          <a:prstGeom prst="roundRect">
            <a:avLst>
              <a:gd name="adj" fmla="val 5051"/>
            </a:avLst>
          </a:prstGeom>
          <a:solidFill>
            <a:srgbClr val="F4EFFF"/>
          </a:solidFill>
          <a:ln/>
        </p:spPr>
      </p:sp>
      <p:sp>
        <p:nvSpPr>
          <p:cNvPr id="23" name="Text 20"/>
          <p:cNvSpPr/>
          <p:nvPr/>
        </p:nvSpPr>
        <p:spPr>
          <a:xfrm>
            <a:off x="804672" y="37856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43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804672" y="422452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compliance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04672" y="4718304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vest and goggles checks on the floor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387852" y="3621024"/>
            <a:ext cx="2688336" cy="1810512"/>
          </a:xfrm>
          <a:prstGeom prst="roundRect">
            <a:avLst>
              <a:gd name="adj" fmla="val 5051"/>
            </a:avLst>
          </a:prstGeom>
          <a:solidFill>
            <a:srgbClr val="F4EFFF"/>
          </a:solidFill>
          <a:ln/>
        </p:spPr>
      </p:sp>
      <p:sp>
        <p:nvSpPr>
          <p:cNvPr id="27" name="Text 24"/>
          <p:cNvSpPr/>
          <p:nvPr/>
        </p:nvSpPr>
        <p:spPr>
          <a:xfrm>
            <a:off x="3625596" y="37856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43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625596" y="422452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&amp; smoke detection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625596" y="4718304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detection in seconds, push to mobile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208776" y="3621024"/>
            <a:ext cx="2688336" cy="1810512"/>
          </a:xfrm>
          <a:prstGeom prst="roundRect">
            <a:avLst>
              <a:gd name="adj" fmla="val 5051"/>
            </a:avLst>
          </a:prstGeom>
          <a:solidFill>
            <a:srgbClr val="F4EFFF"/>
          </a:solidFill>
          <a:ln/>
        </p:spPr>
      </p:sp>
      <p:sp>
        <p:nvSpPr>
          <p:cNvPr id="31" name="Text 28"/>
          <p:cNvSpPr/>
          <p:nvPr/>
        </p:nvSpPr>
        <p:spPr>
          <a:xfrm>
            <a:off x="6446520" y="37856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43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6446520" y="422452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&amp; paper defects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446520" y="4718304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Streaks, spots and smudges caught on the web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66928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Systems  ·  AI Video Analytics for SBC Store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984687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3" name="Image 0" descr="/home/claude/sbc/shots/workfl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F"/>
          </a:solidFill>
          <a:ln/>
        </p:spPr>
      </p:sp>
      <p:pic>
        <p:nvPicPr>
          <p:cNvPr id="3" name="Image 0" descr="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3439" y="384048"/>
            <a:ext cx="1481328" cy="523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14173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BD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2"/>
          <p:cNvSpPr/>
          <p:nvPr/>
        </p:nvSpPr>
        <p:spPr>
          <a:xfrm>
            <a:off x="566928" y="3127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1C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66928" y="3419856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intelligence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66928" y="41330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Footfall &amp; conversion  ·  billing-queue alerts  ·  shelf dwell heatmaps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66928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Systems  ·  AI Video Analytics for SBC Store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84687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843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 ·  RETAIL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Footfall and conversion, counted automatically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entry camera turns walk-ins into a number you can manage.</a:t>
            </a:r>
            <a:endParaRPr lang="en-US" sz="1300" dirty="0"/>
          </a:p>
        </p:txBody>
      </p:sp>
      <p:pic>
        <p:nvPicPr>
          <p:cNvPr id="5" name="Image 0" descr="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3439" y="329184"/>
            <a:ext cx="1481328" cy="523037"/>
          </a:xfrm>
          <a:prstGeom prst="rect">
            <a:avLst/>
          </a:prstGeom>
        </p:spPr>
      </p:pic>
      <p:pic>
        <p:nvPicPr>
          <p:cNvPr id="6" name="Image 1" descr="/home/claude/sbc/shots/footfal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81328"/>
            <a:ext cx="5582412" cy="37216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1481328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48132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9" name="Shape 5"/>
          <p:cNvSpPr/>
          <p:nvPr/>
        </p:nvSpPr>
        <p:spPr>
          <a:xfrm>
            <a:off x="5765292" y="1481328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0" name="Shape 6"/>
          <p:cNvSpPr/>
          <p:nvPr/>
        </p:nvSpPr>
        <p:spPr>
          <a:xfrm>
            <a:off x="6099048" y="148132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1" name="Shape 7"/>
          <p:cNvSpPr/>
          <p:nvPr/>
        </p:nvSpPr>
        <p:spPr>
          <a:xfrm>
            <a:off x="566928" y="5152644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2" name="Shape 8"/>
          <p:cNvSpPr/>
          <p:nvPr/>
        </p:nvSpPr>
        <p:spPr>
          <a:xfrm>
            <a:off x="566928" y="481888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3" name="Shape 9"/>
          <p:cNvSpPr/>
          <p:nvPr/>
        </p:nvSpPr>
        <p:spPr>
          <a:xfrm>
            <a:off x="5765292" y="5152644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4" name="Shape 10"/>
          <p:cNvSpPr/>
          <p:nvPr/>
        </p:nvSpPr>
        <p:spPr>
          <a:xfrm>
            <a:off x="6099048" y="481888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5" name="Text 11"/>
          <p:cNvSpPr/>
          <p:nvPr/>
        </p:nvSpPr>
        <p:spPr>
          <a:xfrm>
            <a:off x="566928" y="5266944"/>
            <a:ext cx="55824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B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visualisation of Trinetra's detection output.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606540" y="1481328"/>
            <a:ext cx="5018227" cy="1929384"/>
          </a:xfrm>
          <a:prstGeom prst="roundRect">
            <a:avLst>
              <a:gd name="adj" fmla="val 4739"/>
            </a:avLst>
          </a:prstGeom>
          <a:solidFill>
            <a:srgbClr val="EDF3FF"/>
          </a:solidFill>
          <a:ln/>
          <a:effectLst>
            <a:outerShdw sx="100000" sy="100000" kx="0" ky="0" algn="bl" rotWithShape="0" blurRad="177800" dist="25400" dir="5400000">
              <a:srgbClr val="6A5AA8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80860" y="1773936"/>
            <a:ext cx="128016" cy="128016"/>
          </a:xfrm>
          <a:prstGeom prst="ellipse">
            <a:avLst/>
          </a:prstGeom>
          <a:solidFill>
            <a:srgbClr val="1C6BF0"/>
          </a:solidFill>
          <a:ln/>
        </p:spPr>
      </p:sp>
      <p:sp>
        <p:nvSpPr>
          <p:cNvPr id="18" name="Text 14"/>
          <p:cNvSpPr/>
          <p:nvPr/>
        </p:nvSpPr>
        <p:spPr>
          <a:xfrm>
            <a:off x="7100316" y="1700784"/>
            <a:ext cx="42867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1C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SEES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917436" y="2084832"/>
            <a:ext cx="4414723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person crossing the IN and OUT line, counted separately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events matched against entries in the same window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vs. billed plotted through the day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606540" y="3557016"/>
            <a:ext cx="5018227" cy="1645920"/>
          </a:xfrm>
          <a:prstGeom prst="roundRect">
            <a:avLst>
              <a:gd name="adj" fmla="val 5556"/>
            </a:avLst>
          </a:prstGeom>
          <a:solidFill>
            <a:srgbClr val="F6F6FA"/>
          </a:solidFill>
          <a:ln/>
          <a:effectLst>
            <a:outerShdw sx="100000" sy="100000" kx="0" ky="0" algn="bl" rotWithShape="0" blurRad="177800" dist="25400" dir="5400000">
              <a:srgbClr val="6A5AA8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880860" y="3849624"/>
            <a:ext cx="128016" cy="128016"/>
          </a:xfrm>
          <a:prstGeom prst="ellipse">
            <a:avLst/>
          </a:prstGeom>
          <a:solidFill>
            <a:srgbClr val="3B3565"/>
          </a:solidFill>
          <a:ln/>
        </p:spPr>
      </p:sp>
      <p:sp>
        <p:nvSpPr>
          <p:cNvPr id="22" name="Text 18"/>
          <p:cNvSpPr/>
          <p:nvPr/>
        </p:nvSpPr>
        <p:spPr>
          <a:xfrm>
            <a:off x="7100316" y="3776472"/>
            <a:ext cx="42867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917436" y="4160520"/>
            <a:ext cx="441472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promotions and displays on traffic, not guesswork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staff against the real peak, not the assumed one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66928" y="5596128"/>
            <a:ext cx="3593592" cy="768096"/>
          </a:xfrm>
          <a:prstGeom prst="roundRect">
            <a:avLst>
              <a:gd name="adj" fmla="val 11905"/>
            </a:avLst>
          </a:prstGeom>
          <a:solidFill>
            <a:srgbClr val="F6F6FA"/>
          </a:solidFill>
          <a:ln/>
        </p:spPr>
      </p:sp>
      <p:sp>
        <p:nvSpPr>
          <p:cNvPr id="25" name="Text 21"/>
          <p:cNvSpPr/>
          <p:nvPr/>
        </p:nvSpPr>
        <p:spPr>
          <a:xfrm>
            <a:off x="786384" y="566928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16</a:t>
            </a:r>
            <a:endParaRPr lang="en-US" sz="2400" dirty="0"/>
          </a:p>
        </p:txBody>
      </p:sp>
      <p:sp>
        <p:nvSpPr>
          <p:cNvPr id="26" name="Text 22"/>
          <p:cNvSpPr/>
          <p:nvPr/>
        </p:nvSpPr>
        <p:spPr>
          <a:xfrm>
            <a:off x="786384" y="607161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vs. billed in the window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302252" y="5596128"/>
            <a:ext cx="3593592" cy="768096"/>
          </a:xfrm>
          <a:prstGeom prst="roundRect">
            <a:avLst>
              <a:gd name="adj" fmla="val 11905"/>
            </a:avLst>
          </a:prstGeom>
          <a:solidFill>
            <a:srgbClr val="EDF3FF"/>
          </a:solidFill>
          <a:ln/>
        </p:spPr>
      </p:sp>
      <p:sp>
        <p:nvSpPr>
          <p:cNvPr id="28" name="Text 24"/>
          <p:cNvSpPr/>
          <p:nvPr/>
        </p:nvSpPr>
        <p:spPr>
          <a:xfrm>
            <a:off x="4521708" y="566928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57.14%</a:t>
            </a:r>
            <a:endParaRPr lang="en-US" sz="2400" dirty="0"/>
          </a:p>
        </p:txBody>
      </p:sp>
      <p:sp>
        <p:nvSpPr>
          <p:cNvPr id="29" name="Text 25"/>
          <p:cNvSpPr/>
          <p:nvPr/>
        </p:nvSpPr>
        <p:spPr>
          <a:xfrm>
            <a:off x="4521708" y="607161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rate, computed live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8037576" y="5596128"/>
            <a:ext cx="3593592" cy="768096"/>
          </a:xfrm>
          <a:prstGeom prst="roundRect">
            <a:avLst>
              <a:gd name="adj" fmla="val 11905"/>
            </a:avLst>
          </a:prstGeom>
          <a:solidFill>
            <a:srgbClr val="F6F6FA"/>
          </a:solidFill>
          <a:ln/>
        </p:spPr>
      </p:sp>
      <p:sp>
        <p:nvSpPr>
          <p:cNvPr id="31" name="Text 27"/>
          <p:cNvSpPr/>
          <p:nvPr/>
        </p:nvSpPr>
        <p:spPr>
          <a:xfrm>
            <a:off x="8257032" y="566928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AM – 1 PM</a:t>
            </a:r>
            <a:endParaRPr lang="en-US" sz="2400" dirty="0"/>
          </a:p>
        </p:txBody>
      </p:sp>
      <p:sp>
        <p:nvSpPr>
          <p:cNvPr id="32" name="Text 28"/>
          <p:cNvSpPr/>
          <p:nvPr/>
        </p:nvSpPr>
        <p:spPr>
          <a:xfrm>
            <a:off x="8257032" y="607161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peak-hour band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66928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Systems  ·  AI Video Analytics for SBC Store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0984687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843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 ·  RETAIL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leaves because the queue got long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watches the billing counters and raises an alert before customers abandon the line.</a:t>
            </a:r>
            <a:endParaRPr lang="en-US" sz="1300" dirty="0"/>
          </a:p>
        </p:txBody>
      </p:sp>
      <p:pic>
        <p:nvPicPr>
          <p:cNvPr id="5" name="Image 0" descr="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3439" y="329184"/>
            <a:ext cx="1481328" cy="523037"/>
          </a:xfrm>
          <a:prstGeom prst="rect">
            <a:avLst/>
          </a:prstGeom>
        </p:spPr>
      </p:pic>
      <p:pic>
        <p:nvPicPr>
          <p:cNvPr id="6" name="Image 1" descr="/home/claude/sbc/shots/queu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355" y="1481328"/>
            <a:ext cx="5582412" cy="37216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42355" y="1481328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8" name="Shape 4"/>
          <p:cNvSpPr/>
          <p:nvPr/>
        </p:nvSpPr>
        <p:spPr>
          <a:xfrm>
            <a:off x="6042355" y="148132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9" name="Shape 5"/>
          <p:cNvSpPr/>
          <p:nvPr/>
        </p:nvSpPr>
        <p:spPr>
          <a:xfrm>
            <a:off x="11240719" y="1481328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0" name="Shape 6"/>
          <p:cNvSpPr/>
          <p:nvPr/>
        </p:nvSpPr>
        <p:spPr>
          <a:xfrm>
            <a:off x="11574475" y="148132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1" name="Shape 7"/>
          <p:cNvSpPr/>
          <p:nvPr/>
        </p:nvSpPr>
        <p:spPr>
          <a:xfrm>
            <a:off x="6042355" y="5152644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2" name="Shape 8"/>
          <p:cNvSpPr/>
          <p:nvPr/>
        </p:nvSpPr>
        <p:spPr>
          <a:xfrm>
            <a:off x="6042355" y="481888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3" name="Shape 9"/>
          <p:cNvSpPr/>
          <p:nvPr/>
        </p:nvSpPr>
        <p:spPr>
          <a:xfrm>
            <a:off x="11240719" y="5152644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4" name="Shape 10"/>
          <p:cNvSpPr/>
          <p:nvPr/>
        </p:nvSpPr>
        <p:spPr>
          <a:xfrm>
            <a:off x="11574475" y="481888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5" name="Text 11"/>
          <p:cNvSpPr/>
          <p:nvPr/>
        </p:nvSpPr>
        <p:spPr>
          <a:xfrm>
            <a:off x="6042355" y="5266944"/>
            <a:ext cx="55824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B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visualisation of Trinetra's detection output.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66928" y="1481328"/>
            <a:ext cx="5018227" cy="1929384"/>
          </a:xfrm>
          <a:prstGeom prst="roundRect">
            <a:avLst>
              <a:gd name="adj" fmla="val 4739"/>
            </a:avLst>
          </a:prstGeom>
          <a:solidFill>
            <a:srgbClr val="EDF3FF"/>
          </a:solidFill>
          <a:ln/>
          <a:effectLst>
            <a:outerShdw sx="100000" sy="100000" kx="0" ky="0" algn="bl" rotWithShape="0" blurRad="177800" dist="25400" dir="5400000">
              <a:srgbClr val="6A5AA8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" y="1773936"/>
            <a:ext cx="128016" cy="128016"/>
          </a:xfrm>
          <a:prstGeom prst="ellipse">
            <a:avLst/>
          </a:prstGeom>
          <a:solidFill>
            <a:srgbClr val="1C6BF0"/>
          </a:solidFill>
          <a:ln/>
        </p:spPr>
      </p:sp>
      <p:sp>
        <p:nvSpPr>
          <p:cNvPr id="18" name="Text 14"/>
          <p:cNvSpPr/>
          <p:nvPr/>
        </p:nvSpPr>
        <p:spPr>
          <a:xfrm>
            <a:off x="1060704" y="1700784"/>
            <a:ext cx="42867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1C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SEES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77824" y="2084832"/>
            <a:ext cx="4414723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length at each counter, updated continuously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counters are open and which are closed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the queue has been over its threshold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66928" y="3557016"/>
            <a:ext cx="5018227" cy="1645920"/>
          </a:xfrm>
          <a:prstGeom prst="roundRect">
            <a:avLst>
              <a:gd name="adj" fmla="val 5556"/>
            </a:avLst>
          </a:prstGeom>
          <a:solidFill>
            <a:srgbClr val="F6F6FA"/>
          </a:solidFill>
          <a:ln/>
          <a:effectLst>
            <a:outerShdw sx="100000" sy="100000" kx="0" ky="0" algn="bl" rotWithShape="0" blurRad="177800" dist="25400" dir="5400000">
              <a:srgbClr val="6A5AA8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41248" y="3849624"/>
            <a:ext cx="128016" cy="128016"/>
          </a:xfrm>
          <a:prstGeom prst="ellipse">
            <a:avLst/>
          </a:prstGeom>
          <a:solidFill>
            <a:srgbClr val="3B3565"/>
          </a:solidFill>
          <a:ln/>
        </p:spPr>
      </p:sp>
      <p:sp>
        <p:nvSpPr>
          <p:cNvPr id="22" name="Text 18"/>
          <p:cNvSpPr/>
          <p:nvPr/>
        </p:nvSpPr>
        <p:spPr>
          <a:xfrm>
            <a:off x="1060704" y="3776472"/>
            <a:ext cx="42867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877824" y="4160520"/>
            <a:ext cx="441472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counter opens on evidence, not on a complaint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history exposes the hours that need a floater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66928" y="5349240"/>
            <a:ext cx="5018227" cy="841248"/>
          </a:xfrm>
          <a:prstGeom prst="roundRect">
            <a:avLst>
              <a:gd name="adj" fmla="val 10870"/>
            </a:avLst>
          </a:prstGeom>
          <a:solidFill>
            <a:srgbClr val="FDEEF0"/>
          </a:solidFill>
          <a:ln/>
        </p:spPr>
      </p:sp>
      <p:sp>
        <p:nvSpPr>
          <p:cNvPr id="25" name="Text 21"/>
          <p:cNvSpPr/>
          <p:nvPr/>
        </p:nvSpPr>
        <p:spPr>
          <a:xfrm>
            <a:off x="822960" y="5468112"/>
            <a:ext cx="45061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2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 ·  6 people in queue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822960" y="5742432"/>
            <a:ext cx="45061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over capacity  →  open another counter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042355" y="5596128"/>
            <a:ext cx="55824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reach the store manager's phone and the counter display at the same moment.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566928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Systems  ·  AI Video Analytics for SBC Store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984687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843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 ·  RETAIL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aisle earns its shelf space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Dwell-time heatmaps show where attention actually goes — the input every merchandising decision needs.</a:t>
            </a:r>
            <a:endParaRPr lang="en-US" sz="1300" dirty="0"/>
          </a:p>
        </p:txBody>
      </p:sp>
      <p:pic>
        <p:nvPicPr>
          <p:cNvPr id="5" name="Image 0" descr="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3439" y="329184"/>
            <a:ext cx="1481328" cy="523037"/>
          </a:xfrm>
          <a:prstGeom prst="rect">
            <a:avLst/>
          </a:prstGeom>
        </p:spPr>
      </p:pic>
      <p:pic>
        <p:nvPicPr>
          <p:cNvPr id="6" name="Image 1" descr="/home/claude/sbc/shots/heatma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81328"/>
            <a:ext cx="5582412" cy="37216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1481328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48132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9" name="Shape 5"/>
          <p:cNvSpPr/>
          <p:nvPr/>
        </p:nvSpPr>
        <p:spPr>
          <a:xfrm>
            <a:off x="5765292" y="1481328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0" name="Shape 6"/>
          <p:cNvSpPr/>
          <p:nvPr/>
        </p:nvSpPr>
        <p:spPr>
          <a:xfrm>
            <a:off x="6099048" y="148132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1" name="Shape 7"/>
          <p:cNvSpPr/>
          <p:nvPr/>
        </p:nvSpPr>
        <p:spPr>
          <a:xfrm>
            <a:off x="566928" y="5152644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2" name="Shape 8"/>
          <p:cNvSpPr/>
          <p:nvPr/>
        </p:nvSpPr>
        <p:spPr>
          <a:xfrm>
            <a:off x="566928" y="481888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3" name="Shape 9"/>
          <p:cNvSpPr/>
          <p:nvPr/>
        </p:nvSpPr>
        <p:spPr>
          <a:xfrm>
            <a:off x="5765292" y="5152644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4" name="Shape 10"/>
          <p:cNvSpPr/>
          <p:nvPr/>
        </p:nvSpPr>
        <p:spPr>
          <a:xfrm>
            <a:off x="6099048" y="481888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5" name="Text 11"/>
          <p:cNvSpPr/>
          <p:nvPr/>
        </p:nvSpPr>
        <p:spPr>
          <a:xfrm>
            <a:off x="566928" y="5266944"/>
            <a:ext cx="55824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B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visualisation of Trinetra's detection output.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606540" y="1481328"/>
            <a:ext cx="5018227" cy="1929384"/>
          </a:xfrm>
          <a:prstGeom prst="roundRect">
            <a:avLst>
              <a:gd name="adj" fmla="val 4739"/>
            </a:avLst>
          </a:prstGeom>
          <a:solidFill>
            <a:srgbClr val="EDF3FF"/>
          </a:solidFill>
          <a:ln/>
          <a:effectLst>
            <a:outerShdw sx="100000" sy="100000" kx="0" ky="0" algn="bl" rotWithShape="0" blurRad="177800" dist="25400" dir="5400000">
              <a:srgbClr val="6A5AA8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80860" y="1773936"/>
            <a:ext cx="128016" cy="128016"/>
          </a:xfrm>
          <a:prstGeom prst="ellipse">
            <a:avLst/>
          </a:prstGeom>
          <a:solidFill>
            <a:srgbClr val="1C6BF0"/>
          </a:solidFill>
          <a:ln/>
        </p:spPr>
      </p:sp>
      <p:sp>
        <p:nvSpPr>
          <p:cNvPr id="18" name="Text 14"/>
          <p:cNvSpPr/>
          <p:nvPr/>
        </p:nvSpPr>
        <p:spPr>
          <a:xfrm>
            <a:off x="7100316" y="1700784"/>
            <a:ext cx="42867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1C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SEES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917436" y="2084832"/>
            <a:ext cx="4414723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dwell time and footfall for every aisle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overlay of standing time across the floor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of aisles from strongest to weakest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606540" y="3557016"/>
            <a:ext cx="5018227" cy="1645920"/>
          </a:xfrm>
          <a:prstGeom prst="roundRect">
            <a:avLst>
              <a:gd name="adj" fmla="val 5556"/>
            </a:avLst>
          </a:prstGeom>
          <a:solidFill>
            <a:srgbClr val="F6F6FA"/>
          </a:solidFill>
          <a:ln/>
          <a:effectLst>
            <a:outerShdw sx="100000" sy="100000" kx="0" ky="0" algn="bl" rotWithShape="0" blurRad="177800" dist="25400" dir="5400000">
              <a:srgbClr val="6A5AA8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880860" y="3849624"/>
            <a:ext cx="128016" cy="128016"/>
          </a:xfrm>
          <a:prstGeom prst="ellipse">
            <a:avLst/>
          </a:prstGeom>
          <a:solidFill>
            <a:srgbClr val="3B3565"/>
          </a:solidFill>
          <a:ln/>
        </p:spPr>
      </p:sp>
      <p:sp>
        <p:nvSpPr>
          <p:cNvPr id="22" name="Text 18"/>
          <p:cNvSpPr/>
          <p:nvPr/>
        </p:nvSpPr>
        <p:spPr>
          <a:xfrm>
            <a:off x="7100316" y="3776472"/>
            <a:ext cx="42867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917436" y="4160520"/>
            <a:ext cx="441472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high-margin and new titles where people already stop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slow stock off prime shelf and re-test next month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66928" y="5596128"/>
            <a:ext cx="3593592" cy="768096"/>
          </a:xfrm>
          <a:prstGeom prst="roundRect">
            <a:avLst>
              <a:gd name="adj" fmla="val 11905"/>
            </a:avLst>
          </a:prstGeom>
          <a:solidFill>
            <a:srgbClr val="EDF3FF"/>
          </a:solidFill>
          <a:ln/>
        </p:spPr>
      </p:sp>
      <p:sp>
        <p:nvSpPr>
          <p:cNvPr id="25" name="Text 21"/>
          <p:cNvSpPr/>
          <p:nvPr/>
        </p:nvSpPr>
        <p:spPr>
          <a:xfrm>
            <a:off x="786384" y="566928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42s</a:t>
            </a:r>
            <a:endParaRPr lang="en-US" sz="2400" dirty="0"/>
          </a:p>
        </p:txBody>
      </p:sp>
      <p:sp>
        <p:nvSpPr>
          <p:cNvPr id="26" name="Text 22"/>
          <p:cNvSpPr/>
          <p:nvPr/>
        </p:nvSpPr>
        <p:spPr>
          <a:xfrm>
            <a:off x="786384" y="607161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dwell — Line 1, best margin slot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302252" y="5596128"/>
            <a:ext cx="3593592" cy="768096"/>
          </a:xfrm>
          <a:prstGeom prst="roundRect">
            <a:avLst>
              <a:gd name="adj" fmla="val 11905"/>
            </a:avLst>
          </a:prstGeom>
          <a:solidFill>
            <a:srgbClr val="F6F6FA"/>
          </a:solidFill>
          <a:ln/>
        </p:spPr>
      </p:sp>
      <p:sp>
        <p:nvSpPr>
          <p:cNvPr id="28" name="Text 24"/>
          <p:cNvSpPr/>
          <p:nvPr/>
        </p:nvSpPr>
        <p:spPr>
          <a:xfrm>
            <a:off x="4521708" y="566928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</a:t>
            </a:r>
            <a:endParaRPr lang="en-US" sz="2400" dirty="0"/>
          </a:p>
        </p:txBody>
      </p:sp>
      <p:sp>
        <p:nvSpPr>
          <p:cNvPr id="29" name="Text 25"/>
          <p:cNvSpPr/>
          <p:nvPr/>
        </p:nvSpPr>
        <p:spPr>
          <a:xfrm>
            <a:off x="4521708" y="607161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dwell — Line 5, low priority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8037576" y="5596128"/>
            <a:ext cx="3593592" cy="768096"/>
          </a:xfrm>
          <a:prstGeom prst="roundRect">
            <a:avLst>
              <a:gd name="adj" fmla="val 11905"/>
            </a:avLst>
          </a:prstGeom>
          <a:solidFill>
            <a:srgbClr val="F6F6FA"/>
          </a:solidFill>
          <a:ln/>
        </p:spPr>
      </p:sp>
      <p:sp>
        <p:nvSpPr>
          <p:cNvPr id="31" name="Text 27"/>
          <p:cNvSpPr/>
          <p:nvPr/>
        </p:nvSpPr>
        <p:spPr>
          <a:xfrm>
            <a:off x="8257032" y="566928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59.43%</a:t>
            </a:r>
            <a:endParaRPr lang="en-US" sz="2400" dirty="0"/>
          </a:p>
        </p:txBody>
      </p:sp>
      <p:sp>
        <p:nvSpPr>
          <p:cNvPr id="32" name="Text 28"/>
          <p:cNvSpPr/>
          <p:nvPr/>
        </p:nvSpPr>
        <p:spPr>
          <a:xfrm>
            <a:off x="8257032" y="607161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conversion for the period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66928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Systems  ·  AI Video Analytics for SBC Store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0984687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843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 ·  RETAIL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branch on one screen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staff see today. Head office sees every branch on the same metrics, side by side.</a:t>
            </a:r>
            <a:endParaRPr lang="en-US" sz="1300" dirty="0"/>
          </a:p>
        </p:txBody>
      </p:sp>
      <p:pic>
        <p:nvPicPr>
          <p:cNvPr id="5" name="Image 0" descr="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3439" y="329184"/>
            <a:ext cx="1481328" cy="523037"/>
          </a:xfrm>
          <a:prstGeom prst="rect">
            <a:avLst/>
          </a:prstGeom>
        </p:spPr>
      </p:pic>
      <p:pic>
        <p:nvPicPr>
          <p:cNvPr id="6" name="Image 1" descr="/home/claude/sbc/shots/dash-retai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26464"/>
            <a:ext cx="6766103" cy="451073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1426464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426464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9" name="Shape 5"/>
          <p:cNvSpPr/>
          <p:nvPr/>
        </p:nvSpPr>
        <p:spPr>
          <a:xfrm>
            <a:off x="6948983" y="1426464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0" name="Shape 6"/>
          <p:cNvSpPr/>
          <p:nvPr/>
        </p:nvSpPr>
        <p:spPr>
          <a:xfrm>
            <a:off x="7282739" y="1426464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1" name="Shape 7"/>
          <p:cNvSpPr/>
          <p:nvPr/>
        </p:nvSpPr>
        <p:spPr>
          <a:xfrm>
            <a:off x="566928" y="5886907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2" name="Shape 8"/>
          <p:cNvSpPr/>
          <p:nvPr/>
        </p:nvSpPr>
        <p:spPr>
          <a:xfrm>
            <a:off x="566928" y="5553151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3" name="Shape 9"/>
          <p:cNvSpPr/>
          <p:nvPr/>
        </p:nvSpPr>
        <p:spPr>
          <a:xfrm>
            <a:off x="6948983" y="5886907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4" name="Shape 10"/>
          <p:cNvSpPr/>
          <p:nvPr/>
        </p:nvSpPr>
        <p:spPr>
          <a:xfrm>
            <a:off x="7282739" y="5553151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5" name="Text 11"/>
          <p:cNvSpPr/>
          <p:nvPr/>
        </p:nvSpPr>
        <p:spPr>
          <a:xfrm>
            <a:off x="566928" y="600760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B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dashboard — live store view, footfall trend, queue and counter utilisation.</a:t>
            </a:r>
            <a:endParaRPr lang="en-US" sz="950" dirty="0"/>
          </a:p>
        </p:txBody>
      </p:sp>
      <p:pic>
        <p:nvPicPr>
          <p:cNvPr id="16" name="Image 2" descr="/home/claude/sbc/shots/alerts-retai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88" y="1426464"/>
            <a:ext cx="3840480" cy="25603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790688" y="1426464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8" name="Shape 13"/>
          <p:cNvSpPr/>
          <p:nvPr/>
        </p:nvSpPr>
        <p:spPr>
          <a:xfrm>
            <a:off x="7790688" y="1426464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9" name="Shape 14"/>
          <p:cNvSpPr/>
          <p:nvPr/>
        </p:nvSpPr>
        <p:spPr>
          <a:xfrm>
            <a:off x="11247120" y="1426464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20" name="Shape 15"/>
          <p:cNvSpPr/>
          <p:nvPr/>
        </p:nvSpPr>
        <p:spPr>
          <a:xfrm>
            <a:off x="11580876" y="1426464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21" name="Shape 16"/>
          <p:cNvSpPr/>
          <p:nvPr/>
        </p:nvSpPr>
        <p:spPr>
          <a:xfrm>
            <a:off x="7790688" y="3936492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22" name="Shape 17"/>
          <p:cNvSpPr/>
          <p:nvPr/>
        </p:nvSpPr>
        <p:spPr>
          <a:xfrm>
            <a:off x="7790688" y="3602736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23" name="Shape 18"/>
          <p:cNvSpPr/>
          <p:nvPr/>
        </p:nvSpPr>
        <p:spPr>
          <a:xfrm>
            <a:off x="11247120" y="3936492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24" name="Shape 19"/>
          <p:cNvSpPr/>
          <p:nvPr/>
        </p:nvSpPr>
        <p:spPr>
          <a:xfrm>
            <a:off x="11580876" y="3602736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25" name="Text 20"/>
          <p:cNvSpPr/>
          <p:nvPr/>
        </p:nvSpPr>
        <p:spPr>
          <a:xfrm>
            <a:off x="7790688" y="40233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B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alert log — searchable, filterable, exportable.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790688" y="4315968"/>
            <a:ext cx="3840480" cy="1618488"/>
          </a:xfrm>
          <a:prstGeom prst="roundRect">
            <a:avLst>
              <a:gd name="adj" fmla="val 5650"/>
            </a:avLst>
          </a:prstGeom>
          <a:solidFill>
            <a:srgbClr val="EDF3FF"/>
          </a:solidFill>
          <a:ln/>
          <a:effectLst>
            <a:outerShdw sx="100000" sy="100000" kx="0" ky="0" algn="bl" rotWithShape="0" blurRad="177800" dist="25400" dir="5400000">
              <a:srgbClr val="6A5AA8">
                <a:alpha val="14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065008" y="4608576"/>
            <a:ext cx="128016" cy="128016"/>
          </a:xfrm>
          <a:prstGeom prst="ellipse">
            <a:avLst/>
          </a:prstGeom>
          <a:solidFill>
            <a:srgbClr val="1C6BF0"/>
          </a:solidFill>
          <a:ln/>
        </p:spPr>
      </p:sp>
      <p:sp>
        <p:nvSpPr>
          <p:cNvPr id="28" name="Text 23"/>
          <p:cNvSpPr/>
          <p:nvPr/>
        </p:nvSpPr>
        <p:spPr>
          <a:xfrm>
            <a:off x="8284464" y="45354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1C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SCREEN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8101584" y="4919472"/>
            <a:ext cx="3236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selector for every store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view, footfall and queue charts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with severity and snapshot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566928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Systems  ·  AI Video Analytics for SBC Store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0984687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FF"/>
          </a:solidFill>
          <a:ln/>
        </p:spPr>
      </p:sp>
      <p:pic>
        <p:nvPicPr>
          <p:cNvPr id="3" name="Image 0" descr="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3439" y="384048"/>
            <a:ext cx="1481328" cy="523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14173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ECD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2"/>
          <p:cNvSpPr/>
          <p:nvPr/>
        </p:nvSpPr>
        <p:spPr>
          <a:xfrm>
            <a:off x="566928" y="3127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843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66928" y="3419856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&amp; paper converting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66928" y="41330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uptime  ·  PPE compliance  ·  fire &amp; smoke  ·  print-defect detection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66928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Systems  ·  AI Video Analytics for SBC Store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84687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843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 ·  PLANT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presses, timed to the second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 reads whether a machine is actually producing — and starts a clock the moment it stops.</a:t>
            </a:r>
            <a:endParaRPr lang="en-US" sz="1300" dirty="0"/>
          </a:p>
        </p:txBody>
      </p:sp>
      <p:pic>
        <p:nvPicPr>
          <p:cNvPr id="5" name="Image 0" descr="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3439" y="329184"/>
            <a:ext cx="1481328" cy="523037"/>
          </a:xfrm>
          <a:prstGeom prst="rect">
            <a:avLst/>
          </a:prstGeom>
        </p:spPr>
      </p:pic>
      <p:pic>
        <p:nvPicPr>
          <p:cNvPr id="6" name="Image 1" descr="/home/claude/sbc/shots/machi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355" y="1481328"/>
            <a:ext cx="5582412" cy="37216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42355" y="1481328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8" name="Shape 4"/>
          <p:cNvSpPr/>
          <p:nvPr/>
        </p:nvSpPr>
        <p:spPr>
          <a:xfrm>
            <a:off x="6042355" y="148132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9" name="Shape 5"/>
          <p:cNvSpPr/>
          <p:nvPr/>
        </p:nvSpPr>
        <p:spPr>
          <a:xfrm>
            <a:off x="11240719" y="1481328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0" name="Shape 6"/>
          <p:cNvSpPr/>
          <p:nvPr/>
        </p:nvSpPr>
        <p:spPr>
          <a:xfrm>
            <a:off x="11574475" y="148132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1" name="Shape 7"/>
          <p:cNvSpPr/>
          <p:nvPr/>
        </p:nvSpPr>
        <p:spPr>
          <a:xfrm>
            <a:off x="6042355" y="5152644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2" name="Shape 8"/>
          <p:cNvSpPr/>
          <p:nvPr/>
        </p:nvSpPr>
        <p:spPr>
          <a:xfrm>
            <a:off x="6042355" y="481888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3" name="Shape 9"/>
          <p:cNvSpPr/>
          <p:nvPr/>
        </p:nvSpPr>
        <p:spPr>
          <a:xfrm>
            <a:off x="11240719" y="5152644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4" name="Shape 10"/>
          <p:cNvSpPr/>
          <p:nvPr/>
        </p:nvSpPr>
        <p:spPr>
          <a:xfrm>
            <a:off x="11574475" y="481888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5" name="Text 11"/>
          <p:cNvSpPr/>
          <p:nvPr/>
        </p:nvSpPr>
        <p:spPr>
          <a:xfrm>
            <a:off x="6042355" y="5266944"/>
            <a:ext cx="55824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B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visualisation of Trinetra's detection output.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66928" y="1481328"/>
            <a:ext cx="5018227" cy="1929384"/>
          </a:xfrm>
          <a:prstGeom prst="roundRect">
            <a:avLst>
              <a:gd name="adj" fmla="val 4739"/>
            </a:avLst>
          </a:prstGeom>
          <a:solidFill>
            <a:srgbClr val="F4EFFF"/>
          </a:solidFill>
          <a:ln/>
          <a:effectLst>
            <a:outerShdw sx="100000" sy="100000" kx="0" ky="0" algn="bl" rotWithShape="0" blurRad="177800" dist="25400" dir="5400000">
              <a:srgbClr val="6A5AA8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" y="1773936"/>
            <a:ext cx="128016" cy="128016"/>
          </a:xfrm>
          <a:prstGeom prst="ellipse">
            <a:avLst/>
          </a:prstGeom>
          <a:solidFill>
            <a:srgbClr val="8430FC"/>
          </a:solidFill>
          <a:ln/>
        </p:spPr>
      </p:sp>
      <p:sp>
        <p:nvSpPr>
          <p:cNvPr id="18" name="Text 14"/>
          <p:cNvSpPr/>
          <p:nvPr/>
        </p:nvSpPr>
        <p:spPr>
          <a:xfrm>
            <a:off x="1060704" y="1700784"/>
            <a:ext cx="42867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843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SEES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77824" y="2084832"/>
            <a:ext cx="4414723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or idle status for every machine in frame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idle duration, machine by machine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once idle time crosses your threshold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66928" y="3557016"/>
            <a:ext cx="5018227" cy="1645920"/>
          </a:xfrm>
          <a:prstGeom prst="roundRect">
            <a:avLst>
              <a:gd name="adj" fmla="val 5556"/>
            </a:avLst>
          </a:prstGeom>
          <a:solidFill>
            <a:srgbClr val="F6F6FA"/>
          </a:solidFill>
          <a:ln/>
          <a:effectLst>
            <a:outerShdw sx="100000" sy="100000" kx="0" ky="0" algn="bl" rotWithShape="0" blurRad="177800" dist="25400" dir="5400000">
              <a:srgbClr val="6A5AA8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41248" y="3849624"/>
            <a:ext cx="128016" cy="128016"/>
          </a:xfrm>
          <a:prstGeom prst="ellipse">
            <a:avLst/>
          </a:prstGeom>
          <a:solidFill>
            <a:srgbClr val="3B3565"/>
          </a:solidFill>
          <a:ln/>
        </p:spPr>
      </p:sp>
      <p:sp>
        <p:nvSpPr>
          <p:cNvPr id="22" name="Text 18"/>
          <p:cNvSpPr/>
          <p:nvPr/>
        </p:nvSpPr>
        <p:spPr>
          <a:xfrm>
            <a:off x="1060704" y="3776472"/>
            <a:ext cx="42867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877824" y="4160520"/>
            <a:ext cx="441472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Shift-wise utilisation report without a manual log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changeover, breakdown and unexplained idling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66928" y="5349240"/>
            <a:ext cx="5018227" cy="841248"/>
          </a:xfrm>
          <a:prstGeom prst="roundRect">
            <a:avLst>
              <a:gd name="adj" fmla="val 10870"/>
            </a:avLst>
          </a:prstGeom>
          <a:solidFill>
            <a:srgbClr val="FDEEF0"/>
          </a:solidFill>
          <a:ln/>
        </p:spPr>
      </p:sp>
      <p:sp>
        <p:nvSpPr>
          <p:cNvPr id="25" name="Text 21"/>
          <p:cNvSpPr/>
          <p:nvPr/>
        </p:nvSpPr>
        <p:spPr>
          <a:xfrm>
            <a:off x="822960" y="5468112"/>
            <a:ext cx="45061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2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02  ·  IDLE 00:18:47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822960" y="5742432"/>
            <a:ext cx="45061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notified automatically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042355" y="5596128"/>
            <a:ext cx="55824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Eighteen minutes of idle time, three times a shift, is a full production hour lost every day.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566928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Systems  ·  AI Video Analytics for SBC Store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984687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843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 ·  PLANT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compliance that keeps its own record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person on the floor is checked for helmet, vest and goggles — continuously, without a supervisor standing there.</a:t>
            </a:r>
            <a:endParaRPr lang="en-US" sz="1300" dirty="0"/>
          </a:p>
        </p:txBody>
      </p:sp>
      <p:pic>
        <p:nvPicPr>
          <p:cNvPr id="5" name="Image 0" descr="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3439" y="329184"/>
            <a:ext cx="1481328" cy="523037"/>
          </a:xfrm>
          <a:prstGeom prst="rect">
            <a:avLst/>
          </a:prstGeom>
        </p:spPr>
      </p:pic>
      <p:pic>
        <p:nvPicPr>
          <p:cNvPr id="6" name="Image 1" descr="/home/claude/sbc/shots/pp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81328"/>
            <a:ext cx="6612676" cy="37216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1481328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48132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9" name="Shape 5"/>
          <p:cNvSpPr/>
          <p:nvPr/>
        </p:nvSpPr>
        <p:spPr>
          <a:xfrm>
            <a:off x="6795556" y="1481328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0" name="Shape 6"/>
          <p:cNvSpPr/>
          <p:nvPr/>
        </p:nvSpPr>
        <p:spPr>
          <a:xfrm>
            <a:off x="7129312" y="148132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1" name="Shape 7"/>
          <p:cNvSpPr/>
          <p:nvPr/>
        </p:nvSpPr>
        <p:spPr>
          <a:xfrm>
            <a:off x="566928" y="5152644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2" name="Shape 8"/>
          <p:cNvSpPr/>
          <p:nvPr/>
        </p:nvSpPr>
        <p:spPr>
          <a:xfrm>
            <a:off x="566928" y="481888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3" name="Shape 9"/>
          <p:cNvSpPr/>
          <p:nvPr/>
        </p:nvSpPr>
        <p:spPr>
          <a:xfrm>
            <a:off x="6795556" y="5152644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4" name="Shape 10"/>
          <p:cNvSpPr/>
          <p:nvPr/>
        </p:nvSpPr>
        <p:spPr>
          <a:xfrm>
            <a:off x="7129312" y="481888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5" name="Text 11"/>
          <p:cNvSpPr/>
          <p:nvPr/>
        </p:nvSpPr>
        <p:spPr>
          <a:xfrm>
            <a:off x="566928" y="5266944"/>
            <a:ext cx="66126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B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visualisation of Trinetra's detection output.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636804" y="1481328"/>
            <a:ext cx="3987963" cy="1929384"/>
          </a:xfrm>
          <a:prstGeom prst="roundRect">
            <a:avLst>
              <a:gd name="adj" fmla="val 4739"/>
            </a:avLst>
          </a:prstGeom>
          <a:solidFill>
            <a:srgbClr val="F4EFFF"/>
          </a:solidFill>
          <a:ln/>
          <a:effectLst>
            <a:outerShdw sx="100000" sy="100000" kx="0" ky="0" algn="bl" rotWithShape="0" blurRad="177800" dist="25400" dir="5400000">
              <a:srgbClr val="6A5AA8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11124" y="1773936"/>
            <a:ext cx="128016" cy="128016"/>
          </a:xfrm>
          <a:prstGeom prst="ellipse">
            <a:avLst/>
          </a:prstGeom>
          <a:solidFill>
            <a:srgbClr val="8430FC"/>
          </a:solidFill>
          <a:ln/>
        </p:spPr>
      </p:sp>
      <p:sp>
        <p:nvSpPr>
          <p:cNvPr id="18" name="Text 14"/>
          <p:cNvSpPr/>
          <p:nvPr/>
        </p:nvSpPr>
        <p:spPr>
          <a:xfrm>
            <a:off x="8130580" y="1700784"/>
            <a:ext cx="3256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843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SEES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947700" y="2084832"/>
            <a:ext cx="3384459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vest and goggles checked per person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Non-compliance flagged with a timestamped snapshot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Zone-wise rules — cutting area stricter than dispatch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7636804" y="3557016"/>
            <a:ext cx="3987963" cy="1645920"/>
          </a:xfrm>
          <a:prstGeom prst="roundRect">
            <a:avLst>
              <a:gd name="adj" fmla="val 5556"/>
            </a:avLst>
          </a:prstGeom>
          <a:solidFill>
            <a:srgbClr val="F6F6FA"/>
          </a:solidFill>
          <a:ln/>
          <a:effectLst>
            <a:outerShdw sx="100000" sy="100000" kx="0" ky="0" algn="bl" rotWithShape="0" blurRad="177800" dist="25400" dir="5400000">
              <a:srgbClr val="6A5AA8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911124" y="3849624"/>
            <a:ext cx="128016" cy="128016"/>
          </a:xfrm>
          <a:prstGeom prst="ellipse">
            <a:avLst/>
          </a:prstGeom>
          <a:solidFill>
            <a:srgbClr val="3B3565"/>
          </a:solidFill>
          <a:ln/>
        </p:spPr>
      </p:sp>
      <p:sp>
        <p:nvSpPr>
          <p:cNvPr id="22" name="Text 18"/>
          <p:cNvSpPr/>
          <p:nvPr/>
        </p:nvSpPr>
        <p:spPr>
          <a:xfrm>
            <a:off x="8130580" y="3776472"/>
            <a:ext cx="3256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7947700" y="4160520"/>
            <a:ext cx="338445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evidence for buyers, insurers and inspections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by pattern instead of by confrontation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66928" y="5596128"/>
            <a:ext cx="3593592" cy="768096"/>
          </a:xfrm>
          <a:prstGeom prst="roundRect">
            <a:avLst>
              <a:gd name="adj" fmla="val 11905"/>
            </a:avLst>
          </a:prstGeom>
          <a:solidFill>
            <a:srgbClr val="EAF7F1"/>
          </a:solidFill>
          <a:ln/>
        </p:spPr>
      </p:sp>
      <p:sp>
        <p:nvSpPr>
          <p:cNvPr id="25" name="Text 21"/>
          <p:cNvSpPr/>
          <p:nvPr/>
        </p:nvSpPr>
        <p:spPr>
          <a:xfrm>
            <a:off x="786384" y="566928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8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</a:t>
            </a:r>
            <a:endParaRPr lang="en-US" sz="2400" dirty="0"/>
          </a:p>
        </p:txBody>
      </p:sp>
      <p:sp>
        <p:nvSpPr>
          <p:cNvPr id="26" name="Text 22"/>
          <p:cNvSpPr/>
          <p:nvPr/>
        </p:nvSpPr>
        <p:spPr>
          <a:xfrm>
            <a:off x="786384" y="607161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compliant in this frame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302252" y="5596128"/>
            <a:ext cx="3593592" cy="768096"/>
          </a:xfrm>
          <a:prstGeom prst="roundRect">
            <a:avLst>
              <a:gd name="adj" fmla="val 11905"/>
            </a:avLst>
          </a:prstGeom>
          <a:solidFill>
            <a:srgbClr val="FDEEF0"/>
          </a:solidFill>
          <a:ln/>
        </p:spPr>
      </p:sp>
      <p:sp>
        <p:nvSpPr>
          <p:cNvPr id="28" name="Text 24"/>
          <p:cNvSpPr/>
          <p:nvPr/>
        </p:nvSpPr>
        <p:spPr>
          <a:xfrm>
            <a:off x="4521708" y="566928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2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flagged</a:t>
            </a:r>
            <a:endParaRPr lang="en-US" sz="2400" dirty="0"/>
          </a:p>
        </p:txBody>
      </p:sp>
      <p:sp>
        <p:nvSpPr>
          <p:cNvPr id="29" name="Text 25"/>
          <p:cNvSpPr/>
          <p:nvPr/>
        </p:nvSpPr>
        <p:spPr>
          <a:xfrm>
            <a:off x="4521708" y="607161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helmet, no vest — cutting machine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8037576" y="5596128"/>
            <a:ext cx="3593592" cy="768096"/>
          </a:xfrm>
          <a:prstGeom prst="roundRect">
            <a:avLst>
              <a:gd name="adj" fmla="val 11905"/>
            </a:avLst>
          </a:prstGeom>
          <a:solidFill>
            <a:srgbClr val="F6F6FA"/>
          </a:solidFill>
          <a:ln/>
        </p:spPr>
      </p:sp>
      <p:sp>
        <p:nvSpPr>
          <p:cNvPr id="31" name="Text 27"/>
          <p:cNvSpPr/>
          <p:nvPr/>
        </p:nvSpPr>
        <p:spPr>
          <a:xfrm>
            <a:off x="8257032" y="566928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× 7</a:t>
            </a:r>
            <a:endParaRPr lang="en-US" sz="2400" dirty="0"/>
          </a:p>
        </p:txBody>
      </p:sp>
      <p:sp>
        <p:nvSpPr>
          <p:cNvPr id="32" name="Text 28"/>
          <p:cNvSpPr/>
          <p:nvPr/>
        </p:nvSpPr>
        <p:spPr>
          <a:xfrm>
            <a:off x="8257032" y="607161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on every shift, night included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66928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Systems  ·  AI Video Analytics for SBC Store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0984687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843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 ·  PLANT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seen in seconds, not minutes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Paper, ink and solvent do not give you a second chance. Visual detection beats point sensors in a large open bay.</a:t>
            </a:r>
            <a:endParaRPr lang="en-US" sz="1300" dirty="0"/>
          </a:p>
        </p:txBody>
      </p:sp>
      <p:pic>
        <p:nvPicPr>
          <p:cNvPr id="5" name="Image 0" descr="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3439" y="329184"/>
            <a:ext cx="1481328" cy="523037"/>
          </a:xfrm>
          <a:prstGeom prst="rect">
            <a:avLst/>
          </a:prstGeom>
        </p:spPr>
      </p:pic>
      <p:pic>
        <p:nvPicPr>
          <p:cNvPr id="6" name="Image 1" descr="/home/claude/sbc/shots/fir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091" y="1481328"/>
            <a:ext cx="6612676" cy="37216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12091" y="1481328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8" name="Shape 4"/>
          <p:cNvSpPr/>
          <p:nvPr/>
        </p:nvSpPr>
        <p:spPr>
          <a:xfrm>
            <a:off x="5012091" y="148132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9" name="Shape 5"/>
          <p:cNvSpPr/>
          <p:nvPr/>
        </p:nvSpPr>
        <p:spPr>
          <a:xfrm>
            <a:off x="11240719" y="1481328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0" name="Shape 6"/>
          <p:cNvSpPr/>
          <p:nvPr/>
        </p:nvSpPr>
        <p:spPr>
          <a:xfrm>
            <a:off x="11574475" y="148132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1" name="Shape 7"/>
          <p:cNvSpPr/>
          <p:nvPr/>
        </p:nvSpPr>
        <p:spPr>
          <a:xfrm>
            <a:off x="5012091" y="5152644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2" name="Shape 8"/>
          <p:cNvSpPr/>
          <p:nvPr/>
        </p:nvSpPr>
        <p:spPr>
          <a:xfrm>
            <a:off x="5012091" y="481888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3" name="Shape 9"/>
          <p:cNvSpPr/>
          <p:nvPr/>
        </p:nvSpPr>
        <p:spPr>
          <a:xfrm>
            <a:off x="11240719" y="5152644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4" name="Shape 10"/>
          <p:cNvSpPr/>
          <p:nvPr/>
        </p:nvSpPr>
        <p:spPr>
          <a:xfrm>
            <a:off x="11574475" y="481888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5" name="Text 11"/>
          <p:cNvSpPr/>
          <p:nvPr/>
        </p:nvSpPr>
        <p:spPr>
          <a:xfrm>
            <a:off x="5012091" y="5266944"/>
            <a:ext cx="66126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B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visualisation of Trinetra's detection output.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66928" y="1481328"/>
            <a:ext cx="3987963" cy="1929384"/>
          </a:xfrm>
          <a:prstGeom prst="roundRect">
            <a:avLst>
              <a:gd name="adj" fmla="val 4739"/>
            </a:avLst>
          </a:prstGeom>
          <a:solidFill>
            <a:srgbClr val="FDEEF0"/>
          </a:solidFill>
          <a:ln/>
          <a:effectLst>
            <a:outerShdw sx="100000" sy="100000" kx="0" ky="0" algn="bl" rotWithShape="0" blurRad="177800" dist="25400" dir="5400000">
              <a:srgbClr val="6A5AA8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" y="1773936"/>
            <a:ext cx="128016" cy="128016"/>
          </a:xfrm>
          <a:prstGeom prst="ellipse">
            <a:avLst/>
          </a:prstGeom>
          <a:solidFill>
            <a:srgbClr val="D92D3C"/>
          </a:solidFill>
          <a:ln/>
        </p:spPr>
      </p:sp>
      <p:sp>
        <p:nvSpPr>
          <p:cNvPr id="18" name="Text 14"/>
          <p:cNvSpPr/>
          <p:nvPr/>
        </p:nvSpPr>
        <p:spPr>
          <a:xfrm>
            <a:off x="1060704" y="1700784"/>
            <a:ext cx="3256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D92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SEES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77824" y="2084832"/>
            <a:ext cx="3384459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and smoke detected as visual signatures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Zone, camera and timestamp attached to the event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pushed to phones with a live-view link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66928" y="3557016"/>
            <a:ext cx="3987963" cy="1645920"/>
          </a:xfrm>
          <a:prstGeom prst="roundRect">
            <a:avLst>
              <a:gd name="adj" fmla="val 5556"/>
            </a:avLst>
          </a:prstGeom>
          <a:solidFill>
            <a:srgbClr val="F6F6FA"/>
          </a:solidFill>
          <a:ln/>
          <a:effectLst>
            <a:outerShdw sx="100000" sy="100000" kx="0" ky="0" algn="bl" rotWithShape="0" blurRad="177800" dist="25400" dir="5400000">
              <a:srgbClr val="6A5AA8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41248" y="3849624"/>
            <a:ext cx="128016" cy="128016"/>
          </a:xfrm>
          <a:prstGeom prst="ellipse">
            <a:avLst/>
          </a:prstGeom>
          <a:solidFill>
            <a:srgbClr val="3B3565"/>
          </a:solidFill>
          <a:ln/>
        </p:spPr>
      </p:sp>
      <p:sp>
        <p:nvSpPr>
          <p:cNvPr id="22" name="Text 18"/>
          <p:cNvSpPr/>
          <p:nvPr/>
        </p:nvSpPr>
        <p:spPr>
          <a:xfrm>
            <a:off x="1060704" y="3776472"/>
            <a:ext cx="3256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877824" y="4160520"/>
            <a:ext cx="338445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waiting for smoke to reach a ceiling detector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same cameras already covering the bay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66928" y="5349240"/>
            <a:ext cx="3987963" cy="841248"/>
          </a:xfrm>
          <a:prstGeom prst="roundRect">
            <a:avLst>
              <a:gd name="adj" fmla="val 10870"/>
            </a:avLst>
          </a:prstGeom>
          <a:solidFill>
            <a:srgbClr val="17123F"/>
          </a:solidFill>
          <a:ln/>
        </p:spPr>
      </p:sp>
      <p:sp>
        <p:nvSpPr>
          <p:cNvPr id="25" name="Text 21"/>
          <p:cNvSpPr/>
          <p:nvPr/>
        </p:nvSpPr>
        <p:spPr>
          <a:xfrm>
            <a:off x="822960" y="5468112"/>
            <a:ext cx="3475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to phone alert in under 5 seconds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822960" y="5742432"/>
            <a:ext cx="3475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Zone, camera and snapshot included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5012091" y="5596128"/>
            <a:ext cx="6612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your existing fire system — it does not replace certified detection or suppression equipment.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566928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Systems  ·  AI Video Analytics for SBC Store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984687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843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  ·  PLANT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caught on the web, not in the bindery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over the running sheet flags streaks, spots, hair and ink smudges while the run can still be stopped.</a:t>
            </a:r>
            <a:endParaRPr lang="en-US" sz="1300" dirty="0"/>
          </a:p>
        </p:txBody>
      </p:sp>
      <p:pic>
        <p:nvPicPr>
          <p:cNvPr id="5" name="Image 0" descr="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3439" y="329184"/>
            <a:ext cx="1481328" cy="523037"/>
          </a:xfrm>
          <a:prstGeom prst="rect">
            <a:avLst/>
          </a:prstGeom>
        </p:spPr>
      </p:pic>
      <p:pic>
        <p:nvPicPr>
          <p:cNvPr id="6" name="Image 1" descr="/home/claude/sbc/shots/defec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81328"/>
            <a:ext cx="6612676" cy="37216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1481328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48132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9" name="Shape 5"/>
          <p:cNvSpPr/>
          <p:nvPr/>
        </p:nvSpPr>
        <p:spPr>
          <a:xfrm>
            <a:off x="6795556" y="1481328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0" name="Shape 6"/>
          <p:cNvSpPr/>
          <p:nvPr/>
        </p:nvSpPr>
        <p:spPr>
          <a:xfrm>
            <a:off x="7129312" y="148132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1" name="Shape 7"/>
          <p:cNvSpPr/>
          <p:nvPr/>
        </p:nvSpPr>
        <p:spPr>
          <a:xfrm>
            <a:off x="566928" y="5152644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2" name="Shape 8"/>
          <p:cNvSpPr/>
          <p:nvPr/>
        </p:nvSpPr>
        <p:spPr>
          <a:xfrm>
            <a:off x="566928" y="481888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3" name="Shape 9"/>
          <p:cNvSpPr/>
          <p:nvPr/>
        </p:nvSpPr>
        <p:spPr>
          <a:xfrm>
            <a:off x="6795556" y="5152644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4" name="Shape 10"/>
          <p:cNvSpPr/>
          <p:nvPr/>
        </p:nvSpPr>
        <p:spPr>
          <a:xfrm>
            <a:off x="7129312" y="4818888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5" name="Text 11"/>
          <p:cNvSpPr/>
          <p:nvPr/>
        </p:nvSpPr>
        <p:spPr>
          <a:xfrm>
            <a:off x="566928" y="5266944"/>
            <a:ext cx="66126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B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visualisation of Trinetra's detection output.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636804" y="1481328"/>
            <a:ext cx="3987963" cy="1929384"/>
          </a:xfrm>
          <a:prstGeom prst="roundRect">
            <a:avLst>
              <a:gd name="adj" fmla="val 4739"/>
            </a:avLst>
          </a:prstGeom>
          <a:solidFill>
            <a:srgbClr val="F4EFFF"/>
          </a:solidFill>
          <a:ln/>
          <a:effectLst>
            <a:outerShdw sx="100000" sy="100000" kx="0" ky="0" algn="bl" rotWithShape="0" blurRad="177800" dist="25400" dir="5400000">
              <a:srgbClr val="6A5AA8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11124" y="1773936"/>
            <a:ext cx="128016" cy="128016"/>
          </a:xfrm>
          <a:prstGeom prst="ellipse">
            <a:avLst/>
          </a:prstGeom>
          <a:solidFill>
            <a:srgbClr val="8430FC"/>
          </a:solidFill>
          <a:ln/>
        </p:spPr>
      </p:sp>
      <p:sp>
        <p:nvSpPr>
          <p:cNvPr id="18" name="Text 14"/>
          <p:cNvSpPr/>
          <p:nvPr/>
        </p:nvSpPr>
        <p:spPr>
          <a:xfrm>
            <a:off x="8130580" y="1700784"/>
            <a:ext cx="3256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843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SEES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947700" y="2084832"/>
            <a:ext cx="3384459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spots, streaks, hairs, scratches and smudges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position marked on the sheet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defects flagged as a roller or blanket fault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7636804" y="3557016"/>
            <a:ext cx="3987963" cy="1645920"/>
          </a:xfrm>
          <a:prstGeom prst="roundRect">
            <a:avLst>
              <a:gd name="adj" fmla="val 5556"/>
            </a:avLst>
          </a:prstGeom>
          <a:solidFill>
            <a:srgbClr val="F6F6FA"/>
          </a:solidFill>
          <a:ln/>
          <a:effectLst>
            <a:outerShdw sx="100000" sy="100000" kx="0" ky="0" algn="bl" rotWithShape="0" blurRad="177800" dist="25400" dir="5400000">
              <a:srgbClr val="6A5AA8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911124" y="3849624"/>
            <a:ext cx="128016" cy="128016"/>
          </a:xfrm>
          <a:prstGeom prst="ellipse">
            <a:avLst/>
          </a:prstGeom>
          <a:solidFill>
            <a:srgbClr val="3B3565"/>
          </a:solidFill>
          <a:ln/>
        </p:spPr>
      </p:sp>
      <p:sp>
        <p:nvSpPr>
          <p:cNvPr id="22" name="Text 18"/>
          <p:cNvSpPr/>
          <p:nvPr/>
        </p:nvSpPr>
        <p:spPr>
          <a:xfrm>
            <a:off x="8130580" y="3776472"/>
            <a:ext cx="3256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7947700" y="4160520"/>
            <a:ext cx="338445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 bad run in minutes, not thousands of sheets later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and rework reported per job, per machine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66928" y="5596128"/>
            <a:ext cx="3593592" cy="768096"/>
          </a:xfrm>
          <a:prstGeom prst="roundRect">
            <a:avLst>
              <a:gd name="adj" fmla="val 11905"/>
            </a:avLst>
          </a:prstGeom>
          <a:solidFill>
            <a:srgbClr val="FDEEF0"/>
          </a:solidFill>
          <a:ln/>
        </p:spPr>
      </p:sp>
      <p:sp>
        <p:nvSpPr>
          <p:cNvPr id="25" name="Text 21"/>
          <p:cNvSpPr/>
          <p:nvPr/>
        </p:nvSpPr>
        <p:spPr>
          <a:xfrm>
            <a:off x="786384" y="566928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2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defects</a:t>
            </a:r>
            <a:endParaRPr lang="en-US" sz="2400" dirty="0"/>
          </a:p>
        </p:txBody>
      </p:sp>
      <p:sp>
        <p:nvSpPr>
          <p:cNvPr id="26" name="Text 22"/>
          <p:cNvSpPr/>
          <p:nvPr/>
        </p:nvSpPr>
        <p:spPr>
          <a:xfrm>
            <a:off x="786384" y="607161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in the single frame shown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302252" y="5596128"/>
            <a:ext cx="3593592" cy="768096"/>
          </a:xfrm>
          <a:prstGeom prst="roundRect">
            <a:avLst>
              <a:gd name="adj" fmla="val 11905"/>
            </a:avLst>
          </a:prstGeom>
          <a:solidFill>
            <a:srgbClr val="F6F6FA"/>
          </a:solidFill>
          <a:ln/>
        </p:spPr>
      </p:sp>
      <p:sp>
        <p:nvSpPr>
          <p:cNvPr id="28" name="Text 24"/>
          <p:cNvSpPr/>
          <p:nvPr/>
        </p:nvSpPr>
        <p:spPr>
          <a:xfrm>
            <a:off x="4521708" y="566928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Per-job log</a:t>
            </a:r>
            <a:endParaRPr lang="en-US" sz="2400" dirty="0"/>
          </a:p>
        </p:txBody>
      </p:sp>
      <p:sp>
        <p:nvSpPr>
          <p:cNvPr id="29" name="Text 25"/>
          <p:cNvSpPr/>
          <p:nvPr/>
        </p:nvSpPr>
        <p:spPr>
          <a:xfrm>
            <a:off x="4521708" y="607161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defect stored with an image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8037576" y="5596128"/>
            <a:ext cx="3593592" cy="768096"/>
          </a:xfrm>
          <a:prstGeom prst="roundRect">
            <a:avLst>
              <a:gd name="adj" fmla="val 11905"/>
            </a:avLst>
          </a:prstGeom>
          <a:solidFill>
            <a:srgbClr val="F6F6FA"/>
          </a:solidFill>
          <a:ln/>
        </p:spPr>
      </p:sp>
      <p:sp>
        <p:nvSpPr>
          <p:cNvPr id="31" name="Text 27"/>
          <p:cNvSpPr/>
          <p:nvPr/>
        </p:nvSpPr>
        <p:spPr>
          <a:xfrm>
            <a:off x="8257032" y="566928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2400" dirty="0"/>
          </a:p>
        </p:txBody>
      </p:sp>
      <p:sp>
        <p:nvSpPr>
          <p:cNvPr id="32" name="Text 28"/>
          <p:cNvSpPr/>
          <p:nvPr/>
        </p:nvSpPr>
        <p:spPr>
          <a:xfrm>
            <a:off x="8257032" y="607161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position isolates the unit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66928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Systems  ·  AI Video Analytics for SBC Store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0984687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843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 ·  PLANT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floor, in one view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health, live alerts, idle machines and PPE compliance on a single screen.</a:t>
            </a:r>
            <a:endParaRPr lang="en-US" sz="1300" dirty="0"/>
          </a:p>
        </p:txBody>
      </p:sp>
      <p:pic>
        <p:nvPicPr>
          <p:cNvPr id="5" name="Image 0" descr="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3439" y="329184"/>
            <a:ext cx="1481328" cy="523037"/>
          </a:xfrm>
          <a:prstGeom prst="rect">
            <a:avLst/>
          </a:prstGeom>
        </p:spPr>
      </p:pic>
      <p:pic>
        <p:nvPicPr>
          <p:cNvPr id="6" name="Image 1" descr="/home/claude/sbc/shots/dash-plan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26464"/>
            <a:ext cx="6766103" cy="451073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1426464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426464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9" name="Shape 5"/>
          <p:cNvSpPr/>
          <p:nvPr/>
        </p:nvSpPr>
        <p:spPr>
          <a:xfrm>
            <a:off x="6948983" y="1426464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0" name="Shape 6"/>
          <p:cNvSpPr/>
          <p:nvPr/>
        </p:nvSpPr>
        <p:spPr>
          <a:xfrm>
            <a:off x="7282739" y="1426464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1" name="Shape 7"/>
          <p:cNvSpPr/>
          <p:nvPr/>
        </p:nvSpPr>
        <p:spPr>
          <a:xfrm>
            <a:off x="566928" y="5886907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2" name="Shape 8"/>
          <p:cNvSpPr/>
          <p:nvPr/>
        </p:nvSpPr>
        <p:spPr>
          <a:xfrm>
            <a:off x="566928" y="5553151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3" name="Shape 9"/>
          <p:cNvSpPr/>
          <p:nvPr/>
        </p:nvSpPr>
        <p:spPr>
          <a:xfrm>
            <a:off x="6948983" y="5886907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4" name="Shape 10"/>
          <p:cNvSpPr/>
          <p:nvPr/>
        </p:nvSpPr>
        <p:spPr>
          <a:xfrm>
            <a:off x="7282739" y="5553151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5" name="Text 11"/>
          <p:cNvSpPr/>
          <p:nvPr/>
        </p:nvSpPr>
        <p:spPr>
          <a:xfrm>
            <a:off x="566928" y="600760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B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dashboard — live alert tiles, idle-machine panel and alert breakdown by type.</a:t>
            </a:r>
            <a:endParaRPr lang="en-US" sz="950" dirty="0"/>
          </a:p>
        </p:txBody>
      </p:sp>
      <p:pic>
        <p:nvPicPr>
          <p:cNvPr id="16" name="Image 2" descr="/home/claude/sbc/shots/alerts-plan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88" y="1426464"/>
            <a:ext cx="3840480" cy="25603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790688" y="1426464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8" name="Shape 13"/>
          <p:cNvSpPr/>
          <p:nvPr/>
        </p:nvSpPr>
        <p:spPr>
          <a:xfrm>
            <a:off x="7790688" y="1426464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9" name="Shape 14"/>
          <p:cNvSpPr/>
          <p:nvPr/>
        </p:nvSpPr>
        <p:spPr>
          <a:xfrm>
            <a:off x="11247120" y="1426464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20" name="Shape 15"/>
          <p:cNvSpPr/>
          <p:nvPr/>
        </p:nvSpPr>
        <p:spPr>
          <a:xfrm>
            <a:off x="11580876" y="1426464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21" name="Shape 16"/>
          <p:cNvSpPr/>
          <p:nvPr/>
        </p:nvSpPr>
        <p:spPr>
          <a:xfrm>
            <a:off x="7790688" y="3936492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22" name="Shape 17"/>
          <p:cNvSpPr/>
          <p:nvPr/>
        </p:nvSpPr>
        <p:spPr>
          <a:xfrm>
            <a:off x="7790688" y="3602736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23" name="Shape 18"/>
          <p:cNvSpPr/>
          <p:nvPr/>
        </p:nvSpPr>
        <p:spPr>
          <a:xfrm>
            <a:off x="11247120" y="3936492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24" name="Shape 19"/>
          <p:cNvSpPr/>
          <p:nvPr/>
        </p:nvSpPr>
        <p:spPr>
          <a:xfrm>
            <a:off x="11580876" y="3602736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25" name="Text 20"/>
          <p:cNvSpPr/>
          <p:nvPr/>
        </p:nvSpPr>
        <p:spPr>
          <a:xfrm>
            <a:off x="7790688" y="40233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B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logged with time, camera, location and snapshot.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790688" y="4315968"/>
            <a:ext cx="3840480" cy="1618488"/>
          </a:xfrm>
          <a:prstGeom prst="roundRect">
            <a:avLst>
              <a:gd name="adj" fmla="val 5650"/>
            </a:avLst>
          </a:prstGeom>
          <a:solidFill>
            <a:srgbClr val="F4EFFF"/>
          </a:solidFill>
          <a:ln/>
          <a:effectLst>
            <a:outerShdw sx="100000" sy="100000" kx="0" ky="0" algn="bl" rotWithShape="0" blurRad="177800" dist="25400" dir="5400000">
              <a:srgbClr val="6A5AA8">
                <a:alpha val="14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065008" y="4608576"/>
            <a:ext cx="128016" cy="128016"/>
          </a:xfrm>
          <a:prstGeom prst="ellipse">
            <a:avLst/>
          </a:prstGeom>
          <a:solidFill>
            <a:srgbClr val="8430FC"/>
          </a:solidFill>
          <a:ln/>
        </p:spPr>
      </p:sp>
      <p:sp>
        <p:nvSpPr>
          <p:cNvPr id="28" name="Text 23"/>
          <p:cNvSpPr/>
          <p:nvPr/>
        </p:nvSpPr>
        <p:spPr>
          <a:xfrm>
            <a:off x="8284464" y="45354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843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SCREEN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8101584" y="4919472"/>
            <a:ext cx="3236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health and PPE at a glance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tiles with the trigger frame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time logged per machine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566928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Systems  ·  AI Video Analytics for SBC Store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0984687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3" name="Image 0" descr="/home/claude/sbc/shots/onelog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3" name="Image 0" descr="/home/claude/sbc/shots/clie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148" y="320040"/>
            <a:ext cx="8915400" cy="5943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638148" y="320040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5" name="Shape 2"/>
          <p:cNvSpPr/>
          <p:nvPr/>
        </p:nvSpPr>
        <p:spPr>
          <a:xfrm>
            <a:off x="1638148" y="320040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6" name="Shape 3"/>
          <p:cNvSpPr/>
          <p:nvPr/>
        </p:nvSpPr>
        <p:spPr>
          <a:xfrm>
            <a:off x="10169500" y="320040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7" name="Shape 4"/>
          <p:cNvSpPr/>
          <p:nvPr/>
        </p:nvSpPr>
        <p:spPr>
          <a:xfrm>
            <a:off x="10503256" y="320040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8" name="Shape 5"/>
          <p:cNvSpPr/>
          <p:nvPr/>
        </p:nvSpPr>
        <p:spPr>
          <a:xfrm>
            <a:off x="1638148" y="6213348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9" name="Shape 6"/>
          <p:cNvSpPr/>
          <p:nvPr/>
        </p:nvSpPr>
        <p:spPr>
          <a:xfrm>
            <a:off x="1638148" y="5879592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0" name="Shape 7"/>
          <p:cNvSpPr/>
          <p:nvPr/>
        </p:nvSpPr>
        <p:spPr>
          <a:xfrm>
            <a:off x="10169500" y="6213348"/>
            <a:ext cx="384048" cy="5029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1" name="Shape 8"/>
          <p:cNvSpPr/>
          <p:nvPr/>
        </p:nvSpPr>
        <p:spPr>
          <a:xfrm>
            <a:off x="10503256" y="5879592"/>
            <a:ext cx="50292" cy="384048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Systems  ·  AI Video Analytics for SBC Store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84687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sp>
        <p:nvSpPr>
          <p:cNvPr id="3" name="Shape 1"/>
          <p:cNvSpPr/>
          <p:nvPr/>
        </p:nvSpPr>
        <p:spPr>
          <a:xfrm>
            <a:off x="3017520" y="1097280"/>
            <a:ext cx="530352" cy="54864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4" name="Shape 2"/>
          <p:cNvSpPr/>
          <p:nvPr/>
        </p:nvSpPr>
        <p:spPr>
          <a:xfrm>
            <a:off x="3017520" y="1097280"/>
            <a:ext cx="54864" cy="53035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5" name="Shape 3"/>
          <p:cNvSpPr/>
          <p:nvPr/>
        </p:nvSpPr>
        <p:spPr>
          <a:xfrm>
            <a:off x="8641080" y="1097280"/>
            <a:ext cx="530352" cy="54864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6" name="Shape 4"/>
          <p:cNvSpPr/>
          <p:nvPr/>
        </p:nvSpPr>
        <p:spPr>
          <a:xfrm>
            <a:off x="9116568" y="1097280"/>
            <a:ext cx="54864" cy="53035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7" name="Shape 5"/>
          <p:cNvSpPr/>
          <p:nvPr/>
        </p:nvSpPr>
        <p:spPr>
          <a:xfrm>
            <a:off x="3017520" y="5568696"/>
            <a:ext cx="530352" cy="54864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5093208"/>
            <a:ext cx="54864" cy="530352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9" name="Shape 7"/>
          <p:cNvSpPr/>
          <p:nvPr/>
        </p:nvSpPr>
        <p:spPr>
          <a:xfrm>
            <a:off x="8641080" y="5568696"/>
            <a:ext cx="530352" cy="54864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0" name="Shape 8"/>
          <p:cNvSpPr/>
          <p:nvPr/>
        </p:nvSpPr>
        <p:spPr>
          <a:xfrm>
            <a:off x="9116568" y="5093208"/>
            <a:ext cx="54864" cy="530352"/>
          </a:xfrm>
          <a:prstGeom prst="rect">
            <a:avLst/>
          </a:prstGeom>
          <a:solidFill>
            <a:srgbClr val="8430FC"/>
          </a:solidFill>
          <a:ln/>
        </p:spPr>
      </p:sp>
      <p:pic>
        <p:nvPicPr>
          <p:cNvPr id="11" name="Image 0" descr="logo-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2808" y="1600200"/>
            <a:ext cx="2926080" cy="10332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0" y="2816352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3" name="Shape 10"/>
          <p:cNvSpPr/>
          <p:nvPr/>
        </p:nvSpPr>
        <p:spPr>
          <a:xfrm>
            <a:off x="5638648" y="3822192"/>
            <a:ext cx="914400" cy="32004"/>
          </a:xfrm>
          <a:prstGeom prst="rect">
            <a:avLst/>
          </a:prstGeom>
          <a:solidFill>
            <a:srgbClr val="8430FC"/>
          </a:solidFill>
          <a:ln/>
        </p:spPr>
      </p:sp>
      <p:sp>
        <p:nvSpPr>
          <p:cNvPr id="14" name="Text 11"/>
          <p:cNvSpPr/>
          <p:nvPr/>
        </p:nvSpPr>
        <p:spPr>
          <a:xfrm>
            <a:off x="0" y="4041648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3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 for a Safer Tomorrow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0" y="4517136"/>
            <a:ext cx="121916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walk your store and press hall, and start the pilot.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0" y="5065776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Systems  ·  Bengaluru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Trinetra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Video Analytics for SBC Store</dc:title>
  <dc:subject>PptxGenJS Presentation</dc:subject>
  <dc:creator>Trinetra Systems</dc:creator>
  <cp:lastModifiedBy>Trinetra Systems</cp:lastModifiedBy>
  <cp:revision>1</cp:revision>
  <dcterms:created xsi:type="dcterms:W3CDTF">2026-08-01T10:28:07Z</dcterms:created>
  <dcterms:modified xsi:type="dcterms:W3CDTF">2026-08-01T10:28:07Z</dcterms:modified>
</cp:coreProperties>
</file>